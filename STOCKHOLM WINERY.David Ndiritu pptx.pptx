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73" r:id="rId7"/>
    <p:sldId id="274" r:id="rId8"/>
    <p:sldId id="275" r:id="rId9"/>
    <p:sldId id="276" r:id="rId10"/>
    <p:sldId id="277" r:id="rId11"/>
    <p:sldId id="261" r:id="rId12"/>
    <p:sldId id="262" r:id="rId13"/>
    <p:sldId id="263" r:id="rId14"/>
    <p:sldId id="264" r:id="rId15"/>
    <p:sldId id="265" r:id="rId16"/>
    <p:sldId id="266" r:id="rId17"/>
    <p:sldId id="267" r:id="rId18"/>
    <p:sldId id="268" r:id="rId19"/>
    <p:sldId id="269" r:id="rId20"/>
    <p:sldId id="270" r:id="rId21"/>
  </p:sldIdLst>
  <p:sldSz cx="18288000" cy="10287000"/>
  <p:notesSz cx="6858000" cy="9144000"/>
  <p:embeddedFontLst>
    <p:embeddedFont>
      <p:font typeface="Bookman Old Style" panose="02050604050505020204" pitchFamily="18" charset="0"/>
      <p:regular r:id="rId22"/>
      <p:bold r:id="rId23"/>
      <p:italic r:id="rId24"/>
      <p:boldItalic r:id="rId25"/>
    </p:embeddedFont>
    <p:embeddedFont>
      <p:font typeface="Inter" panose="020B0604020202020204" charset="0"/>
      <p:regular r:id="rId26"/>
    </p:embeddedFont>
    <p:embeddedFont>
      <p:font typeface="Inter Bold" panose="020B0604020202020204" charset="0"/>
      <p:regular r:id="rId27"/>
    </p:embeddedFont>
    <p:embeddedFont>
      <p:font typeface="Inter Extra-Light" panose="020B0604020202020204" charset="0"/>
      <p:regular r:id="rId28"/>
    </p:embeddedFont>
    <p:embeddedFont>
      <p:font typeface="Palatino Linotype" panose="02040502050505030304" pitchFamily="18" charset="0"/>
      <p:regular r:id="rId29"/>
      <p:bold r:id="rId30"/>
      <p:italic r:id="rId31"/>
      <p:boldItalic r:id="rId32"/>
    </p:embeddedFont>
    <p:embeddedFont>
      <p:font typeface="Poppins" panose="00000500000000000000" pitchFamily="2" charset="0"/>
      <p:regular r:id="rId33"/>
    </p:embeddedFont>
    <p:embeddedFont>
      <p:font typeface="Poppins Bold" panose="00000800000000000000" charset="0"/>
      <p:regular r:id="rId34"/>
    </p:embeddedFont>
    <p:embeddedFont>
      <p:font typeface="Poppins Light" panose="00000400000000000000" pitchFamily="2" charset="0"/>
      <p:regular r:id="rId35"/>
    </p:embeddedFont>
    <p:embeddedFont>
      <p:font typeface="Poppins Medium" panose="00000600000000000000" pitchFamily="2" charset="0"/>
      <p:regular r:id="rId36"/>
    </p:embeddedFont>
    <p:embeddedFont>
      <p:font typeface="Tex Gyre Bonum Bold" panose="020B0604020202020204" charset="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121A"/>
    <a:srgbClr val="6B17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13" autoAdjust="0"/>
    <p:restoredTop sz="91811" autoAdjust="0"/>
  </p:normalViewPr>
  <p:slideViewPr>
    <p:cSldViewPr>
      <p:cViewPr varScale="1">
        <p:scale>
          <a:sx n="45" d="100"/>
          <a:sy n="45" d="100"/>
        </p:scale>
        <p:origin x="628"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1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grpSp>
        <p:nvGrpSpPr>
          <p:cNvPr id="2" name="Group 2"/>
          <p:cNvGrpSpPr/>
          <p:nvPr/>
        </p:nvGrpSpPr>
        <p:grpSpPr>
          <a:xfrm>
            <a:off x="12762529" y="8693324"/>
            <a:ext cx="4496771" cy="565767"/>
            <a:chOff x="0" y="0"/>
            <a:chExt cx="1184335" cy="149009"/>
          </a:xfrm>
        </p:grpSpPr>
        <p:sp>
          <p:nvSpPr>
            <p:cNvPr id="3" name="Freeform 3"/>
            <p:cNvSpPr/>
            <p:nvPr/>
          </p:nvSpPr>
          <p:spPr>
            <a:xfrm>
              <a:off x="0" y="0"/>
              <a:ext cx="1184335" cy="149009"/>
            </a:xfrm>
            <a:custGeom>
              <a:avLst/>
              <a:gdLst/>
              <a:ahLst/>
              <a:cxnLst/>
              <a:rect l="l" t="t" r="r" b="b"/>
              <a:pathLst>
                <a:path w="1184335" h="149009">
                  <a:moveTo>
                    <a:pt x="74504" y="0"/>
                  </a:moveTo>
                  <a:lnTo>
                    <a:pt x="1109831" y="0"/>
                  </a:lnTo>
                  <a:cubicBezTo>
                    <a:pt x="1129590" y="0"/>
                    <a:pt x="1148541" y="7850"/>
                    <a:pt x="1162513" y="21822"/>
                  </a:cubicBezTo>
                  <a:cubicBezTo>
                    <a:pt x="1176485" y="35794"/>
                    <a:pt x="1184335" y="54745"/>
                    <a:pt x="1184335" y="74504"/>
                  </a:cubicBezTo>
                  <a:lnTo>
                    <a:pt x="1184335" y="74504"/>
                  </a:lnTo>
                  <a:cubicBezTo>
                    <a:pt x="1184335" y="94264"/>
                    <a:pt x="1176485" y="113215"/>
                    <a:pt x="1162513" y="127187"/>
                  </a:cubicBezTo>
                  <a:cubicBezTo>
                    <a:pt x="1148541" y="141159"/>
                    <a:pt x="1129590" y="149009"/>
                    <a:pt x="1109831" y="149009"/>
                  </a:cubicBezTo>
                  <a:lnTo>
                    <a:pt x="74504" y="149009"/>
                  </a:lnTo>
                  <a:cubicBezTo>
                    <a:pt x="54745" y="149009"/>
                    <a:pt x="35794" y="141159"/>
                    <a:pt x="21822" y="127187"/>
                  </a:cubicBezTo>
                  <a:cubicBezTo>
                    <a:pt x="7850" y="113215"/>
                    <a:pt x="0" y="94264"/>
                    <a:pt x="0" y="74504"/>
                  </a:cubicBezTo>
                  <a:lnTo>
                    <a:pt x="0" y="74504"/>
                  </a:lnTo>
                  <a:cubicBezTo>
                    <a:pt x="0" y="54745"/>
                    <a:pt x="7850" y="35794"/>
                    <a:pt x="21822" y="21822"/>
                  </a:cubicBezTo>
                  <a:cubicBezTo>
                    <a:pt x="35794" y="7850"/>
                    <a:pt x="54745" y="0"/>
                    <a:pt x="74504"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4" name="TextBox 4"/>
            <p:cNvSpPr txBox="1"/>
            <p:nvPr/>
          </p:nvSpPr>
          <p:spPr>
            <a:xfrm>
              <a:off x="0" y="-47625"/>
              <a:ext cx="1184335" cy="196634"/>
            </a:xfrm>
            <a:prstGeom prst="rect">
              <a:avLst/>
            </a:prstGeom>
          </p:spPr>
          <p:txBody>
            <a:bodyPr lIns="50800" tIns="50800" rIns="50800" bIns="50800" rtlCol="0" anchor="ctr"/>
            <a:lstStyle/>
            <a:p>
              <a:pPr algn="ctr">
                <a:lnSpc>
                  <a:spcPts val="2690"/>
                </a:lnSpc>
              </a:pPr>
              <a:r>
                <a:rPr lang="en-US" sz="1921" spc="40">
                  <a:solidFill>
                    <a:srgbClr val="F4F4F4"/>
                  </a:solidFill>
                  <a:latin typeface="Poppins Light"/>
                  <a:ea typeface="Poppins Light"/>
                  <a:cs typeface="Poppins Light"/>
                  <a:sym typeface="Poppins Light"/>
                </a:rPr>
                <a:t>WWW.REALLYGREATSITE.COM</a:t>
              </a:r>
            </a:p>
          </p:txBody>
        </p:sp>
      </p:grpSp>
      <p:sp>
        <p:nvSpPr>
          <p:cNvPr id="5" name="Freeform 5"/>
          <p:cNvSpPr/>
          <p:nvPr/>
        </p:nvSpPr>
        <p:spPr>
          <a:xfrm>
            <a:off x="0" y="0"/>
            <a:ext cx="18288000" cy="10392633"/>
          </a:xfrm>
          <a:custGeom>
            <a:avLst/>
            <a:gdLst/>
            <a:ahLst/>
            <a:cxnLst/>
            <a:rect l="l" t="t" r="r" b="b"/>
            <a:pathLst>
              <a:path w="18288000" h="10392633">
                <a:moveTo>
                  <a:pt x="0" y="0"/>
                </a:moveTo>
                <a:lnTo>
                  <a:pt x="18288000" y="0"/>
                </a:lnTo>
                <a:lnTo>
                  <a:pt x="18288000" y="10392633"/>
                </a:lnTo>
                <a:lnTo>
                  <a:pt x="0" y="10392633"/>
                </a:lnTo>
                <a:lnTo>
                  <a:pt x="0" y="0"/>
                </a:lnTo>
                <a:close/>
              </a:path>
            </a:pathLst>
          </a:custGeom>
          <a:blipFill>
            <a:blip r:embed="rId2"/>
            <a:stretch>
              <a:fillRect t="-13251" r="-7919" b="-13251"/>
            </a:stretch>
          </a:blipFill>
        </p:spPr>
      </p:sp>
      <p:sp>
        <p:nvSpPr>
          <p:cNvPr id="6" name="TextBox 6"/>
          <p:cNvSpPr txBox="1"/>
          <p:nvPr/>
        </p:nvSpPr>
        <p:spPr>
          <a:xfrm>
            <a:off x="1084320" y="410316"/>
            <a:ext cx="12691472" cy="2256215"/>
          </a:xfrm>
          <a:prstGeom prst="rect">
            <a:avLst/>
          </a:prstGeom>
        </p:spPr>
        <p:txBody>
          <a:bodyPr lIns="0" tIns="0" rIns="0" bIns="0" rtlCol="0" anchor="t">
            <a:spAutoFit/>
          </a:bodyPr>
          <a:lstStyle/>
          <a:p>
            <a:pPr algn="ctr">
              <a:lnSpc>
                <a:spcPts val="8306"/>
              </a:lnSpc>
            </a:pPr>
            <a:r>
              <a:rPr lang="en-US" sz="8743" b="1" spc="-367">
                <a:solidFill>
                  <a:srgbClr val="F4F4F4"/>
                </a:solidFill>
                <a:latin typeface="Poppins Medium"/>
                <a:ea typeface="Poppins Medium"/>
                <a:cs typeface="Poppins Medium"/>
                <a:sym typeface="Poppins Medium"/>
              </a:rPr>
              <a:t>Classifying Wines Using Machine Learning</a:t>
            </a:r>
          </a:p>
        </p:txBody>
      </p:sp>
      <p:sp>
        <p:nvSpPr>
          <p:cNvPr id="7" name="TextBox 7"/>
          <p:cNvSpPr txBox="1"/>
          <p:nvPr/>
        </p:nvSpPr>
        <p:spPr>
          <a:xfrm>
            <a:off x="1084320" y="9182100"/>
            <a:ext cx="3869313" cy="524434"/>
          </a:xfrm>
          <a:prstGeom prst="rect">
            <a:avLst/>
          </a:prstGeom>
        </p:spPr>
        <p:txBody>
          <a:bodyPr lIns="0" tIns="0" rIns="0" bIns="0" rtlCol="0" anchor="t">
            <a:spAutoFit/>
          </a:bodyPr>
          <a:lstStyle/>
          <a:p>
            <a:pPr algn="r">
              <a:lnSpc>
                <a:spcPts val="4169"/>
              </a:lnSpc>
              <a:spcBef>
                <a:spcPct val="0"/>
              </a:spcBef>
            </a:pPr>
            <a:r>
              <a:rPr lang="en-US" sz="2978" b="1" spc="-125">
                <a:solidFill>
                  <a:srgbClr val="F4F4F4"/>
                </a:solidFill>
                <a:latin typeface="Poppins Bold"/>
                <a:ea typeface="Poppins Bold"/>
                <a:cs typeface="Poppins Bold"/>
                <a:sym typeface="Poppins Bold"/>
              </a:rPr>
              <a:t>Stockholm Vineyard</a:t>
            </a:r>
          </a:p>
        </p:txBody>
      </p:sp>
      <p:sp>
        <p:nvSpPr>
          <p:cNvPr id="8" name="TextBox 8"/>
          <p:cNvSpPr txBox="1"/>
          <p:nvPr/>
        </p:nvSpPr>
        <p:spPr>
          <a:xfrm>
            <a:off x="4953633" y="4629694"/>
            <a:ext cx="6967016" cy="520156"/>
          </a:xfrm>
          <a:prstGeom prst="rect">
            <a:avLst/>
          </a:prstGeom>
        </p:spPr>
        <p:txBody>
          <a:bodyPr lIns="0" tIns="0" rIns="0" bIns="0" rtlCol="0" anchor="t">
            <a:spAutoFit/>
          </a:bodyPr>
          <a:lstStyle/>
          <a:p>
            <a:pPr algn="l">
              <a:lnSpc>
                <a:spcPts val="4230"/>
              </a:lnSpc>
              <a:spcBef>
                <a:spcPct val="0"/>
              </a:spcBef>
            </a:pPr>
            <a:r>
              <a:rPr lang="en-US" sz="3021" b="1" spc="-126">
                <a:solidFill>
                  <a:srgbClr val="F4F4F4"/>
                </a:solidFill>
                <a:latin typeface="Tex Gyre Bonum Bold"/>
                <a:ea typeface="Tex Gyre Bonum Bold"/>
                <a:cs typeface="Tex Gyre Bonum Bold"/>
                <a:sym typeface="Tex Gyre Bonum Bold"/>
              </a:rPr>
              <a:t>David Ndiritu mwaniki</a:t>
            </a:r>
          </a:p>
        </p:txBody>
      </p:sp>
      <p:sp>
        <p:nvSpPr>
          <p:cNvPr id="9" name="TextBox 9"/>
          <p:cNvSpPr txBox="1"/>
          <p:nvPr/>
        </p:nvSpPr>
        <p:spPr>
          <a:xfrm>
            <a:off x="3465227" y="6175255"/>
            <a:ext cx="10310565" cy="490856"/>
          </a:xfrm>
          <a:prstGeom prst="rect">
            <a:avLst/>
          </a:prstGeom>
        </p:spPr>
        <p:txBody>
          <a:bodyPr lIns="0" tIns="0" rIns="0" bIns="0" rtlCol="0" anchor="t">
            <a:spAutoFit/>
          </a:bodyPr>
          <a:lstStyle/>
          <a:p>
            <a:pPr algn="just">
              <a:lnSpc>
                <a:spcPts val="3919"/>
              </a:lnSpc>
              <a:spcBef>
                <a:spcPct val="0"/>
              </a:spcBef>
            </a:pPr>
            <a:r>
              <a:rPr lang="en-US" sz="2799" b="1">
                <a:solidFill>
                  <a:srgbClr val="F4F4F4"/>
                </a:solidFill>
                <a:latin typeface="Inter Bold"/>
                <a:ea typeface="Inter Bold"/>
                <a:cs typeface="Inter Bold"/>
                <a:sym typeface="Inter Bold"/>
              </a:rPr>
              <a:t>8th JULY 2025</a:t>
            </a:r>
          </a:p>
        </p:txBody>
      </p:sp>
      <p:sp>
        <p:nvSpPr>
          <p:cNvPr id="10" name="TextBox 10"/>
          <p:cNvSpPr txBox="1"/>
          <p:nvPr/>
        </p:nvSpPr>
        <p:spPr>
          <a:xfrm>
            <a:off x="1084320" y="8456052"/>
            <a:ext cx="6967016" cy="520156"/>
          </a:xfrm>
          <a:prstGeom prst="rect">
            <a:avLst/>
          </a:prstGeom>
        </p:spPr>
        <p:txBody>
          <a:bodyPr lIns="0" tIns="0" rIns="0" bIns="0" rtlCol="0" anchor="t">
            <a:spAutoFit/>
          </a:bodyPr>
          <a:lstStyle/>
          <a:p>
            <a:pPr algn="l">
              <a:lnSpc>
                <a:spcPts val="4230"/>
              </a:lnSpc>
              <a:spcBef>
                <a:spcPct val="0"/>
              </a:spcBef>
            </a:pPr>
            <a:r>
              <a:rPr lang="en-US" sz="3021" b="1" spc="-126">
                <a:solidFill>
                  <a:srgbClr val="F4F4F4"/>
                </a:solidFill>
                <a:latin typeface="Tex Gyre Bonum Bold"/>
                <a:ea typeface="Tex Gyre Bonum Bold"/>
                <a:cs typeface="Tex Gyre Bonum Bold"/>
                <a:sym typeface="Tex Gyre Bonum Bold"/>
              </a:rPr>
              <a:t>From Vineyard to Vector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749374" y="278662"/>
            <a:ext cx="8115300" cy="1185751"/>
          </a:xfrm>
          <a:prstGeom prst="rect">
            <a:avLst/>
          </a:prstGeom>
        </p:spPr>
        <p:txBody>
          <a:bodyPr lIns="0" tIns="0" rIns="0" bIns="0" rtlCol="0" anchor="t">
            <a:spAutoFit/>
          </a:bodyPr>
          <a:lstStyle/>
          <a:p>
            <a:pPr algn="l">
              <a:lnSpc>
                <a:spcPts val="8119"/>
              </a:lnSpc>
            </a:pPr>
            <a:r>
              <a:rPr lang="en-US" sz="8546" b="1" spc="-358">
                <a:solidFill>
                  <a:srgbClr val="F4F4F4"/>
                </a:solidFill>
                <a:latin typeface="Poppins Medium"/>
                <a:ea typeface="Poppins Medium"/>
                <a:cs typeface="Poppins Medium"/>
                <a:sym typeface="Poppins Medium"/>
              </a:rPr>
              <a:t>Introduction</a:t>
            </a:r>
          </a:p>
        </p:txBody>
      </p:sp>
      <p:sp>
        <p:nvSpPr>
          <p:cNvPr id="3" name="AutoShape 3"/>
          <p:cNvSpPr/>
          <p:nvPr/>
        </p:nvSpPr>
        <p:spPr>
          <a:xfrm flipV="1">
            <a:off x="-590305" y="1464413"/>
            <a:ext cx="18288000" cy="0"/>
          </a:xfrm>
          <a:prstGeom prst="line">
            <a:avLst/>
          </a:prstGeom>
          <a:ln w="9525" cap="rnd">
            <a:solidFill>
              <a:srgbClr val="F4F4F4"/>
            </a:solidFill>
            <a:prstDash val="solid"/>
            <a:headEnd type="none" w="sm" len="sm"/>
            <a:tailEnd type="none" w="sm" len="sm"/>
          </a:ln>
        </p:spPr>
      </p:sp>
      <p:sp>
        <p:nvSpPr>
          <p:cNvPr id="4" name="Freeform 4"/>
          <p:cNvSpPr/>
          <p:nvPr/>
        </p:nvSpPr>
        <p:spPr>
          <a:xfrm>
            <a:off x="11128429" y="1464413"/>
            <a:ext cx="7159571" cy="8822587"/>
          </a:xfrm>
          <a:custGeom>
            <a:avLst/>
            <a:gdLst/>
            <a:ahLst/>
            <a:cxnLst/>
            <a:rect l="l" t="t" r="r" b="b"/>
            <a:pathLst>
              <a:path w="7159571" h="8822587">
                <a:moveTo>
                  <a:pt x="0" y="0"/>
                </a:moveTo>
                <a:lnTo>
                  <a:pt x="7159571" y="0"/>
                </a:lnTo>
                <a:lnTo>
                  <a:pt x="7159571" y="8822587"/>
                </a:lnTo>
                <a:lnTo>
                  <a:pt x="0" y="8822587"/>
                </a:lnTo>
                <a:lnTo>
                  <a:pt x="0" y="0"/>
                </a:lnTo>
                <a:close/>
              </a:path>
            </a:pathLst>
          </a:custGeom>
          <a:blipFill>
            <a:blip r:embed="rId2"/>
            <a:stretch>
              <a:fillRect t="-28071" r="-11549" b="-7712"/>
            </a:stretch>
          </a:blipFill>
        </p:spPr>
      </p:sp>
      <p:sp>
        <p:nvSpPr>
          <p:cNvPr id="5" name="TextBox 5"/>
          <p:cNvSpPr txBox="1"/>
          <p:nvPr/>
        </p:nvSpPr>
        <p:spPr>
          <a:xfrm>
            <a:off x="749374" y="4001161"/>
            <a:ext cx="6967016" cy="509360"/>
          </a:xfrm>
          <a:prstGeom prst="rect">
            <a:avLst/>
          </a:prstGeom>
        </p:spPr>
        <p:txBody>
          <a:bodyPr lIns="0" tIns="0" rIns="0" bIns="0" rtlCol="0" anchor="t">
            <a:spAutoFit/>
          </a:bodyPr>
          <a:lstStyle/>
          <a:p>
            <a:pPr algn="l">
              <a:lnSpc>
                <a:spcPts val="3950"/>
              </a:lnSpc>
              <a:spcBef>
                <a:spcPct val="0"/>
              </a:spcBef>
            </a:pPr>
            <a:r>
              <a:rPr lang="en-US" sz="2821" b="1" spc="-118">
                <a:solidFill>
                  <a:srgbClr val="F4F4F4"/>
                </a:solidFill>
                <a:latin typeface="Poppins Bold"/>
                <a:ea typeface="Poppins Bold"/>
                <a:cs typeface="Poppins Bold"/>
                <a:sym typeface="Poppins Bold"/>
              </a:rPr>
              <a:t>Relevance of the study</a:t>
            </a:r>
          </a:p>
        </p:txBody>
      </p:sp>
      <p:sp>
        <p:nvSpPr>
          <p:cNvPr id="6" name="TextBox 6"/>
          <p:cNvSpPr txBox="1"/>
          <p:nvPr/>
        </p:nvSpPr>
        <p:spPr>
          <a:xfrm>
            <a:off x="733884" y="4672446"/>
            <a:ext cx="9481814" cy="1816961"/>
          </a:xfrm>
          <a:prstGeom prst="rect">
            <a:avLst/>
          </a:prstGeom>
        </p:spPr>
        <p:txBody>
          <a:bodyPr lIns="0" tIns="0" rIns="0" bIns="0" rtlCol="0" anchor="t">
            <a:spAutoFit/>
          </a:bodyPr>
          <a:lstStyle/>
          <a:p>
            <a:pPr algn="just">
              <a:lnSpc>
                <a:spcPts val="2894"/>
              </a:lnSpc>
              <a:spcBef>
                <a:spcPct val="0"/>
              </a:spcBef>
            </a:pPr>
            <a:r>
              <a:rPr lang="en-US" sz="2067">
                <a:solidFill>
                  <a:srgbClr val="F4F4F4"/>
                </a:solidFill>
                <a:latin typeface="Inter Extra-Light"/>
                <a:ea typeface="Inter Extra-Light"/>
                <a:cs typeface="Inter Extra-Light"/>
                <a:sym typeface="Inter Extra-Light"/>
              </a:rPr>
              <a:t>The winery aims to streamline its quality assurance processes by using machine learning to classify wines automatically. Understanding which chemical attributes contribute most to classification can also reduce testing costs by eliminating less relevant tests.</a:t>
            </a:r>
          </a:p>
          <a:p>
            <a:pPr algn="just">
              <a:lnSpc>
                <a:spcPts val="2894"/>
              </a:lnSpc>
              <a:spcBef>
                <a:spcPct val="0"/>
              </a:spcBef>
            </a:pPr>
            <a:endParaRPr lang="en-US" sz="2067">
              <a:solidFill>
                <a:srgbClr val="F4F4F4"/>
              </a:solidFill>
              <a:latin typeface="Inter Extra-Light"/>
              <a:ea typeface="Inter Extra-Light"/>
              <a:cs typeface="Inter Extra-Light"/>
              <a:sym typeface="Inter Extra-Light"/>
            </a:endParaRPr>
          </a:p>
        </p:txBody>
      </p:sp>
      <p:sp>
        <p:nvSpPr>
          <p:cNvPr id="7" name="TextBox 7"/>
          <p:cNvSpPr txBox="1"/>
          <p:nvPr/>
        </p:nvSpPr>
        <p:spPr>
          <a:xfrm>
            <a:off x="749374" y="1593000"/>
            <a:ext cx="6967016" cy="509360"/>
          </a:xfrm>
          <a:prstGeom prst="rect">
            <a:avLst/>
          </a:prstGeom>
        </p:spPr>
        <p:txBody>
          <a:bodyPr lIns="0" tIns="0" rIns="0" bIns="0" rtlCol="0" anchor="t">
            <a:spAutoFit/>
          </a:bodyPr>
          <a:lstStyle/>
          <a:p>
            <a:pPr algn="l">
              <a:lnSpc>
                <a:spcPts val="3950"/>
              </a:lnSpc>
              <a:spcBef>
                <a:spcPct val="0"/>
              </a:spcBef>
            </a:pPr>
            <a:r>
              <a:rPr lang="en-US" sz="2821" b="1" spc="-118">
                <a:solidFill>
                  <a:srgbClr val="F4F4F4"/>
                </a:solidFill>
                <a:latin typeface="Poppins Bold"/>
                <a:ea typeface="Poppins Bold"/>
                <a:cs typeface="Poppins Bold"/>
                <a:sym typeface="Poppins Bold"/>
              </a:rPr>
              <a:t>Background of the study</a:t>
            </a:r>
          </a:p>
        </p:txBody>
      </p:sp>
      <p:sp>
        <p:nvSpPr>
          <p:cNvPr id="8" name="TextBox 8"/>
          <p:cNvSpPr txBox="1"/>
          <p:nvPr/>
        </p:nvSpPr>
        <p:spPr>
          <a:xfrm>
            <a:off x="733884" y="2264435"/>
            <a:ext cx="9481814" cy="1816961"/>
          </a:xfrm>
          <a:prstGeom prst="rect">
            <a:avLst/>
          </a:prstGeom>
        </p:spPr>
        <p:txBody>
          <a:bodyPr lIns="0" tIns="0" rIns="0" bIns="0" rtlCol="0" anchor="t">
            <a:spAutoFit/>
          </a:bodyPr>
          <a:lstStyle/>
          <a:p>
            <a:pPr algn="just">
              <a:lnSpc>
                <a:spcPts val="2894"/>
              </a:lnSpc>
              <a:spcBef>
                <a:spcPct val="0"/>
              </a:spcBef>
            </a:pPr>
            <a:r>
              <a:rPr lang="en-US" sz="2067">
                <a:solidFill>
                  <a:srgbClr val="F4F4F4"/>
                </a:solidFill>
                <a:latin typeface="Inter Extra-Light"/>
                <a:ea typeface="Inter Extra-Light"/>
                <a:cs typeface="Inter Extra-Light"/>
                <a:sym typeface="Inter Extra-Light"/>
              </a:rPr>
              <a:t>Wines from the same region can exhibit subtle differences in chemical composition due to variations in cultivation methods and environmental conditions. These differences impact taste, aroma, and quality—making accurate classification essential for quality control.</a:t>
            </a:r>
          </a:p>
          <a:p>
            <a:pPr algn="just">
              <a:lnSpc>
                <a:spcPts val="2894"/>
              </a:lnSpc>
              <a:spcBef>
                <a:spcPct val="0"/>
              </a:spcBef>
            </a:pPr>
            <a:endParaRPr lang="en-US" sz="2067">
              <a:solidFill>
                <a:srgbClr val="F4F4F4"/>
              </a:solidFill>
              <a:latin typeface="Inter Extra-Light"/>
              <a:ea typeface="Inter Extra-Light"/>
              <a:cs typeface="Inter Extra-Light"/>
              <a:sym typeface="Inter Extra-Light"/>
            </a:endParaRPr>
          </a:p>
        </p:txBody>
      </p:sp>
      <p:sp>
        <p:nvSpPr>
          <p:cNvPr id="9" name="TextBox 9"/>
          <p:cNvSpPr txBox="1"/>
          <p:nvPr/>
        </p:nvSpPr>
        <p:spPr>
          <a:xfrm>
            <a:off x="733884" y="7336245"/>
            <a:ext cx="9481814" cy="1452589"/>
          </a:xfrm>
          <a:prstGeom prst="rect">
            <a:avLst/>
          </a:prstGeom>
        </p:spPr>
        <p:txBody>
          <a:bodyPr lIns="0" tIns="0" rIns="0" bIns="0" rtlCol="0" anchor="t">
            <a:spAutoFit/>
          </a:bodyPr>
          <a:lstStyle/>
          <a:p>
            <a:pPr algn="just">
              <a:lnSpc>
                <a:spcPts val="2894"/>
              </a:lnSpc>
              <a:spcBef>
                <a:spcPct val="0"/>
              </a:spcBef>
            </a:pPr>
            <a:r>
              <a:rPr lang="en-US" sz="2067">
                <a:solidFill>
                  <a:srgbClr val="F4F4F4"/>
                </a:solidFill>
                <a:latin typeface="Inter Extra-Light"/>
                <a:ea typeface="Inter Extra-Light"/>
                <a:cs typeface="Inter Extra-Light"/>
                <a:sym typeface="Inter Extra-Light"/>
              </a:rPr>
              <a:t>To apply machine learning techniques to classify wine cultivars using chemical test data. The study also aims to identify the most significant features influencing classification and evaluate whether fewer tests can still ensure accurate results</a:t>
            </a:r>
          </a:p>
        </p:txBody>
      </p:sp>
      <p:sp>
        <p:nvSpPr>
          <p:cNvPr id="10" name="TextBox 10"/>
          <p:cNvSpPr txBox="1"/>
          <p:nvPr/>
        </p:nvSpPr>
        <p:spPr>
          <a:xfrm>
            <a:off x="749374" y="6607810"/>
            <a:ext cx="6967016" cy="509360"/>
          </a:xfrm>
          <a:prstGeom prst="rect">
            <a:avLst/>
          </a:prstGeom>
        </p:spPr>
        <p:txBody>
          <a:bodyPr lIns="0" tIns="0" rIns="0" bIns="0" rtlCol="0" anchor="t">
            <a:spAutoFit/>
          </a:bodyPr>
          <a:lstStyle/>
          <a:p>
            <a:pPr algn="l">
              <a:lnSpc>
                <a:spcPts val="3950"/>
              </a:lnSpc>
              <a:spcBef>
                <a:spcPct val="0"/>
              </a:spcBef>
            </a:pPr>
            <a:r>
              <a:rPr lang="en-US" sz="2821" b="1" spc="-118">
                <a:solidFill>
                  <a:srgbClr val="F4F4F4"/>
                </a:solidFill>
                <a:latin typeface="Poppins Bold"/>
                <a:ea typeface="Poppins Bold"/>
                <a:cs typeface="Poppins Bold"/>
                <a:sym typeface="Poppins Bold"/>
              </a:rPr>
              <a:t>Objective of the study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a:off x="0" y="4061632"/>
            <a:ext cx="17695984" cy="0"/>
          </a:xfrm>
          <a:prstGeom prst="line">
            <a:avLst/>
          </a:prstGeom>
          <a:ln w="9525" cap="rnd">
            <a:solidFill>
              <a:srgbClr val="F4F4F4"/>
            </a:solidFill>
            <a:prstDash val="solid"/>
            <a:headEnd type="none" w="sm" len="sm"/>
            <a:tailEnd type="none" w="sm" len="sm"/>
          </a:ln>
        </p:spPr>
      </p:sp>
      <p:grpSp>
        <p:nvGrpSpPr>
          <p:cNvPr id="3" name="Group 3"/>
          <p:cNvGrpSpPr/>
          <p:nvPr/>
        </p:nvGrpSpPr>
        <p:grpSpPr>
          <a:xfrm>
            <a:off x="13356138" y="8434442"/>
            <a:ext cx="3903162" cy="823858"/>
            <a:chOff x="0" y="0"/>
            <a:chExt cx="1027993" cy="216983"/>
          </a:xfrm>
        </p:grpSpPr>
        <p:sp>
          <p:nvSpPr>
            <p:cNvPr id="4" name="Freeform 4"/>
            <p:cNvSpPr/>
            <p:nvPr/>
          </p:nvSpPr>
          <p:spPr>
            <a:xfrm>
              <a:off x="0" y="0"/>
              <a:ext cx="1027993" cy="216983"/>
            </a:xfrm>
            <a:custGeom>
              <a:avLst/>
              <a:gdLst/>
              <a:ahLst/>
              <a:cxnLst/>
              <a:rect l="l" t="t" r="r" b="b"/>
              <a:pathLst>
                <a:path w="1027993" h="216983">
                  <a:moveTo>
                    <a:pt x="108492" y="0"/>
                  </a:moveTo>
                  <a:lnTo>
                    <a:pt x="919502" y="0"/>
                  </a:lnTo>
                  <a:cubicBezTo>
                    <a:pt x="979420" y="0"/>
                    <a:pt x="1027993" y="48573"/>
                    <a:pt x="1027993" y="108492"/>
                  </a:cubicBezTo>
                  <a:lnTo>
                    <a:pt x="1027993" y="108492"/>
                  </a:lnTo>
                  <a:cubicBezTo>
                    <a:pt x="1027993" y="168410"/>
                    <a:pt x="979420" y="216983"/>
                    <a:pt x="919502" y="216983"/>
                  </a:cubicBezTo>
                  <a:lnTo>
                    <a:pt x="108492" y="216983"/>
                  </a:lnTo>
                  <a:cubicBezTo>
                    <a:pt x="48573" y="216983"/>
                    <a:pt x="0" y="168410"/>
                    <a:pt x="0" y="108492"/>
                  </a:cubicBezTo>
                  <a:lnTo>
                    <a:pt x="0" y="108492"/>
                  </a:lnTo>
                  <a:cubicBezTo>
                    <a:pt x="0" y="48573"/>
                    <a:pt x="48573" y="0"/>
                    <a:pt x="108492"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5" name="TextBox 5"/>
            <p:cNvSpPr txBox="1"/>
            <p:nvPr/>
          </p:nvSpPr>
          <p:spPr>
            <a:xfrm>
              <a:off x="0" y="-76200"/>
              <a:ext cx="1027993" cy="293183"/>
            </a:xfrm>
            <a:prstGeom prst="rect">
              <a:avLst/>
            </a:prstGeom>
          </p:spPr>
          <p:txBody>
            <a:bodyPr lIns="50800" tIns="50800" rIns="50800" bIns="50800" rtlCol="0" anchor="ctr"/>
            <a:lstStyle/>
            <a:p>
              <a:pPr algn="ctr">
                <a:lnSpc>
                  <a:spcPts val="3530"/>
                </a:lnSpc>
              </a:pPr>
              <a:r>
                <a:rPr lang="en-US" sz="2521" b="1" spc="52">
                  <a:solidFill>
                    <a:srgbClr val="F4F4F4"/>
                  </a:solidFill>
                  <a:latin typeface="Poppins Medium"/>
                  <a:ea typeface="Poppins Medium"/>
                  <a:cs typeface="Poppins Medium"/>
                  <a:sym typeface="Poppins Medium"/>
                </a:rPr>
                <a:t>VISUALIZE FINDINGS</a:t>
              </a:r>
            </a:p>
          </p:txBody>
        </p:sp>
      </p:grpSp>
      <p:grpSp>
        <p:nvGrpSpPr>
          <p:cNvPr id="6" name="Group 6"/>
          <p:cNvGrpSpPr/>
          <p:nvPr/>
        </p:nvGrpSpPr>
        <p:grpSpPr>
          <a:xfrm>
            <a:off x="1257222" y="5203045"/>
            <a:ext cx="812101" cy="81210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8" name="TextBox 8"/>
            <p:cNvSpPr txBox="1"/>
            <p:nvPr/>
          </p:nvSpPr>
          <p:spPr>
            <a:xfrm>
              <a:off x="76200" y="9525"/>
              <a:ext cx="660400" cy="727075"/>
            </a:xfrm>
            <a:prstGeom prst="rect">
              <a:avLst/>
            </a:prstGeom>
          </p:spPr>
          <p:txBody>
            <a:bodyPr lIns="50800" tIns="50800" rIns="50800" bIns="50800" rtlCol="0" anchor="ctr"/>
            <a:lstStyle/>
            <a:p>
              <a:pPr algn="ctr">
                <a:lnSpc>
                  <a:spcPts val="3110"/>
                </a:lnSpc>
              </a:pPr>
              <a:r>
                <a:rPr lang="en-US" sz="2221" b="1" spc="46">
                  <a:solidFill>
                    <a:srgbClr val="FFFFFF"/>
                  </a:solidFill>
                  <a:latin typeface="Poppins Medium"/>
                  <a:ea typeface="Poppins Medium"/>
                  <a:cs typeface="Poppins Medium"/>
                  <a:sym typeface="Poppins Medium"/>
                </a:rPr>
                <a:t>1</a:t>
              </a:r>
            </a:p>
          </p:txBody>
        </p:sp>
      </p:grpSp>
      <p:grpSp>
        <p:nvGrpSpPr>
          <p:cNvPr id="9" name="Group 9"/>
          <p:cNvGrpSpPr/>
          <p:nvPr/>
        </p:nvGrpSpPr>
        <p:grpSpPr>
          <a:xfrm>
            <a:off x="1257222" y="6110395"/>
            <a:ext cx="812101" cy="812101"/>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11" name="TextBox 11"/>
            <p:cNvSpPr txBox="1"/>
            <p:nvPr/>
          </p:nvSpPr>
          <p:spPr>
            <a:xfrm>
              <a:off x="76200" y="9525"/>
              <a:ext cx="660400" cy="727075"/>
            </a:xfrm>
            <a:prstGeom prst="rect">
              <a:avLst/>
            </a:prstGeom>
          </p:spPr>
          <p:txBody>
            <a:bodyPr lIns="50800" tIns="50800" rIns="50800" bIns="50800" rtlCol="0" anchor="ctr"/>
            <a:lstStyle/>
            <a:p>
              <a:pPr algn="ctr">
                <a:lnSpc>
                  <a:spcPts val="3108"/>
                </a:lnSpc>
              </a:pPr>
              <a:r>
                <a:rPr lang="en-US" sz="2220" b="1" spc="46">
                  <a:solidFill>
                    <a:srgbClr val="FFFFFF"/>
                  </a:solidFill>
                  <a:latin typeface="Poppins Medium"/>
                  <a:ea typeface="Poppins Medium"/>
                  <a:cs typeface="Poppins Medium"/>
                  <a:sym typeface="Poppins Medium"/>
                </a:rPr>
                <a:t>2</a:t>
              </a:r>
            </a:p>
          </p:txBody>
        </p:sp>
      </p:grpSp>
      <p:grpSp>
        <p:nvGrpSpPr>
          <p:cNvPr id="12" name="Group 12"/>
          <p:cNvGrpSpPr/>
          <p:nvPr/>
        </p:nvGrpSpPr>
        <p:grpSpPr>
          <a:xfrm>
            <a:off x="1257222" y="7189196"/>
            <a:ext cx="812101" cy="812101"/>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14" name="TextBox 14"/>
            <p:cNvSpPr txBox="1"/>
            <p:nvPr/>
          </p:nvSpPr>
          <p:spPr>
            <a:xfrm>
              <a:off x="76200" y="9525"/>
              <a:ext cx="660400" cy="727075"/>
            </a:xfrm>
            <a:prstGeom prst="rect">
              <a:avLst/>
            </a:prstGeom>
          </p:spPr>
          <p:txBody>
            <a:bodyPr lIns="50800" tIns="50800" rIns="50800" bIns="50800" rtlCol="0" anchor="ctr"/>
            <a:lstStyle/>
            <a:p>
              <a:pPr algn="ctr">
                <a:lnSpc>
                  <a:spcPts val="3108"/>
                </a:lnSpc>
              </a:pPr>
              <a:r>
                <a:rPr lang="en-US" sz="2220" b="1" spc="46">
                  <a:solidFill>
                    <a:srgbClr val="FFFFFF"/>
                  </a:solidFill>
                  <a:latin typeface="Poppins Medium"/>
                  <a:ea typeface="Poppins Medium"/>
                  <a:cs typeface="Poppins Medium"/>
                  <a:sym typeface="Poppins Medium"/>
                </a:rPr>
                <a:t>3</a:t>
              </a:r>
            </a:p>
          </p:txBody>
        </p:sp>
      </p:grpSp>
      <p:grpSp>
        <p:nvGrpSpPr>
          <p:cNvPr id="15" name="Group 15"/>
          <p:cNvGrpSpPr/>
          <p:nvPr/>
        </p:nvGrpSpPr>
        <p:grpSpPr>
          <a:xfrm>
            <a:off x="11873585" y="8472542"/>
            <a:ext cx="812101" cy="812101"/>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ln w="9525" cap="sq">
              <a:solidFill>
                <a:srgbClr val="F4F4F4"/>
              </a:solidFill>
              <a:prstDash val="solid"/>
              <a:miter/>
            </a:ln>
          </p:spPr>
        </p:sp>
        <p:sp>
          <p:nvSpPr>
            <p:cNvPr id="17" name="TextBox 17"/>
            <p:cNvSpPr txBox="1"/>
            <p:nvPr/>
          </p:nvSpPr>
          <p:spPr>
            <a:xfrm>
              <a:off x="76200" y="9525"/>
              <a:ext cx="660400" cy="727075"/>
            </a:xfrm>
            <a:prstGeom prst="rect">
              <a:avLst/>
            </a:prstGeom>
          </p:spPr>
          <p:txBody>
            <a:bodyPr lIns="50800" tIns="50800" rIns="50800" bIns="50800" rtlCol="0" anchor="ctr"/>
            <a:lstStyle/>
            <a:p>
              <a:pPr algn="ctr">
                <a:lnSpc>
                  <a:spcPts val="3108"/>
                </a:lnSpc>
              </a:pPr>
              <a:r>
                <a:rPr lang="en-US" sz="2220" b="1" spc="46">
                  <a:solidFill>
                    <a:srgbClr val="FFFFFF"/>
                  </a:solidFill>
                  <a:latin typeface="Poppins Medium"/>
                  <a:ea typeface="Poppins Medium"/>
                  <a:cs typeface="Poppins Medium"/>
                  <a:sym typeface="Poppins Medium"/>
                </a:rPr>
                <a:t>5</a:t>
              </a:r>
            </a:p>
          </p:txBody>
        </p:sp>
      </p:grpSp>
      <p:sp>
        <p:nvSpPr>
          <p:cNvPr id="18" name="TextBox 18"/>
          <p:cNvSpPr txBox="1"/>
          <p:nvPr/>
        </p:nvSpPr>
        <p:spPr>
          <a:xfrm>
            <a:off x="511986" y="267556"/>
            <a:ext cx="8115300" cy="938109"/>
          </a:xfrm>
          <a:prstGeom prst="rect">
            <a:avLst/>
          </a:prstGeom>
        </p:spPr>
        <p:txBody>
          <a:bodyPr lIns="0" tIns="0" rIns="0" bIns="0" rtlCol="0" anchor="t">
            <a:spAutoFit/>
          </a:bodyPr>
          <a:lstStyle/>
          <a:p>
            <a:pPr algn="l">
              <a:lnSpc>
                <a:spcPts val="6409"/>
              </a:lnSpc>
            </a:pPr>
            <a:r>
              <a:rPr lang="en-US" sz="6746" b="1" spc="-283">
                <a:solidFill>
                  <a:srgbClr val="F4F4F4"/>
                </a:solidFill>
                <a:latin typeface="Poppins Medium"/>
                <a:ea typeface="Poppins Medium"/>
                <a:cs typeface="Poppins Medium"/>
                <a:sym typeface="Poppins Medium"/>
              </a:rPr>
              <a:t>Problem Statement</a:t>
            </a:r>
          </a:p>
        </p:txBody>
      </p:sp>
      <p:sp>
        <p:nvSpPr>
          <p:cNvPr id="19" name="TextBox 19"/>
          <p:cNvSpPr txBox="1"/>
          <p:nvPr/>
        </p:nvSpPr>
        <p:spPr>
          <a:xfrm>
            <a:off x="511986" y="1164149"/>
            <a:ext cx="3114675" cy="459830"/>
          </a:xfrm>
          <a:prstGeom prst="rect">
            <a:avLst/>
          </a:prstGeom>
        </p:spPr>
        <p:txBody>
          <a:bodyPr lIns="0" tIns="0" rIns="0" bIns="0" rtlCol="0" anchor="t">
            <a:spAutoFit/>
          </a:bodyPr>
          <a:lstStyle/>
          <a:p>
            <a:pPr algn="ctr">
              <a:lnSpc>
                <a:spcPts val="3530"/>
              </a:lnSpc>
              <a:spcBef>
                <a:spcPct val="0"/>
              </a:spcBef>
            </a:pPr>
            <a:r>
              <a:rPr lang="en-US" sz="2521" b="1" spc="52">
                <a:solidFill>
                  <a:srgbClr val="F4F4F4"/>
                </a:solidFill>
                <a:latin typeface="Poppins Medium"/>
                <a:ea typeface="Poppins Medium"/>
                <a:cs typeface="Poppins Medium"/>
                <a:sym typeface="Poppins Medium"/>
              </a:rPr>
              <a:t>BUSINESS PROBLEM</a:t>
            </a:r>
          </a:p>
        </p:txBody>
      </p:sp>
      <p:sp>
        <p:nvSpPr>
          <p:cNvPr id="20" name="TextBox 20"/>
          <p:cNvSpPr txBox="1"/>
          <p:nvPr/>
        </p:nvSpPr>
        <p:spPr>
          <a:xfrm>
            <a:off x="511986" y="1776401"/>
            <a:ext cx="17419430" cy="2214374"/>
          </a:xfrm>
          <a:prstGeom prst="rect">
            <a:avLst/>
          </a:prstGeom>
        </p:spPr>
        <p:txBody>
          <a:bodyPr lIns="0" tIns="0" rIns="0" bIns="0" rtlCol="0" anchor="t">
            <a:spAutoFit/>
          </a:bodyPr>
          <a:lstStyle/>
          <a:p>
            <a:pPr algn="just">
              <a:lnSpc>
                <a:spcPts val="3502"/>
              </a:lnSpc>
              <a:spcBef>
                <a:spcPct val="0"/>
              </a:spcBef>
            </a:pPr>
            <a:r>
              <a:rPr lang="en-US" sz="2501">
                <a:solidFill>
                  <a:srgbClr val="F4F4F4"/>
                </a:solidFill>
                <a:latin typeface="Inter Extra-Light"/>
                <a:ea typeface="Inter Extra-Light"/>
                <a:cs typeface="Inter Extra-Light"/>
                <a:sym typeface="Inter Extra-Light"/>
              </a:rPr>
              <a:t>The winery seeks to improve quality assurance by automating the classification of wines based on their chemical properties. Currently, wines are tested across 13 chemical attributes, but the winery wants to identify if all features are necessary or if some can be eliminated to reduce testing costs. Additionally, the manual process is time-consuming and subjective; thus, there’s a need for an accurate, scalable, and objective classification system.</a:t>
            </a:r>
          </a:p>
          <a:p>
            <a:pPr algn="just">
              <a:lnSpc>
                <a:spcPts val="3502"/>
              </a:lnSpc>
              <a:spcBef>
                <a:spcPct val="0"/>
              </a:spcBef>
            </a:pPr>
            <a:endParaRPr lang="en-US" sz="2501">
              <a:solidFill>
                <a:srgbClr val="F4F4F4"/>
              </a:solidFill>
              <a:latin typeface="Inter Extra-Light"/>
              <a:ea typeface="Inter Extra-Light"/>
              <a:cs typeface="Inter Extra-Light"/>
              <a:sym typeface="Inter Extra-Light"/>
            </a:endParaRPr>
          </a:p>
        </p:txBody>
      </p:sp>
      <p:sp>
        <p:nvSpPr>
          <p:cNvPr id="21" name="TextBox 21"/>
          <p:cNvSpPr txBox="1"/>
          <p:nvPr/>
        </p:nvSpPr>
        <p:spPr>
          <a:xfrm>
            <a:off x="511986" y="4211207"/>
            <a:ext cx="17603776" cy="1190173"/>
          </a:xfrm>
          <a:prstGeom prst="rect">
            <a:avLst/>
          </a:prstGeom>
        </p:spPr>
        <p:txBody>
          <a:bodyPr lIns="0" tIns="0" rIns="0" bIns="0" rtlCol="0" anchor="t">
            <a:spAutoFit/>
          </a:bodyPr>
          <a:lstStyle/>
          <a:p>
            <a:pPr algn="just">
              <a:lnSpc>
                <a:spcPts val="3174"/>
              </a:lnSpc>
            </a:pPr>
            <a:r>
              <a:rPr lang="en-US" sz="2267">
                <a:solidFill>
                  <a:srgbClr val="F4F4F4"/>
                </a:solidFill>
                <a:latin typeface="Inter Extra-Light"/>
                <a:ea typeface="Inter Extra-Light"/>
                <a:cs typeface="Inter Extra-Light"/>
                <a:sym typeface="Inter Extra-Light"/>
              </a:rPr>
              <a:t>The task is to classify wines into one of three cultivars (Classes 0, 1, or 2) using their chemical composition.</a:t>
            </a:r>
          </a:p>
          <a:p>
            <a:pPr algn="just">
              <a:lnSpc>
                <a:spcPts val="3174"/>
              </a:lnSpc>
              <a:spcBef>
                <a:spcPct val="0"/>
              </a:spcBef>
            </a:pPr>
            <a:r>
              <a:rPr lang="en-US" sz="2267">
                <a:solidFill>
                  <a:srgbClr val="F4F4F4"/>
                </a:solidFill>
                <a:latin typeface="Inter Extra-Light"/>
                <a:ea typeface="Inter Extra-Light"/>
                <a:cs typeface="Inter Extra-Light"/>
                <a:sym typeface="Inter Extra-Light"/>
              </a:rPr>
              <a:t>The study also aims to:</a:t>
            </a:r>
          </a:p>
          <a:p>
            <a:pPr algn="just">
              <a:lnSpc>
                <a:spcPts val="3174"/>
              </a:lnSpc>
              <a:spcBef>
                <a:spcPct val="0"/>
              </a:spcBef>
            </a:pPr>
            <a:endParaRPr lang="en-US" sz="2267">
              <a:solidFill>
                <a:srgbClr val="F4F4F4"/>
              </a:solidFill>
              <a:latin typeface="Inter Extra-Light"/>
              <a:ea typeface="Inter Extra-Light"/>
              <a:cs typeface="Inter Extra-Light"/>
              <a:sym typeface="Inter Extra-Light"/>
            </a:endParaRPr>
          </a:p>
        </p:txBody>
      </p:sp>
      <p:sp>
        <p:nvSpPr>
          <p:cNvPr id="22" name="TextBox 22"/>
          <p:cNvSpPr txBox="1"/>
          <p:nvPr/>
        </p:nvSpPr>
        <p:spPr>
          <a:xfrm>
            <a:off x="2625584" y="5322365"/>
            <a:ext cx="15070401" cy="432618"/>
          </a:xfrm>
          <a:prstGeom prst="rect">
            <a:avLst/>
          </a:prstGeom>
        </p:spPr>
        <p:txBody>
          <a:bodyPr lIns="0" tIns="0" rIns="0" bIns="0" rtlCol="0" anchor="t">
            <a:spAutoFit/>
          </a:bodyPr>
          <a:lstStyle/>
          <a:p>
            <a:pPr algn="just">
              <a:lnSpc>
                <a:spcPts val="3454"/>
              </a:lnSpc>
              <a:spcBef>
                <a:spcPct val="0"/>
              </a:spcBef>
            </a:pPr>
            <a:r>
              <a:rPr lang="en-US" sz="2467">
                <a:solidFill>
                  <a:srgbClr val="F4F4F4"/>
                </a:solidFill>
                <a:latin typeface="Inter Extra-Light"/>
                <a:ea typeface="Inter Extra-Light"/>
                <a:cs typeface="Inter Extra-Light"/>
                <a:sym typeface="Inter Extra-Light"/>
              </a:rPr>
              <a:t>Predict the correct wine class based on chemical properties.</a:t>
            </a:r>
          </a:p>
        </p:txBody>
      </p:sp>
      <p:sp>
        <p:nvSpPr>
          <p:cNvPr id="23" name="TextBox 23"/>
          <p:cNvSpPr txBox="1"/>
          <p:nvPr/>
        </p:nvSpPr>
        <p:spPr>
          <a:xfrm>
            <a:off x="2625584" y="6259809"/>
            <a:ext cx="15070401" cy="462464"/>
          </a:xfrm>
          <a:prstGeom prst="rect">
            <a:avLst/>
          </a:prstGeom>
        </p:spPr>
        <p:txBody>
          <a:bodyPr lIns="0" tIns="0" rIns="0" bIns="0" rtlCol="0" anchor="t">
            <a:spAutoFit/>
          </a:bodyPr>
          <a:lstStyle/>
          <a:p>
            <a:pPr algn="just">
              <a:lnSpc>
                <a:spcPts val="3734"/>
              </a:lnSpc>
              <a:spcBef>
                <a:spcPct val="0"/>
              </a:spcBef>
            </a:pPr>
            <a:r>
              <a:rPr lang="en-US" sz="2667">
                <a:solidFill>
                  <a:srgbClr val="F4F4F4"/>
                </a:solidFill>
                <a:latin typeface="Inter Extra-Light"/>
                <a:ea typeface="Inter Extra-Light"/>
                <a:cs typeface="Inter Extra-Light"/>
                <a:sym typeface="Inter Extra-Light"/>
              </a:rPr>
              <a:t>Classify wines automatically using machine learning models</a:t>
            </a:r>
          </a:p>
        </p:txBody>
      </p:sp>
      <p:sp>
        <p:nvSpPr>
          <p:cNvPr id="24" name="TextBox 24"/>
          <p:cNvSpPr txBox="1"/>
          <p:nvPr/>
        </p:nvSpPr>
        <p:spPr>
          <a:xfrm>
            <a:off x="2625584" y="7132046"/>
            <a:ext cx="15070401" cy="870768"/>
          </a:xfrm>
          <a:prstGeom prst="rect">
            <a:avLst/>
          </a:prstGeom>
        </p:spPr>
        <p:txBody>
          <a:bodyPr lIns="0" tIns="0" rIns="0" bIns="0" rtlCol="0" anchor="t">
            <a:spAutoFit/>
          </a:bodyPr>
          <a:lstStyle/>
          <a:p>
            <a:pPr algn="just">
              <a:lnSpc>
                <a:spcPts val="3454"/>
              </a:lnSpc>
              <a:spcBef>
                <a:spcPct val="0"/>
              </a:spcBef>
            </a:pPr>
            <a:r>
              <a:rPr lang="en-US" sz="2467">
                <a:solidFill>
                  <a:srgbClr val="F4F4F4"/>
                </a:solidFill>
                <a:latin typeface="Inter Extra-Light"/>
                <a:ea typeface="Inter Extra-Light"/>
                <a:cs typeface="Inter Extra-Light"/>
                <a:sym typeface="Inter Extra-Light"/>
              </a:rPr>
              <a:t>Optimize feature selection to reduce the number of chemical tests required, thereby minimizing operational costs while maintaining classification accuracy.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22150" y="9228218"/>
            <a:ext cx="18288000" cy="0"/>
          </a:xfrm>
          <a:prstGeom prst="line">
            <a:avLst/>
          </a:prstGeom>
          <a:ln w="9525" cap="rnd">
            <a:solidFill>
              <a:srgbClr val="F4F4F4"/>
            </a:solidFill>
            <a:prstDash val="solid"/>
            <a:headEnd type="none" w="sm" len="sm"/>
            <a:tailEnd type="none" w="sm" len="sm"/>
          </a:ln>
        </p:spPr>
      </p:sp>
      <p:sp>
        <p:nvSpPr>
          <p:cNvPr id="3" name="TextBox 3"/>
          <p:cNvSpPr txBox="1"/>
          <p:nvPr/>
        </p:nvSpPr>
        <p:spPr>
          <a:xfrm>
            <a:off x="1982873" y="54769"/>
            <a:ext cx="14322254" cy="1185862"/>
          </a:xfrm>
          <a:prstGeom prst="rect">
            <a:avLst/>
          </a:prstGeom>
        </p:spPr>
        <p:txBody>
          <a:bodyPr lIns="0" tIns="0" rIns="0" bIns="0" rtlCol="0" anchor="t">
            <a:spAutoFit/>
          </a:bodyPr>
          <a:lstStyle/>
          <a:p>
            <a:pPr algn="ctr">
              <a:lnSpc>
                <a:spcPts val="8122"/>
              </a:lnSpc>
            </a:pPr>
            <a:r>
              <a:rPr lang="en-US" sz="8550" b="1" spc="-359">
                <a:solidFill>
                  <a:srgbClr val="F4F4F4"/>
                </a:solidFill>
                <a:latin typeface="Poppins Medium"/>
                <a:ea typeface="Poppins Medium"/>
                <a:cs typeface="Poppins Medium"/>
                <a:sym typeface="Poppins Medium"/>
              </a:rPr>
              <a:t>Data Description</a:t>
            </a:r>
          </a:p>
        </p:txBody>
      </p:sp>
      <p:sp>
        <p:nvSpPr>
          <p:cNvPr id="4" name="TextBox 4"/>
          <p:cNvSpPr txBox="1"/>
          <p:nvPr/>
        </p:nvSpPr>
        <p:spPr>
          <a:xfrm>
            <a:off x="10909717" y="1502607"/>
            <a:ext cx="4951151" cy="686088"/>
          </a:xfrm>
          <a:prstGeom prst="rect">
            <a:avLst/>
          </a:prstGeom>
        </p:spPr>
        <p:txBody>
          <a:bodyPr lIns="0" tIns="0" rIns="0" bIns="0" rtlCol="0" anchor="t">
            <a:spAutoFit/>
          </a:bodyPr>
          <a:lstStyle/>
          <a:p>
            <a:pPr algn="ctr">
              <a:lnSpc>
                <a:spcPts val="5331"/>
              </a:lnSpc>
              <a:spcBef>
                <a:spcPct val="0"/>
              </a:spcBef>
            </a:pPr>
            <a:r>
              <a:rPr lang="en-US" sz="3808" b="1" spc="-159">
                <a:solidFill>
                  <a:srgbClr val="F4F4F4"/>
                </a:solidFill>
                <a:latin typeface="Poppins Bold"/>
                <a:ea typeface="Poppins Bold"/>
                <a:cs typeface="Poppins Bold"/>
                <a:sym typeface="Poppins Bold"/>
              </a:rPr>
              <a:t>Sources of data</a:t>
            </a:r>
          </a:p>
        </p:txBody>
      </p:sp>
      <p:sp>
        <p:nvSpPr>
          <p:cNvPr id="5" name="TextBox 5"/>
          <p:cNvSpPr txBox="1"/>
          <p:nvPr/>
        </p:nvSpPr>
        <p:spPr>
          <a:xfrm>
            <a:off x="9864183" y="2626845"/>
            <a:ext cx="8110852" cy="2428676"/>
          </a:xfrm>
          <a:prstGeom prst="rect">
            <a:avLst/>
          </a:prstGeom>
        </p:spPr>
        <p:txBody>
          <a:bodyPr lIns="0" tIns="0" rIns="0" bIns="0" rtlCol="0" anchor="t">
            <a:spAutoFit/>
          </a:bodyPr>
          <a:lstStyle/>
          <a:p>
            <a:pPr algn="ctr">
              <a:lnSpc>
                <a:spcPts val="3848"/>
              </a:lnSpc>
              <a:spcBef>
                <a:spcPct val="0"/>
              </a:spcBef>
            </a:pPr>
            <a:r>
              <a:rPr lang="en-US" sz="2748" spc="-115">
                <a:solidFill>
                  <a:srgbClr val="F4F4F4"/>
                </a:solidFill>
                <a:latin typeface="Poppins"/>
                <a:ea typeface="Poppins"/>
                <a:cs typeface="Poppins"/>
                <a:sym typeface="Poppins"/>
              </a:rPr>
              <a:t>The dataset was obtained from the sklearn.datasets module using the built-in load_wine() function. It contains the results of chemical analysis of wines from the same region in Italy but derived from three different cultivars.</a:t>
            </a:r>
          </a:p>
        </p:txBody>
      </p:sp>
      <p:graphicFrame>
        <p:nvGraphicFramePr>
          <p:cNvPr id="7" name="Table 6">
            <a:extLst>
              <a:ext uri="{FF2B5EF4-FFF2-40B4-BE49-F238E27FC236}">
                <a16:creationId xmlns:a16="http://schemas.microsoft.com/office/drawing/2014/main" id="{F55F0272-471F-06E7-2037-C47503E197D8}"/>
              </a:ext>
            </a:extLst>
          </p:cNvPr>
          <p:cNvGraphicFramePr>
            <a:graphicFrameLocks noGrp="1"/>
          </p:cNvGraphicFramePr>
          <p:nvPr>
            <p:extLst>
              <p:ext uri="{D42A27DB-BD31-4B8C-83A1-F6EECF244321}">
                <p14:modId xmlns:p14="http://schemas.microsoft.com/office/powerpoint/2010/main" val="787154408"/>
              </p:ext>
            </p:extLst>
          </p:nvPr>
        </p:nvGraphicFramePr>
        <p:xfrm>
          <a:off x="381000" y="1502607"/>
          <a:ext cx="8042818" cy="7298486"/>
        </p:xfrm>
        <a:graphic>
          <a:graphicData uri="http://schemas.openxmlformats.org/drawingml/2006/table">
            <a:tbl>
              <a:tblPr>
                <a:tableStyleId>{5C22544A-7EE6-4342-B048-85BDC9FD1C3A}</a:tableStyleId>
              </a:tblPr>
              <a:tblGrid>
                <a:gridCol w="4021409">
                  <a:extLst>
                    <a:ext uri="{9D8B030D-6E8A-4147-A177-3AD203B41FA5}">
                      <a16:colId xmlns:a16="http://schemas.microsoft.com/office/drawing/2014/main" val="3684685732"/>
                    </a:ext>
                  </a:extLst>
                </a:gridCol>
                <a:gridCol w="4021409">
                  <a:extLst>
                    <a:ext uri="{9D8B030D-6E8A-4147-A177-3AD203B41FA5}">
                      <a16:colId xmlns:a16="http://schemas.microsoft.com/office/drawing/2014/main" val="2108206852"/>
                    </a:ext>
                  </a:extLst>
                </a:gridCol>
              </a:tblGrid>
              <a:tr h="561422">
                <a:tc>
                  <a:txBody>
                    <a:bodyPr/>
                    <a:lstStyle/>
                    <a:p>
                      <a:pPr algn="l" fontAlgn="b"/>
                      <a:r>
                        <a:rPr lang="en-US" sz="2800" b="1" u="none" strike="noStrike" baseline="0" dirty="0">
                          <a:solidFill>
                            <a:schemeClr val="bg1"/>
                          </a:solidFill>
                          <a:effectLst/>
                        </a:rPr>
                        <a:t>Feature Name</a:t>
                      </a:r>
                      <a:endParaRPr lang="en-US" sz="2800" b="1" i="0" u="none" strike="noStrike" baseline="0" dirty="0">
                        <a:solidFill>
                          <a:schemeClr val="bg1"/>
                        </a:solidFill>
                        <a:effectLst/>
                        <a:latin typeface="Calibri" panose="020F0502020204030204" pitchFamily="34" charset="0"/>
                      </a:endParaRPr>
                    </a:p>
                  </a:txBody>
                  <a:tcPr marL="3752" marR="3752" marT="3752" marB="0" anchor="b">
                    <a:solidFill>
                      <a:srgbClr val="6B1717"/>
                    </a:solidFill>
                  </a:tcPr>
                </a:tc>
                <a:tc>
                  <a:txBody>
                    <a:bodyPr/>
                    <a:lstStyle/>
                    <a:p>
                      <a:pPr algn="l" fontAlgn="b"/>
                      <a:r>
                        <a:rPr lang="en-US" sz="2800" b="1" u="none" strike="noStrike" baseline="0" dirty="0">
                          <a:solidFill>
                            <a:schemeClr val="bg1"/>
                          </a:solidFill>
                          <a:effectLst/>
                        </a:rPr>
                        <a:t>Description</a:t>
                      </a:r>
                      <a:endParaRPr lang="en-US" sz="2800" b="1" i="0" u="none" strike="noStrike" baseline="0" dirty="0">
                        <a:solidFill>
                          <a:schemeClr val="bg1"/>
                        </a:solidFill>
                        <a:effectLst/>
                        <a:latin typeface="Calibri" panose="020F0502020204030204" pitchFamily="34" charset="0"/>
                      </a:endParaRPr>
                    </a:p>
                  </a:txBody>
                  <a:tcPr marL="3752" marR="3752" marT="3752" marB="0" anchor="b">
                    <a:solidFill>
                      <a:srgbClr val="6B1717"/>
                    </a:solidFill>
                  </a:tcPr>
                </a:tc>
                <a:extLst>
                  <a:ext uri="{0D108BD9-81ED-4DB2-BD59-A6C34878D82A}">
                    <a16:rowId xmlns:a16="http://schemas.microsoft.com/office/drawing/2014/main" val="2870340359"/>
                  </a:ext>
                </a:extLst>
              </a:tr>
              <a:tr h="561422">
                <a:tc>
                  <a:txBody>
                    <a:bodyPr/>
                    <a:lstStyle/>
                    <a:p>
                      <a:pPr algn="l" fontAlgn="b"/>
                      <a:r>
                        <a:rPr lang="en-US" sz="2000" u="none" strike="noStrike" baseline="0" dirty="0" err="1">
                          <a:solidFill>
                            <a:schemeClr val="bg1"/>
                          </a:solidFill>
                          <a:effectLst/>
                        </a:rPr>
                        <a:t>fixed_acidity</a:t>
                      </a:r>
                      <a:endParaRPr lang="en-US" sz="2000" b="0" i="0" u="none" strike="noStrike" baseline="0" dirty="0">
                        <a:solidFill>
                          <a:schemeClr val="bg1"/>
                        </a:solidFill>
                        <a:effectLst/>
                        <a:latin typeface="Calibri" panose="020F0502020204030204" pitchFamily="34" charset="0"/>
                      </a:endParaRPr>
                    </a:p>
                  </a:txBody>
                  <a:tcPr marL="3752" marR="3752" marT="3752" marB="0" anchor="b">
                    <a:solidFill>
                      <a:srgbClr val="6B1717"/>
                    </a:solidFill>
                  </a:tcPr>
                </a:tc>
                <a:tc>
                  <a:txBody>
                    <a:bodyPr/>
                    <a:lstStyle/>
                    <a:p>
                      <a:pPr algn="l" fontAlgn="b"/>
                      <a:r>
                        <a:rPr lang="en-US" sz="2000" u="none" strike="noStrike" baseline="0" dirty="0">
                          <a:solidFill>
                            <a:schemeClr val="bg1"/>
                          </a:solidFill>
                          <a:effectLst/>
                        </a:rPr>
                        <a:t>Tartaric acid level</a:t>
                      </a:r>
                      <a:endParaRPr lang="en-US" sz="2000" b="0" i="0" u="none" strike="noStrike" baseline="0" dirty="0">
                        <a:solidFill>
                          <a:schemeClr val="bg1"/>
                        </a:solidFill>
                        <a:effectLst/>
                        <a:latin typeface="Calibri" panose="020F0502020204030204" pitchFamily="34" charset="0"/>
                      </a:endParaRPr>
                    </a:p>
                  </a:txBody>
                  <a:tcPr marL="3752" marR="3752" marT="3752" marB="0" anchor="b">
                    <a:solidFill>
                      <a:srgbClr val="6B1717"/>
                    </a:solidFill>
                  </a:tcPr>
                </a:tc>
                <a:extLst>
                  <a:ext uri="{0D108BD9-81ED-4DB2-BD59-A6C34878D82A}">
                    <a16:rowId xmlns:a16="http://schemas.microsoft.com/office/drawing/2014/main" val="1984525043"/>
                  </a:ext>
                </a:extLst>
              </a:tr>
              <a:tr h="561422">
                <a:tc>
                  <a:txBody>
                    <a:bodyPr/>
                    <a:lstStyle/>
                    <a:p>
                      <a:pPr algn="l" fontAlgn="b"/>
                      <a:r>
                        <a:rPr lang="en-US" sz="2000" u="none" strike="noStrike" baseline="0">
                          <a:solidFill>
                            <a:schemeClr val="bg1"/>
                          </a:solidFill>
                          <a:effectLst/>
                        </a:rPr>
                        <a:t>volatile_acidity</a:t>
                      </a:r>
                      <a:endParaRPr lang="en-US" sz="2000" b="0" i="0" u="none" strike="noStrike" baseline="0">
                        <a:solidFill>
                          <a:schemeClr val="bg1"/>
                        </a:solidFill>
                        <a:effectLst/>
                        <a:latin typeface="Calibri" panose="020F0502020204030204" pitchFamily="34" charset="0"/>
                      </a:endParaRPr>
                    </a:p>
                  </a:txBody>
                  <a:tcPr marL="3752" marR="3752" marT="3752" marB="0" anchor="b">
                    <a:solidFill>
                      <a:srgbClr val="6B1717"/>
                    </a:solidFill>
                  </a:tcPr>
                </a:tc>
                <a:tc>
                  <a:txBody>
                    <a:bodyPr/>
                    <a:lstStyle/>
                    <a:p>
                      <a:pPr algn="l" fontAlgn="b"/>
                      <a:r>
                        <a:rPr lang="en-US" sz="2000" u="none" strike="noStrike" baseline="0" dirty="0">
                          <a:solidFill>
                            <a:schemeClr val="bg1"/>
                          </a:solidFill>
                          <a:effectLst/>
                        </a:rPr>
                        <a:t>Acetic acid content</a:t>
                      </a:r>
                      <a:endParaRPr lang="en-US" sz="2000" b="0" i="0" u="none" strike="noStrike" baseline="0" dirty="0">
                        <a:solidFill>
                          <a:schemeClr val="bg1"/>
                        </a:solidFill>
                        <a:effectLst/>
                        <a:latin typeface="Calibri" panose="020F0502020204030204" pitchFamily="34" charset="0"/>
                      </a:endParaRPr>
                    </a:p>
                  </a:txBody>
                  <a:tcPr marL="3752" marR="3752" marT="3752" marB="0" anchor="b">
                    <a:solidFill>
                      <a:srgbClr val="6B1717"/>
                    </a:solidFill>
                  </a:tcPr>
                </a:tc>
                <a:extLst>
                  <a:ext uri="{0D108BD9-81ED-4DB2-BD59-A6C34878D82A}">
                    <a16:rowId xmlns:a16="http://schemas.microsoft.com/office/drawing/2014/main" val="4127284581"/>
                  </a:ext>
                </a:extLst>
              </a:tr>
              <a:tr h="561422">
                <a:tc>
                  <a:txBody>
                    <a:bodyPr/>
                    <a:lstStyle/>
                    <a:p>
                      <a:pPr algn="l" fontAlgn="b"/>
                      <a:r>
                        <a:rPr lang="en-US" sz="2000" u="none" strike="noStrike" baseline="0">
                          <a:solidFill>
                            <a:schemeClr val="bg1"/>
                          </a:solidFill>
                          <a:effectLst/>
                        </a:rPr>
                        <a:t>citric_acid</a:t>
                      </a:r>
                      <a:endParaRPr lang="en-US" sz="2000" b="0" i="0" u="none" strike="noStrike" baseline="0">
                        <a:solidFill>
                          <a:schemeClr val="bg1"/>
                        </a:solidFill>
                        <a:effectLst/>
                        <a:latin typeface="Calibri" panose="020F0502020204030204" pitchFamily="34" charset="0"/>
                      </a:endParaRPr>
                    </a:p>
                  </a:txBody>
                  <a:tcPr marL="3752" marR="3752" marT="3752" marB="0" anchor="b">
                    <a:solidFill>
                      <a:srgbClr val="6B1717"/>
                    </a:solidFill>
                  </a:tcPr>
                </a:tc>
                <a:tc>
                  <a:txBody>
                    <a:bodyPr/>
                    <a:lstStyle/>
                    <a:p>
                      <a:pPr algn="l" fontAlgn="b"/>
                      <a:r>
                        <a:rPr lang="en-US" sz="2000" u="none" strike="noStrike" baseline="0" dirty="0">
                          <a:solidFill>
                            <a:schemeClr val="bg1"/>
                          </a:solidFill>
                          <a:effectLst/>
                        </a:rPr>
                        <a:t>Citric acid level</a:t>
                      </a:r>
                      <a:endParaRPr lang="en-US" sz="2000" b="0" i="0" u="none" strike="noStrike" baseline="0" dirty="0">
                        <a:solidFill>
                          <a:schemeClr val="bg1"/>
                        </a:solidFill>
                        <a:effectLst/>
                        <a:latin typeface="Calibri" panose="020F0502020204030204" pitchFamily="34" charset="0"/>
                      </a:endParaRPr>
                    </a:p>
                  </a:txBody>
                  <a:tcPr marL="3752" marR="3752" marT="3752" marB="0" anchor="b">
                    <a:solidFill>
                      <a:srgbClr val="6B1717"/>
                    </a:solidFill>
                  </a:tcPr>
                </a:tc>
                <a:extLst>
                  <a:ext uri="{0D108BD9-81ED-4DB2-BD59-A6C34878D82A}">
                    <a16:rowId xmlns:a16="http://schemas.microsoft.com/office/drawing/2014/main" val="929500033"/>
                  </a:ext>
                </a:extLst>
              </a:tr>
              <a:tr h="561422">
                <a:tc>
                  <a:txBody>
                    <a:bodyPr/>
                    <a:lstStyle/>
                    <a:p>
                      <a:pPr algn="l" fontAlgn="b"/>
                      <a:r>
                        <a:rPr lang="en-US" sz="2000" u="none" strike="noStrike" baseline="0">
                          <a:solidFill>
                            <a:schemeClr val="bg1"/>
                          </a:solidFill>
                          <a:effectLst/>
                        </a:rPr>
                        <a:t>residual_sugar</a:t>
                      </a:r>
                      <a:endParaRPr lang="en-US" sz="2000" b="0" i="0" u="none" strike="noStrike" baseline="0">
                        <a:solidFill>
                          <a:schemeClr val="bg1"/>
                        </a:solidFill>
                        <a:effectLst/>
                        <a:latin typeface="Calibri" panose="020F0502020204030204" pitchFamily="34" charset="0"/>
                      </a:endParaRPr>
                    </a:p>
                  </a:txBody>
                  <a:tcPr marL="3752" marR="3752" marT="3752" marB="0" anchor="b">
                    <a:solidFill>
                      <a:srgbClr val="6B1717"/>
                    </a:solidFill>
                  </a:tcPr>
                </a:tc>
                <a:tc>
                  <a:txBody>
                    <a:bodyPr/>
                    <a:lstStyle/>
                    <a:p>
                      <a:pPr algn="l" fontAlgn="b"/>
                      <a:r>
                        <a:rPr lang="en-US" sz="2000" u="none" strike="noStrike" baseline="0" dirty="0">
                          <a:solidFill>
                            <a:schemeClr val="bg1"/>
                          </a:solidFill>
                          <a:effectLst/>
                        </a:rPr>
                        <a:t>Sugar after fermentation</a:t>
                      </a:r>
                      <a:endParaRPr lang="en-US" sz="2000" b="0" i="0" u="none" strike="noStrike" baseline="0" dirty="0">
                        <a:solidFill>
                          <a:schemeClr val="bg1"/>
                        </a:solidFill>
                        <a:effectLst/>
                        <a:latin typeface="Calibri" panose="020F0502020204030204" pitchFamily="34" charset="0"/>
                      </a:endParaRPr>
                    </a:p>
                  </a:txBody>
                  <a:tcPr marL="3752" marR="3752" marT="3752" marB="0" anchor="b">
                    <a:solidFill>
                      <a:srgbClr val="6B1717"/>
                    </a:solidFill>
                  </a:tcPr>
                </a:tc>
                <a:extLst>
                  <a:ext uri="{0D108BD9-81ED-4DB2-BD59-A6C34878D82A}">
                    <a16:rowId xmlns:a16="http://schemas.microsoft.com/office/drawing/2014/main" val="4262244008"/>
                  </a:ext>
                </a:extLst>
              </a:tr>
              <a:tr h="561422">
                <a:tc>
                  <a:txBody>
                    <a:bodyPr/>
                    <a:lstStyle/>
                    <a:p>
                      <a:pPr algn="l" fontAlgn="b"/>
                      <a:r>
                        <a:rPr lang="en-US" sz="2000" u="none" strike="noStrike" baseline="0">
                          <a:solidFill>
                            <a:schemeClr val="bg1"/>
                          </a:solidFill>
                          <a:effectLst/>
                        </a:rPr>
                        <a:t>chlorides</a:t>
                      </a:r>
                      <a:endParaRPr lang="en-US" sz="2000" b="0" i="0" u="none" strike="noStrike" baseline="0">
                        <a:solidFill>
                          <a:schemeClr val="bg1"/>
                        </a:solidFill>
                        <a:effectLst/>
                        <a:latin typeface="Calibri" panose="020F0502020204030204" pitchFamily="34" charset="0"/>
                      </a:endParaRPr>
                    </a:p>
                  </a:txBody>
                  <a:tcPr marL="3752" marR="3752" marT="3752" marB="0" anchor="b">
                    <a:solidFill>
                      <a:srgbClr val="6B1717"/>
                    </a:solidFill>
                  </a:tcPr>
                </a:tc>
                <a:tc>
                  <a:txBody>
                    <a:bodyPr/>
                    <a:lstStyle/>
                    <a:p>
                      <a:pPr algn="l" fontAlgn="b"/>
                      <a:r>
                        <a:rPr lang="en-US" sz="2000" u="none" strike="noStrike" baseline="0" dirty="0">
                          <a:solidFill>
                            <a:schemeClr val="bg1"/>
                          </a:solidFill>
                          <a:effectLst/>
                        </a:rPr>
                        <a:t>Salt content</a:t>
                      </a:r>
                      <a:endParaRPr lang="en-US" sz="2000" b="0" i="0" u="none" strike="noStrike" baseline="0" dirty="0">
                        <a:solidFill>
                          <a:schemeClr val="bg1"/>
                        </a:solidFill>
                        <a:effectLst/>
                        <a:latin typeface="Calibri" panose="020F0502020204030204" pitchFamily="34" charset="0"/>
                      </a:endParaRPr>
                    </a:p>
                  </a:txBody>
                  <a:tcPr marL="3752" marR="3752" marT="3752" marB="0" anchor="b">
                    <a:solidFill>
                      <a:srgbClr val="6B1717"/>
                    </a:solidFill>
                  </a:tcPr>
                </a:tc>
                <a:extLst>
                  <a:ext uri="{0D108BD9-81ED-4DB2-BD59-A6C34878D82A}">
                    <a16:rowId xmlns:a16="http://schemas.microsoft.com/office/drawing/2014/main" val="1173044358"/>
                  </a:ext>
                </a:extLst>
              </a:tr>
              <a:tr h="561422">
                <a:tc>
                  <a:txBody>
                    <a:bodyPr/>
                    <a:lstStyle/>
                    <a:p>
                      <a:pPr algn="l" fontAlgn="b"/>
                      <a:r>
                        <a:rPr lang="en-US" sz="2000" u="none" strike="noStrike" baseline="0">
                          <a:solidFill>
                            <a:schemeClr val="bg1"/>
                          </a:solidFill>
                          <a:effectLst/>
                        </a:rPr>
                        <a:t>free_sulfur_dioxide</a:t>
                      </a:r>
                      <a:endParaRPr lang="en-US" sz="2000" b="0" i="0" u="none" strike="noStrike" baseline="0">
                        <a:solidFill>
                          <a:schemeClr val="bg1"/>
                        </a:solidFill>
                        <a:effectLst/>
                        <a:latin typeface="Calibri" panose="020F0502020204030204" pitchFamily="34" charset="0"/>
                      </a:endParaRPr>
                    </a:p>
                  </a:txBody>
                  <a:tcPr marL="3752" marR="3752" marT="3752" marB="0" anchor="b">
                    <a:solidFill>
                      <a:srgbClr val="6B1717"/>
                    </a:solidFill>
                  </a:tcPr>
                </a:tc>
                <a:tc>
                  <a:txBody>
                    <a:bodyPr/>
                    <a:lstStyle/>
                    <a:p>
                      <a:pPr algn="l" fontAlgn="b"/>
                      <a:r>
                        <a:rPr lang="en-US" sz="2000" u="none" strike="noStrike" baseline="0" dirty="0">
                          <a:solidFill>
                            <a:schemeClr val="bg1"/>
                          </a:solidFill>
                          <a:effectLst/>
                        </a:rPr>
                        <a:t>Antioxidant level</a:t>
                      </a:r>
                      <a:endParaRPr lang="en-US" sz="2000" b="0" i="0" u="none" strike="noStrike" baseline="0" dirty="0">
                        <a:solidFill>
                          <a:schemeClr val="bg1"/>
                        </a:solidFill>
                        <a:effectLst/>
                        <a:latin typeface="Calibri" panose="020F0502020204030204" pitchFamily="34" charset="0"/>
                      </a:endParaRPr>
                    </a:p>
                  </a:txBody>
                  <a:tcPr marL="3752" marR="3752" marT="3752" marB="0" anchor="b">
                    <a:solidFill>
                      <a:srgbClr val="6B1717"/>
                    </a:solidFill>
                  </a:tcPr>
                </a:tc>
                <a:extLst>
                  <a:ext uri="{0D108BD9-81ED-4DB2-BD59-A6C34878D82A}">
                    <a16:rowId xmlns:a16="http://schemas.microsoft.com/office/drawing/2014/main" val="2453305531"/>
                  </a:ext>
                </a:extLst>
              </a:tr>
              <a:tr h="561422">
                <a:tc>
                  <a:txBody>
                    <a:bodyPr/>
                    <a:lstStyle/>
                    <a:p>
                      <a:pPr algn="l" fontAlgn="b"/>
                      <a:r>
                        <a:rPr lang="en-US" sz="2000" u="none" strike="noStrike" baseline="0">
                          <a:solidFill>
                            <a:schemeClr val="bg1"/>
                          </a:solidFill>
                          <a:effectLst/>
                        </a:rPr>
                        <a:t>total_sulfur_dioxide</a:t>
                      </a:r>
                      <a:endParaRPr lang="en-US" sz="2000" b="0" i="0" u="none" strike="noStrike" baseline="0">
                        <a:solidFill>
                          <a:schemeClr val="bg1"/>
                        </a:solidFill>
                        <a:effectLst/>
                        <a:latin typeface="Calibri" panose="020F0502020204030204" pitchFamily="34" charset="0"/>
                      </a:endParaRPr>
                    </a:p>
                  </a:txBody>
                  <a:tcPr marL="3752" marR="3752" marT="3752" marB="0" anchor="b">
                    <a:solidFill>
                      <a:srgbClr val="6B1717"/>
                    </a:solidFill>
                  </a:tcPr>
                </a:tc>
                <a:tc>
                  <a:txBody>
                    <a:bodyPr/>
                    <a:lstStyle/>
                    <a:p>
                      <a:pPr algn="l" fontAlgn="b"/>
                      <a:r>
                        <a:rPr lang="en-US" sz="2000" u="none" strike="noStrike" baseline="0" dirty="0">
                          <a:solidFill>
                            <a:schemeClr val="bg1"/>
                          </a:solidFill>
                          <a:effectLst/>
                        </a:rPr>
                        <a:t>Preservative content</a:t>
                      </a:r>
                      <a:endParaRPr lang="en-US" sz="2000" b="0" i="0" u="none" strike="noStrike" baseline="0" dirty="0">
                        <a:solidFill>
                          <a:schemeClr val="bg1"/>
                        </a:solidFill>
                        <a:effectLst/>
                        <a:latin typeface="Calibri" panose="020F0502020204030204" pitchFamily="34" charset="0"/>
                      </a:endParaRPr>
                    </a:p>
                  </a:txBody>
                  <a:tcPr marL="3752" marR="3752" marT="3752" marB="0" anchor="b">
                    <a:solidFill>
                      <a:srgbClr val="6B1717"/>
                    </a:solidFill>
                  </a:tcPr>
                </a:tc>
                <a:extLst>
                  <a:ext uri="{0D108BD9-81ED-4DB2-BD59-A6C34878D82A}">
                    <a16:rowId xmlns:a16="http://schemas.microsoft.com/office/drawing/2014/main" val="13647600"/>
                  </a:ext>
                </a:extLst>
              </a:tr>
              <a:tr h="561422">
                <a:tc>
                  <a:txBody>
                    <a:bodyPr/>
                    <a:lstStyle/>
                    <a:p>
                      <a:pPr algn="l" fontAlgn="b"/>
                      <a:r>
                        <a:rPr lang="en-US" sz="2000" u="none" strike="noStrike" baseline="0">
                          <a:solidFill>
                            <a:schemeClr val="bg1"/>
                          </a:solidFill>
                          <a:effectLst/>
                        </a:rPr>
                        <a:t>density</a:t>
                      </a:r>
                      <a:endParaRPr lang="en-US" sz="2000" b="0" i="0" u="none" strike="noStrike" baseline="0">
                        <a:solidFill>
                          <a:schemeClr val="bg1"/>
                        </a:solidFill>
                        <a:effectLst/>
                        <a:latin typeface="Calibri" panose="020F0502020204030204" pitchFamily="34" charset="0"/>
                      </a:endParaRPr>
                    </a:p>
                  </a:txBody>
                  <a:tcPr marL="3752" marR="3752" marT="3752" marB="0" anchor="b">
                    <a:solidFill>
                      <a:srgbClr val="6B1717"/>
                    </a:solidFill>
                  </a:tcPr>
                </a:tc>
                <a:tc>
                  <a:txBody>
                    <a:bodyPr/>
                    <a:lstStyle/>
                    <a:p>
                      <a:pPr algn="l" fontAlgn="b"/>
                      <a:r>
                        <a:rPr lang="en-GB" sz="2000" u="none" strike="noStrike" baseline="0" dirty="0">
                          <a:solidFill>
                            <a:schemeClr val="bg1"/>
                          </a:solidFill>
                          <a:effectLst/>
                        </a:rPr>
                        <a:t>Relative density of the wine</a:t>
                      </a:r>
                      <a:endParaRPr lang="en-GB" sz="2000" b="0" i="0" u="none" strike="noStrike" baseline="0" dirty="0">
                        <a:solidFill>
                          <a:schemeClr val="bg1"/>
                        </a:solidFill>
                        <a:effectLst/>
                        <a:latin typeface="Calibri" panose="020F0502020204030204" pitchFamily="34" charset="0"/>
                      </a:endParaRPr>
                    </a:p>
                  </a:txBody>
                  <a:tcPr marL="3752" marR="3752" marT="3752" marB="0" anchor="b">
                    <a:solidFill>
                      <a:srgbClr val="6B1717"/>
                    </a:solidFill>
                  </a:tcPr>
                </a:tc>
                <a:extLst>
                  <a:ext uri="{0D108BD9-81ED-4DB2-BD59-A6C34878D82A}">
                    <a16:rowId xmlns:a16="http://schemas.microsoft.com/office/drawing/2014/main" val="2889529620"/>
                  </a:ext>
                </a:extLst>
              </a:tr>
              <a:tr h="561422">
                <a:tc>
                  <a:txBody>
                    <a:bodyPr/>
                    <a:lstStyle/>
                    <a:p>
                      <a:pPr algn="l" fontAlgn="b"/>
                      <a:r>
                        <a:rPr lang="en-US" sz="2000" u="none" strike="noStrike" baseline="0">
                          <a:solidFill>
                            <a:schemeClr val="bg1"/>
                          </a:solidFill>
                          <a:effectLst/>
                        </a:rPr>
                        <a:t>pH</a:t>
                      </a:r>
                      <a:endParaRPr lang="en-US" sz="2000" b="0" i="0" u="none" strike="noStrike" baseline="0">
                        <a:solidFill>
                          <a:schemeClr val="bg1"/>
                        </a:solidFill>
                        <a:effectLst/>
                        <a:latin typeface="Calibri" panose="020F0502020204030204" pitchFamily="34" charset="0"/>
                      </a:endParaRPr>
                    </a:p>
                  </a:txBody>
                  <a:tcPr marL="3752" marR="3752" marT="3752" marB="0" anchor="b">
                    <a:solidFill>
                      <a:srgbClr val="6B1717"/>
                    </a:solidFill>
                  </a:tcPr>
                </a:tc>
                <a:tc>
                  <a:txBody>
                    <a:bodyPr/>
                    <a:lstStyle/>
                    <a:p>
                      <a:pPr algn="l" fontAlgn="b"/>
                      <a:r>
                        <a:rPr lang="en-US" sz="2000" u="none" strike="noStrike" baseline="0" dirty="0">
                          <a:solidFill>
                            <a:schemeClr val="bg1"/>
                          </a:solidFill>
                          <a:effectLst/>
                        </a:rPr>
                        <a:t>Acidity level</a:t>
                      </a:r>
                      <a:endParaRPr lang="en-US" sz="2000" b="0" i="0" u="none" strike="noStrike" baseline="0" dirty="0">
                        <a:solidFill>
                          <a:schemeClr val="bg1"/>
                        </a:solidFill>
                        <a:effectLst/>
                        <a:latin typeface="Calibri" panose="020F0502020204030204" pitchFamily="34" charset="0"/>
                      </a:endParaRPr>
                    </a:p>
                  </a:txBody>
                  <a:tcPr marL="3752" marR="3752" marT="3752" marB="0" anchor="b">
                    <a:solidFill>
                      <a:srgbClr val="6B1717"/>
                    </a:solidFill>
                  </a:tcPr>
                </a:tc>
                <a:extLst>
                  <a:ext uri="{0D108BD9-81ED-4DB2-BD59-A6C34878D82A}">
                    <a16:rowId xmlns:a16="http://schemas.microsoft.com/office/drawing/2014/main" val="3789366718"/>
                  </a:ext>
                </a:extLst>
              </a:tr>
              <a:tr h="561422">
                <a:tc>
                  <a:txBody>
                    <a:bodyPr/>
                    <a:lstStyle/>
                    <a:p>
                      <a:pPr algn="l" fontAlgn="b"/>
                      <a:r>
                        <a:rPr lang="en-US" sz="2000" u="none" strike="noStrike" baseline="0">
                          <a:solidFill>
                            <a:schemeClr val="bg1"/>
                          </a:solidFill>
                          <a:effectLst/>
                        </a:rPr>
                        <a:t>sulphates</a:t>
                      </a:r>
                      <a:endParaRPr lang="en-US" sz="2000" b="0" i="0" u="none" strike="noStrike" baseline="0">
                        <a:solidFill>
                          <a:schemeClr val="bg1"/>
                        </a:solidFill>
                        <a:effectLst/>
                        <a:latin typeface="Calibri" panose="020F0502020204030204" pitchFamily="34" charset="0"/>
                      </a:endParaRPr>
                    </a:p>
                  </a:txBody>
                  <a:tcPr marL="3752" marR="3752" marT="3752" marB="0" anchor="b">
                    <a:solidFill>
                      <a:srgbClr val="6B1717"/>
                    </a:solidFill>
                  </a:tcPr>
                </a:tc>
                <a:tc>
                  <a:txBody>
                    <a:bodyPr/>
                    <a:lstStyle/>
                    <a:p>
                      <a:pPr algn="l" fontAlgn="b"/>
                      <a:r>
                        <a:rPr lang="en-US" sz="2000" u="none" strike="noStrike" baseline="0" dirty="0">
                          <a:solidFill>
                            <a:schemeClr val="bg1"/>
                          </a:solidFill>
                          <a:effectLst/>
                        </a:rPr>
                        <a:t>Sulfate level (stabilizer)</a:t>
                      </a:r>
                      <a:endParaRPr lang="en-US" sz="2000" b="0" i="0" u="none" strike="noStrike" baseline="0" dirty="0">
                        <a:solidFill>
                          <a:schemeClr val="bg1"/>
                        </a:solidFill>
                        <a:effectLst/>
                        <a:latin typeface="Calibri" panose="020F0502020204030204" pitchFamily="34" charset="0"/>
                      </a:endParaRPr>
                    </a:p>
                  </a:txBody>
                  <a:tcPr marL="3752" marR="3752" marT="3752" marB="0" anchor="b">
                    <a:solidFill>
                      <a:srgbClr val="6B1717"/>
                    </a:solidFill>
                  </a:tcPr>
                </a:tc>
                <a:extLst>
                  <a:ext uri="{0D108BD9-81ED-4DB2-BD59-A6C34878D82A}">
                    <a16:rowId xmlns:a16="http://schemas.microsoft.com/office/drawing/2014/main" val="3062069830"/>
                  </a:ext>
                </a:extLst>
              </a:tr>
              <a:tr h="561422">
                <a:tc>
                  <a:txBody>
                    <a:bodyPr/>
                    <a:lstStyle/>
                    <a:p>
                      <a:pPr algn="l" fontAlgn="b"/>
                      <a:r>
                        <a:rPr lang="en-US" sz="2000" u="none" strike="noStrike" baseline="0">
                          <a:solidFill>
                            <a:schemeClr val="bg1"/>
                          </a:solidFill>
                          <a:effectLst/>
                        </a:rPr>
                        <a:t>alcohol</a:t>
                      </a:r>
                      <a:endParaRPr lang="en-US" sz="2000" b="0" i="0" u="none" strike="noStrike" baseline="0">
                        <a:solidFill>
                          <a:schemeClr val="bg1"/>
                        </a:solidFill>
                        <a:effectLst/>
                        <a:latin typeface="Calibri" panose="020F0502020204030204" pitchFamily="34" charset="0"/>
                      </a:endParaRPr>
                    </a:p>
                  </a:txBody>
                  <a:tcPr marL="3752" marR="3752" marT="3752" marB="0" anchor="b">
                    <a:solidFill>
                      <a:srgbClr val="6B1717"/>
                    </a:solidFill>
                  </a:tcPr>
                </a:tc>
                <a:tc>
                  <a:txBody>
                    <a:bodyPr/>
                    <a:lstStyle/>
                    <a:p>
                      <a:pPr algn="l" fontAlgn="b"/>
                      <a:r>
                        <a:rPr lang="en-US" sz="2000" u="none" strike="noStrike" baseline="0" dirty="0">
                          <a:solidFill>
                            <a:schemeClr val="bg1"/>
                          </a:solidFill>
                          <a:effectLst/>
                        </a:rPr>
                        <a:t>Alcohol percentage</a:t>
                      </a:r>
                      <a:endParaRPr lang="en-US" sz="2000" b="0" i="0" u="none" strike="noStrike" baseline="0" dirty="0">
                        <a:solidFill>
                          <a:schemeClr val="bg1"/>
                        </a:solidFill>
                        <a:effectLst/>
                        <a:latin typeface="Calibri" panose="020F0502020204030204" pitchFamily="34" charset="0"/>
                      </a:endParaRPr>
                    </a:p>
                  </a:txBody>
                  <a:tcPr marL="3752" marR="3752" marT="3752" marB="0" anchor="b">
                    <a:solidFill>
                      <a:srgbClr val="6B1717"/>
                    </a:solidFill>
                  </a:tcPr>
                </a:tc>
                <a:extLst>
                  <a:ext uri="{0D108BD9-81ED-4DB2-BD59-A6C34878D82A}">
                    <a16:rowId xmlns:a16="http://schemas.microsoft.com/office/drawing/2014/main" val="2121092069"/>
                  </a:ext>
                </a:extLst>
              </a:tr>
              <a:tr h="561422">
                <a:tc>
                  <a:txBody>
                    <a:bodyPr/>
                    <a:lstStyle/>
                    <a:p>
                      <a:pPr algn="l" fontAlgn="b"/>
                      <a:r>
                        <a:rPr lang="en-US" sz="2000" u="none" strike="noStrike" baseline="0">
                          <a:solidFill>
                            <a:schemeClr val="bg1"/>
                          </a:solidFill>
                          <a:effectLst/>
                        </a:rPr>
                        <a:t>quality</a:t>
                      </a:r>
                      <a:endParaRPr lang="en-US" sz="2000" b="0" i="0" u="none" strike="noStrike" baseline="0">
                        <a:solidFill>
                          <a:schemeClr val="bg1"/>
                        </a:solidFill>
                        <a:effectLst/>
                        <a:latin typeface="Calibri" panose="020F0502020204030204" pitchFamily="34" charset="0"/>
                      </a:endParaRPr>
                    </a:p>
                  </a:txBody>
                  <a:tcPr marL="3752" marR="3752" marT="3752" marB="0" anchor="b">
                    <a:solidFill>
                      <a:srgbClr val="6B1717"/>
                    </a:solidFill>
                  </a:tcPr>
                </a:tc>
                <a:tc>
                  <a:txBody>
                    <a:bodyPr/>
                    <a:lstStyle/>
                    <a:p>
                      <a:pPr algn="l" fontAlgn="b"/>
                      <a:r>
                        <a:rPr lang="en-US" sz="2000" u="none" strike="noStrike" baseline="0" dirty="0">
                          <a:solidFill>
                            <a:schemeClr val="bg1"/>
                          </a:solidFill>
                          <a:effectLst/>
                        </a:rPr>
                        <a:t>Target variable (quality score)</a:t>
                      </a:r>
                      <a:endParaRPr lang="en-US" sz="2000" b="0" i="0" u="none" strike="noStrike" baseline="0" dirty="0">
                        <a:solidFill>
                          <a:schemeClr val="bg1"/>
                        </a:solidFill>
                        <a:effectLst/>
                        <a:latin typeface="Calibri" panose="020F0502020204030204" pitchFamily="34" charset="0"/>
                      </a:endParaRPr>
                    </a:p>
                  </a:txBody>
                  <a:tcPr marL="3752" marR="3752" marT="3752" marB="0" anchor="b">
                    <a:solidFill>
                      <a:srgbClr val="6B1717"/>
                    </a:solidFill>
                  </a:tcPr>
                </a:tc>
                <a:extLst>
                  <a:ext uri="{0D108BD9-81ED-4DB2-BD59-A6C34878D82A}">
                    <a16:rowId xmlns:a16="http://schemas.microsoft.com/office/drawing/2014/main" val="209829047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3" name="Freeform 3"/>
          <p:cNvSpPr/>
          <p:nvPr/>
        </p:nvSpPr>
        <p:spPr>
          <a:xfrm>
            <a:off x="4762" y="652118"/>
            <a:ext cx="8991600" cy="5018218"/>
          </a:xfrm>
          <a:custGeom>
            <a:avLst/>
            <a:gdLst/>
            <a:ahLst/>
            <a:cxnLst/>
            <a:rect l="l" t="t" r="r" b="b"/>
            <a:pathLst>
              <a:path w="8384333" h="5665574">
                <a:moveTo>
                  <a:pt x="0" y="0"/>
                </a:moveTo>
                <a:lnTo>
                  <a:pt x="8384333" y="0"/>
                </a:lnTo>
                <a:lnTo>
                  <a:pt x="8384333" y="5665574"/>
                </a:lnTo>
                <a:lnTo>
                  <a:pt x="0" y="5665574"/>
                </a:lnTo>
                <a:lnTo>
                  <a:pt x="0" y="0"/>
                </a:lnTo>
                <a:close/>
              </a:path>
            </a:pathLst>
          </a:custGeom>
          <a:blipFill>
            <a:blip r:embed="rId2"/>
            <a:stretch>
              <a:fillRect l="-7665" t="-1916" b="-4304"/>
            </a:stretch>
          </a:blipFill>
        </p:spPr>
      </p:sp>
      <p:sp>
        <p:nvSpPr>
          <p:cNvPr id="5" name="TextBox 5"/>
          <p:cNvSpPr txBox="1"/>
          <p:nvPr/>
        </p:nvSpPr>
        <p:spPr>
          <a:xfrm>
            <a:off x="35937" y="5836138"/>
            <a:ext cx="9020175" cy="4492640"/>
          </a:xfrm>
          <a:prstGeom prst="rect">
            <a:avLst/>
          </a:prstGeom>
        </p:spPr>
        <p:txBody>
          <a:bodyPr wrap="square" lIns="0" tIns="0" rIns="0" bIns="0" rtlCol="0" anchor="t">
            <a:spAutoFit/>
          </a:bodyPr>
          <a:lstStyle/>
          <a:p>
            <a:pPr algn="just">
              <a:lnSpc>
                <a:spcPts val="2239"/>
              </a:lnSpc>
            </a:pPr>
            <a:r>
              <a:rPr lang="en-US" sz="1599" b="1" dirty="0">
                <a:solidFill>
                  <a:srgbClr val="F4F4F4"/>
                </a:solidFill>
                <a:latin typeface="Inter Extra-Light"/>
                <a:ea typeface="Inter Extra-Light"/>
                <a:cs typeface="Inter Extra-Light"/>
                <a:sym typeface="Inter Extra-Light"/>
              </a:rPr>
              <a:t>Summary of Findings</a:t>
            </a:r>
          </a:p>
          <a:p>
            <a:pPr marL="345439" lvl="1" indent="-172720" algn="just">
              <a:lnSpc>
                <a:spcPts val="2239"/>
              </a:lnSpc>
              <a:buAutoNum type="arabicPeriod"/>
            </a:pPr>
            <a:r>
              <a:rPr lang="en-US" sz="1599" dirty="0">
                <a:solidFill>
                  <a:srgbClr val="F4F4F4"/>
                </a:solidFill>
                <a:latin typeface="Inter Extra-Light"/>
                <a:ea typeface="Inter Extra-Light"/>
                <a:cs typeface="Inter Extra-Light"/>
                <a:sym typeface="Inter Extra-Light"/>
              </a:rPr>
              <a:t>Most features are right-skewed – such as </a:t>
            </a:r>
            <a:r>
              <a:rPr lang="en-US" sz="1599" dirty="0" err="1">
                <a:solidFill>
                  <a:srgbClr val="F4F4F4"/>
                </a:solidFill>
                <a:latin typeface="Inter Extra-Light"/>
                <a:ea typeface="Inter Extra-Light"/>
                <a:cs typeface="Inter Extra-Light"/>
                <a:sym typeface="Inter Extra-Light"/>
              </a:rPr>
              <a:t>malic_acid</a:t>
            </a:r>
            <a:r>
              <a:rPr lang="en-US" sz="1599" dirty="0">
                <a:solidFill>
                  <a:srgbClr val="F4F4F4"/>
                </a:solidFill>
                <a:latin typeface="Inter Extra-Light"/>
                <a:ea typeface="Inter Extra-Light"/>
                <a:cs typeface="Inter Extra-Light"/>
                <a:sym typeface="Inter Extra-Light"/>
              </a:rPr>
              <a:t>, magnesium, proline, and </a:t>
            </a:r>
            <a:r>
              <a:rPr lang="en-US" sz="1599" dirty="0" err="1">
                <a:solidFill>
                  <a:srgbClr val="F4F4F4"/>
                </a:solidFill>
                <a:latin typeface="Inter Extra-Light"/>
                <a:ea typeface="Inter Extra-Light"/>
                <a:cs typeface="Inter Extra-Light"/>
                <a:sym typeface="Inter Extra-Light"/>
              </a:rPr>
              <a:t>color_intensity</a:t>
            </a:r>
            <a:r>
              <a:rPr lang="en-US" sz="1599" dirty="0">
                <a:solidFill>
                  <a:srgbClr val="F4F4F4"/>
                </a:solidFill>
                <a:latin typeface="Inter Extra-Light"/>
                <a:ea typeface="Inter Extra-Light"/>
                <a:cs typeface="Inter Extra-Light"/>
                <a:sym typeface="Inter Extra-Light"/>
              </a:rPr>
              <a:t>. This suggests a concentration of lower values with fewer high-value outliers.</a:t>
            </a:r>
          </a:p>
          <a:p>
            <a:pPr marL="345439" lvl="1" indent="-172720" algn="just">
              <a:lnSpc>
                <a:spcPts val="2239"/>
              </a:lnSpc>
              <a:buAutoNum type="arabicPeriod"/>
            </a:pPr>
            <a:endParaRPr lang="en-US" sz="1599" dirty="0">
              <a:solidFill>
                <a:srgbClr val="F4F4F4"/>
              </a:solidFill>
              <a:latin typeface="Inter Extra-Light"/>
              <a:ea typeface="Inter Extra-Light"/>
              <a:cs typeface="Inter Extra-Light"/>
              <a:sym typeface="Inter Extra-Light"/>
            </a:endParaRPr>
          </a:p>
          <a:p>
            <a:pPr marL="345439" lvl="1" indent="-172720" algn="just">
              <a:lnSpc>
                <a:spcPts val="2239"/>
              </a:lnSpc>
              <a:buAutoNum type="arabicPeriod"/>
            </a:pPr>
            <a:r>
              <a:rPr lang="en-US" sz="1599" dirty="0">
                <a:solidFill>
                  <a:srgbClr val="F4F4F4"/>
                </a:solidFill>
                <a:latin typeface="Inter Extra-Light"/>
                <a:ea typeface="Inter Extra-Light"/>
                <a:cs typeface="Inter Extra-Light"/>
                <a:sym typeface="Inter Extra-Light"/>
              </a:rPr>
              <a:t>Some features are roughly normally distributed, like ash, alcohol, and hue, making them well-suited for models assuming normality.</a:t>
            </a:r>
          </a:p>
          <a:p>
            <a:pPr marL="345439" lvl="1" indent="-172720" algn="just">
              <a:lnSpc>
                <a:spcPts val="2239"/>
              </a:lnSpc>
              <a:buAutoNum type="arabicPeriod"/>
            </a:pPr>
            <a:endParaRPr lang="en-US" sz="1599" dirty="0">
              <a:solidFill>
                <a:srgbClr val="F4F4F4"/>
              </a:solidFill>
              <a:latin typeface="Inter Extra-Light"/>
              <a:ea typeface="Inter Extra-Light"/>
              <a:cs typeface="Inter Extra-Light"/>
              <a:sym typeface="Inter Extra-Light"/>
            </a:endParaRPr>
          </a:p>
          <a:p>
            <a:pPr marL="345439" lvl="1" indent="-172720" algn="just">
              <a:lnSpc>
                <a:spcPts val="2239"/>
              </a:lnSpc>
              <a:buAutoNum type="arabicPeriod"/>
            </a:pPr>
            <a:r>
              <a:rPr lang="en-US" sz="1599" dirty="0">
                <a:solidFill>
                  <a:srgbClr val="F4F4F4"/>
                </a:solidFill>
                <a:latin typeface="Inter Extra-Light"/>
                <a:ea typeface="Inter Extra-Light"/>
                <a:cs typeface="Inter Extra-Light"/>
                <a:sym typeface="Inter Extra-Light"/>
              </a:rPr>
              <a:t>A few features show bimodal patterns, especially </a:t>
            </a:r>
            <a:r>
              <a:rPr lang="en-US" sz="1599" dirty="0" err="1">
                <a:solidFill>
                  <a:srgbClr val="F4F4F4"/>
                </a:solidFill>
                <a:latin typeface="Inter Extra-Light"/>
                <a:ea typeface="Inter Extra-Light"/>
                <a:cs typeface="Inter Extra-Light"/>
                <a:sym typeface="Inter Extra-Light"/>
              </a:rPr>
              <a:t>flavanoids</a:t>
            </a:r>
            <a:r>
              <a:rPr lang="en-US" sz="1599" dirty="0">
                <a:solidFill>
                  <a:srgbClr val="F4F4F4"/>
                </a:solidFill>
                <a:latin typeface="Inter Extra-Light"/>
                <a:ea typeface="Inter Extra-Light"/>
                <a:cs typeface="Inter Extra-Light"/>
                <a:sym typeface="Inter Extra-Light"/>
              </a:rPr>
              <a:t> and od280/od315_of_diluted_wines. This could indicate strong class-separating potential.</a:t>
            </a:r>
          </a:p>
          <a:p>
            <a:pPr marL="345439" lvl="1" indent="-172720" algn="just">
              <a:lnSpc>
                <a:spcPts val="2239"/>
              </a:lnSpc>
              <a:buAutoNum type="arabicPeriod"/>
            </a:pPr>
            <a:endParaRPr lang="en-US" sz="1599" dirty="0">
              <a:solidFill>
                <a:srgbClr val="F4F4F4"/>
              </a:solidFill>
              <a:latin typeface="Inter Extra-Light"/>
              <a:ea typeface="Inter Extra-Light"/>
              <a:cs typeface="Inter Extra-Light"/>
              <a:sym typeface="Inter Extra-Light"/>
            </a:endParaRPr>
          </a:p>
          <a:p>
            <a:pPr marL="345439" lvl="1" indent="-172720" algn="just">
              <a:lnSpc>
                <a:spcPts val="2239"/>
              </a:lnSpc>
              <a:buAutoNum type="arabicPeriod"/>
            </a:pPr>
            <a:r>
              <a:rPr lang="en-US" sz="1599" dirty="0">
                <a:solidFill>
                  <a:srgbClr val="F4F4F4"/>
                </a:solidFill>
                <a:latin typeface="Inter Extra-Light"/>
                <a:ea typeface="Inter Extra-Light"/>
                <a:cs typeface="Inter Extra-Light"/>
                <a:sym typeface="Inter Extra-Light"/>
              </a:rPr>
              <a:t>Proline has a wide range with a strong right skew, indicating it could be a powerful differentiator among wine types.</a:t>
            </a:r>
          </a:p>
          <a:p>
            <a:pPr marL="345439" lvl="1" indent="-172720" algn="just">
              <a:lnSpc>
                <a:spcPts val="2239"/>
              </a:lnSpc>
              <a:buAutoNum type="arabicPeriod"/>
            </a:pPr>
            <a:endParaRPr lang="en-US" sz="1599" dirty="0">
              <a:solidFill>
                <a:srgbClr val="F4F4F4"/>
              </a:solidFill>
              <a:latin typeface="Inter Extra-Light"/>
              <a:ea typeface="Inter Extra-Light"/>
              <a:cs typeface="Inter Extra-Light"/>
              <a:sym typeface="Inter Extra-Light"/>
            </a:endParaRPr>
          </a:p>
          <a:p>
            <a:pPr marL="345439" lvl="1" indent="-172720" algn="just">
              <a:lnSpc>
                <a:spcPts val="2239"/>
              </a:lnSpc>
              <a:spcBef>
                <a:spcPct val="0"/>
              </a:spcBef>
              <a:buAutoNum type="arabicPeriod"/>
            </a:pPr>
            <a:r>
              <a:rPr lang="en-US" sz="1599" dirty="0">
                <a:solidFill>
                  <a:srgbClr val="F4F4F4"/>
                </a:solidFill>
                <a:latin typeface="Inter Extra-Light"/>
                <a:ea typeface="Inter Extra-Light"/>
                <a:cs typeface="Inter Extra-Light"/>
                <a:sym typeface="Inter Extra-Light"/>
              </a:rPr>
              <a:t>Feature transformation (e.g., log scaling) might be helpful for skewed features to improve model performance.</a:t>
            </a:r>
          </a:p>
          <a:p>
            <a:pPr algn="just">
              <a:lnSpc>
                <a:spcPts val="2239"/>
              </a:lnSpc>
              <a:spcBef>
                <a:spcPct val="0"/>
              </a:spcBef>
            </a:pPr>
            <a:endParaRPr lang="en-US" sz="1599" dirty="0">
              <a:solidFill>
                <a:srgbClr val="F4F4F4"/>
              </a:solidFill>
              <a:latin typeface="Inter Extra-Light"/>
              <a:ea typeface="Inter Extra-Light"/>
              <a:cs typeface="Inter Extra-Light"/>
              <a:sym typeface="Inter Extra-Light"/>
            </a:endParaRPr>
          </a:p>
        </p:txBody>
      </p:sp>
      <p:sp>
        <p:nvSpPr>
          <p:cNvPr id="6" name="TextBox 6"/>
          <p:cNvSpPr txBox="1"/>
          <p:nvPr/>
        </p:nvSpPr>
        <p:spPr>
          <a:xfrm>
            <a:off x="6400800" y="63910"/>
            <a:ext cx="6248400" cy="427168"/>
          </a:xfrm>
          <a:prstGeom prst="rect">
            <a:avLst/>
          </a:prstGeom>
        </p:spPr>
        <p:txBody>
          <a:bodyPr wrap="square" lIns="0" tIns="0" rIns="0" bIns="0" rtlCol="0" anchor="t">
            <a:spAutoFit/>
          </a:bodyPr>
          <a:lstStyle/>
          <a:p>
            <a:pPr algn="ctr">
              <a:lnSpc>
                <a:spcPts val="3530"/>
              </a:lnSpc>
              <a:spcBef>
                <a:spcPct val="0"/>
              </a:spcBef>
            </a:pPr>
            <a:r>
              <a:rPr lang="en-US" sz="2521" b="1" spc="52" dirty="0">
                <a:solidFill>
                  <a:srgbClr val="F4F4F4"/>
                </a:solidFill>
                <a:latin typeface="Poppins Medium"/>
                <a:ea typeface="Poppins Medium"/>
                <a:cs typeface="Poppins Medium"/>
                <a:sym typeface="Poppins Medium"/>
              </a:rPr>
              <a:t>Normal Distribution of Features</a:t>
            </a:r>
          </a:p>
        </p:txBody>
      </p:sp>
      <p:graphicFrame>
        <p:nvGraphicFramePr>
          <p:cNvPr id="7" name="Table 6">
            <a:extLst>
              <a:ext uri="{FF2B5EF4-FFF2-40B4-BE49-F238E27FC236}">
                <a16:creationId xmlns:a16="http://schemas.microsoft.com/office/drawing/2014/main" id="{3CB12D78-8C1D-0F17-77D1-5656DF3266C8}"/>
              </a:ext>
            </a:extLst>
          </p:cNvPr>
          <p:cNvGraphicFramePr>
            <a:graphicFrameLocks noGrp="1"/>
          </p:cNvGraphicFramePr>
          <p:nvPr>
            <p:extLst>
              <p:ext uri="{D42A27DB-BD31-4B8C-83A1-F6EECF244321}">
                <p14:modId xmlns:p14="http://schemas.microsoft.com/office/powerpoint/2010/main" val="2942658757"/>
              </p:ext>
            </p:extLst>
          </p:nvPr>
        </p:nvGraphicFramePr>
        <p:xfrm>
          <a:off x="9144000" y="652118"/>
          <a:ext cx="8991600" cy="9515666"/>
        </p:xfrm>
        <a:graphic>
          <a:graphicData uri="http://schemas.openxmlformats.org/drawingml/2006/table">
            <a:tbl>
              <a:tblPr>
                <a:tableStyleId>{5C22544A-7EE6-4342-B048-85BDC9FD1C3A}</a:tableStyleId>
              </a:tblPr>
              <a:tblGrid>
                <a:gridCol w="3091536">
                  <a:extLst>
                    <a:ext uri="{9D8B030D-6E8A-4147-A177-3AD203B41FA5}">
                      <a16:colId xmlns:a16="http://schemas.microsoft.com/office/drawing/2014/main" val="3119762330"/>
                    </a:ext>
                  </a:extLst>
                </a:gridCol>
                <a:gridCol w="3780878">
                  <a:extLst>
                    <a:ext uri="{9D8B030D-6E8A-4147-A177-3AD203B41FA5}">
                      <a16:colId xmlns:a16="http://schemas.microsoft.com/office/drawing/2014/main" val="2002614914"/>
                    </a:ext>
                  </a:extLst>
                </a:gridCol>
                <a:gridCol w="2119186">
                  <a:extLst>
                    <a:ext uri="{9D8B030D-6E8A-4147-A177-3AD203B41FA5}">
                      <a16:colId xmlns:a16="http://schemas.microsoft.com/office/drawing/2014/main" val="2980442646"/>
                    </a:ext>
                  </a:extLst>
                </a:gridCol>
              </a:tblGrid>
              <a:tr h="641314">
                <a:tc>
                  <a:txBody>
                    <a:bodyPr/>
                    <a:lstStyle/>
                    <a:p>
                      <a:pPr algn="l" fontAlgn="b"/>
                      <a:r>
                        <a:rPr lang="en-US" sz="2400" b="1" u="none" strike="noStrike" baseline="0">
                          <a:solidFill>
                            <a:schemeClr val="bg1"/>
                          </a:solidFill>
                          <a:effectLst/>
                        </a:rPr>
                        <a:t>Feature</a:t>
                      </a:r>
                      <a:endParaRPr lang="en-US" sz="2400" b="1" i="0" u="none" strike="noStrike" baseline="0" dirty="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US" sz="2400" b="1" u="none" strike="noStrike" baseline="0">
                          <a:solidFill>
                            <a:schemeClr val="bg1"/>
                          </a:solidFill>
                          <a:effectLst/>
                        </a:rPr>
                        <a:t>Distribution Shape</a:t>
                      </a:r>
                      <a:endParaRPr lang="en-US" sz="2400" b="1" i="0" u="none" strike="noStrike" baseline="0" dirty="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US" sz="2400" b="1" u="none" strike="noStrike" baseline="0">
                          <a:solidFill>
                            <a:schemeClr val="bg1"/>
                          </a:solidFill>
                          <a:effectLst/>
                        </a:rPr>
                        <a:t>Insight</a:t>
                      </a:r>
                      <a:endParaRPr lang="en-US" sz="2400" b="1" i="0" u="none" strike="noStrike" baseline="0" dirty="0">
                        <a:solidFill>
                          <a:schemeClr val="bg1"/>
                        </a:solidFill>
                        <a:effectLst/>
                        <a:latin typeface="Calibri" panose="020F0502020204030204" pitchFamily="34" charset="0"/>
                      </a:endParaRPr>
                    </a:p>
                  </a:txBody>
                  <a:tcPr marL="3010" marR="3010" marT="3010" marB="0" anchor="b">
                    <a:solidFill>
                      <a:srgbClr val="6B1717"/>
                    </a:solidFill>
                  </a:tcPr>
                </a:tc>
                <a:extLst>
                  <a:ext uri="{0D108BD9-81ED-4DB2-BD59-A6C34878D82A}">
                    <a16:rowId xmlns:a16="http://schemas.microsoft.com/office/drawing/2014/main" val="1645822526"/>
                  </a:ext>
                </a:extLst>
              </a:tr>
              <a:tr h="725868">
                <a:tc>
                  <a:txBody>
                    <a:bodyPr/>
                    <a:lstStyle/>
                    <a:p>
                      <a:pPr algn="l" fontAlgn="b"/>
                      <a:r>
                        <a:rPr lang="en-US" sz="2000" u="none" strike="noStrike" baseline="0">
                          <a:solidFill>
                            <a:schemeClr val="bg1"/>
                          </a:solidFill>
                          <a:effectLst/>
                        </a:rPr>
                        <a:t>alcohol</a:t>
                      </a:r>
                      <a:endParaRPr lang="en-US" sz="2000" b="0" i="1" u="none" strike="noStrike" baseline="0" dirty="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US" sz="2000" u="none" strike="noStrike" baseline="0">
                          <a:solidFill>
                            <a:schemeClr val="bg1"/>
                          </a:solidFill>
                          <a:effectLst/>
                        </a:rPr>
                        <a:t>Symmetrical, slightly skewed</a:t>
                      </a:r>
                      <a:endParaRPr lang="en-US" sz="2000" b="0" i="0" u="none" strike="noStrike" baseline="0" dirty="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US" sz="2000" u="none" strike="noStrike" baseline="0">
                          <a:solidFill>
                            <a:schemeClr val="bg1"/>
                          </a:solidFill>
                          <a:effectLst/>
                        </a:rPr>
                        <a:t>Normal-like distribution</a:t>
                      </a:r>
                      <a:endParaRPr lang="en-US" sz="2000" b="0" i="0" u="none" strike="noStrike" baseline="0">
                        <a:solidFill>
                          <a:schemeClr val="bg1"/>
                        </a:solidFill>
                        <a:effectLst/>
                        <a:latin typeface="Calibri" panose="020F0502020204030204" pitchFamily="34" charset="0"/>
                      </a:endParaRPr>
                    </a:p>
                  </a:txBody>
                  <a:tcPr marL="3010" marR="3010" marT="3010" marB="0" anchor="b">
                    <a:solidFill>
                      <a:srgbClr val="6B1717"/>
                    </a:solidFill>
                  </a:tcPr>
                </a:tc>
                <a:extLst>
                  <a:ext uri="{0D108BD9-81ED-4DB2-BD59-A6C34878D82A}">
                    <a16:rowId xmlns:a16="http://schemas.microsoft.com/office/drawing/2014/main" val="3721395776"/>
                  </a:ext>
                </a:extLst>
              </a:tr>
              <a:tr h="786034">
                <a:tc>
                  <a:txBody>
                    <a:bodyPr/>
                    <a:lstStyle/>
                    <a:p>
                      <a:pPr algn="l" fontAlgn="b"/>
                      <a:r>
                        <a:rPr lang="en-US" sz="2000" u="none" strike="noStrike" baseline="0">
                          <a:solidFill>
                            <a:schemeClr val="bg1"/>
                          </a:solidFill>
                          <a:effectLst/>
                        </a:rPr>
                        <a:t>malic_acid</a:t>
                      </a:r>
                      <a:endParaRPr lang="en-US" sz="2000" b="0" i="1" u="none" strike="noStrike" baseline="0" dirty="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US" sz="2000" u="none" strike="noStrike" baseline="0">
                          <a:solidFill>
                            <a:schemeClr val="bg1"/>
                          </a:solidFill>
                          <a:effectLst/>
                        </a:rPr>
                        <a:t>Right-skewed</a:t>
                      </a:r>
                      <a:endParaRPr lang="en-US" sz="2000" b="0" i="0" u="none" strike="noStrike" baseline="0" dirty="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GB" sz="2000" u="none" strike="noStrike" baseline="0">
                          <a:solidFill>
                            <a:schemeClr val="bg1"/>
                          </a:solidFill>
                          <a:effectLst/>
                        </a:rPr>
                        <a:t>Most wines have low malic acid</a:t>
                      </a:r>
                      <a:endParaRPr lang="en-GB" sz="2000" b="0" i="0" u="none" strike="noStrike" baseline="0">
                        <a:solidFill>
                          <a:schemeClr val="bg1"/>
                        </a:solidFill>
                        <a:effectLst/>
                        <a:latin typeface="Calibri" panose="020F0502020204030204" pitchFamily="34" charset="0"/>
                      </a:endParaRPr>
                    </a:p>
                  </a:txBody>
                  <a:tcPr marL="3010" marR="3010" marT="3010" marB="0" anchor="b">
                    <a:solidFill>
                      <a:srgbClr val="6B1717"/>
                    </a:solidFill>
                  </a:tcPr>
                </a:tc>
                <a:extLst>
                  <a:ext uri="{0D108BD9-81ED-4DB2-BD59-A6C34878D82A}">
                    <a16:rowId xmlns:a16="http://schemas.microsoft.com/office/drawing/2014/main" val="1071350497"/>
                  </a:ext>
                </a:extLst>
              </a:tr>
              <a:tr h="643758">
                <a:tc>
                  <a:txBody>
                    <a:bodyPr/>
                    <a:lstStyle/>
                    <a:p>
                      <a:pPr algn="l" fontAlgn="b"/>
                      <a:r>
                        <a:rPr lang="en-US" sz="2000" u="none" strike="noStrike" baseline="0">
                          <a:solidFill>
                            <a:schemeClr val="bg1"/>
                          </a:solidFill>
                          <a:effectLst/>
                        </a:rPr>
                        <a:t>ash</a:t>
                      </a:r>
                      <a:endParaRPr lang="en-US" sz="2000" b="0" i="1" u="none" strike="noStrike" baseline="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US" sz="2000" u="none" strike="noStrike" baseline="0">
                          <a:solidFill>
                            <a:schemeClr val="bg1"/>
                          </a:solidFill>
                          <a:effectLst/>
                        </a:rPr>
                        <a:t>Nearly normal</a:t>
                      </a:r>
                      <a:endParaRPr lang="en-US" sz="2000" b="0" i="0" u="none" strike="noStrike" baseline="0" dirty="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US" sz="2000" u="none" strike="noStrike" baseline="0">
                          <a:solidFill>
                            <a:schemeClr val="bg1"/>
                          </a:solidFill>
                          <a:effectLst/>
                        </a:rPr>
                        <a:t>Centered around 2.5</a:t>
                      </a:r>
                      <a:endParaRPr lang="en-US" sz="2000" b="0" i="0" u="none" strike="noStrike" baseline="0">
                        <a:solidFill>
                          <a:schemeClr val="bg1"/>
                        </a:solidFill>
                        <a:effectLst/>
                        <a:latin typeface="Calibri" panose="020F0502020204030204" pitchFamily="34" charset="0"/>
                      </a:endParaRPr>
                    </a:p>
                  </a:txBody>
                  <a:tcPr marL="3010" marR="3010" marT="3010" marB="0" anchor="b">
                    <a:solidFill>
                      <a:srgbClr val="6B1717"/>
                    </a:solidFill>
                  </a:tcPr>
                </a:tc>
                <a:extLst>
                  <a:ext uri="{0D108BD9-81ED-4DB2-BD59-A6C34878D82A}">
                    <a16:rowId xmlns:a16="http://schemas.microsoft.com/office/drawing/2014/main" val="3603455027"/>
                  </a:ext>
                </a:extLst>
              </a:tr>
              <a:tr h="873174">
                <a:tc>
                  <a:txBody>
                    <a:bodyPr/>
                    <a:lstStyle/>
                    <a:p>
                      <a:pPr algn="l" fontAlgn="b"/>
                      <a:r>
                        <a:rPr lang="en-US" sz="2000" u="none" strike="noStrike" baseline="0">
                          <a:solidFill>
                            <a:schemeClr val="bg1"/>
                          </a:solidFill>
                          <a:effectLst/>
                        </a:rPr>
                        <a:t>alcalinity_of_ash</a:t>
                      </a:r>
                      <a:endParaRPr lang="en-US" sz="2000" b="0" i="1" u="none" strike="noStrike" baseline="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US" sz="2000" u="none" strike="noStrike" baseline="0">
                          <a:solidFill>
                            <a:schemeClr val="bg1"/>
                          </a:solidFill>
                          <a:effectLst/>
                        </a:rPr>
                        <a:t>Symmetric</a:t>
                      </a:r>
                      <a:endParaRPr lang="en-US" sz="2000" b="0" i="0" u="none" strike="noStrike" baseline="0" dirty="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US" sz="2000" u="none" strike="noStrike" baseline="0">
                          <a:solidFill>
                            <a:schemeClr val="bg1"/>
                          </a:solidFill>
                          <a:effectLst/>
                        </a:rPr>
                        <a:t>Slight peak near 20</a:t>
                      </a:r>
                      <a:endParaRPr lang="en-US" sz="2000" b="0" i="0" u="none" strike="noStrike" baseline="0">
                        <a:solidFill>
                          <a:schemeClr val="bg1"/>
                        </a:solidFill>
                        <a:effectLst/>
                        <a:latin typeface="Calibri" panose="020F0502020204030204" pitchFamily="34" charset="0"/>
                      </a:endParaRPr>
                    </a:p>
                  </a:txBody>
                  <a:tcPr marL="3010" marR="3010" marT="3010" marB="0" anchor="b">
                    <a:solidFill>
                      <a:srgbClr val="6B1717"/>
                    </a:solidFill>
                  </a:tcPr>
                </a:tc>
                <a:extLst>
                  <a:ext uri="{0D108BD9-81ED-4DB2-BD59-A6C34878D82A}">
                    <a16:rowId xmlns:a16="http://schemas.microsoft.com/office/drawing/2014/main" val="632960464"/>
                  </a:ext>
                </a:extLst>
              </a:tr>
              <a:tr h="654586">
                <a:tc>
                  <a:txBody>
                    <a:bodyPr/>
                    <a:lstStyle/>
                    <a:p>
                      <a:pPr algn="l" fontAlgn="b"/>
                      <a:r>
                        <a:rPr lang="en-US" sz="2000" u="none" strike="noStrike" baseline="0">
                          <a:solidFill>
                            <a:schemeClr val="bg1"/>
                          </a:solidFill>
                          <a:effectLst/>
                        </a:rPr>
                        <a:t>magnesium</a:t>
                      </a:r>
                      <a:endParaRPr lang="en-US" sz="2000" b="0" i="1" u="none" strike="noStrike" baseline="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US" sz="2000" u="none" strike="noStrike" baseline="0">
                          <a:solidFill>
                            <a:schemeClr val="bg1"/>
                          </a:solidFill>
                          <a:effectLst/>
                        </a:rPr>
                        <a:t>Right-skewed</a:t>
                      </a:r>
                      <a:endParaRPr lang="en-US" sz="2000" b="0" i="0" u="none" strike="noStrike" baseline="0" dirty="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GB" sz="2000" u="none" strike="noStrike" baseline="0">
                          <a:solidFill>
                            <a:schemeClr val="bg1"/>
                          </a:solidFill>
                          <a:effectLst/>
                        </a:rPr>
                        <a:t>Most values are between 70–100</a:t>
                      </a:r>
                      <a:endParaRPr lang="en-GB" sz="2000" b="0" i="0" u="none" strike="noStrike" baseline="0">
                        <a:solidFill>
                          <a:schemeClr val="bg1"/>
                        </a:solidFill>
                        <a:effectLst/>
                        <a:latin typeface="Calibri" panose="020F0502020204030204" pitchFamily="34" charset="0"/>
                      </a:endParaRPr>
                    </a:p>
                  </a:txBody>
                  <a:tcPr marL="3010" marR="3010" marT="3010" marB="0" anchor="b">
                    <a:solidFill>
                      <a:srgbClr val="6B1717"/>
                    </a:solidFill>
                  </a:tcPr>
                </a:tc>
                <a:extLst>
                  <a:ext uri="{0D108BD9-81ED-4DB2-BD59-A6C34878D82A}">
                    <a16:rowId xmlns:a16="http://schemas.microsoft.com/office/drawing/2014/main" val="2685359143"/>
                  </a:ext>
                </a:extLst>
              </a:tr>
              <a:tr h="643758">
                <a:tc>
                  <a:txBody>
                    <a:bodyPr/>
                    <a:lstStyle/>
                    <a:p>
                      <a:pPr algn="l" fontAlgn="b"/>
                      <a:r>
                        <a:rPr lang="en-US" sz="2000" u="none" strike="noStrike" baseline="0">
                          <a:solidFill>
                            <a:schemeClr val="bg1"/>
                          </a:solidFill>
                          <a:effectLst/>
                        </a:rPr>
                        <a:t>total_phenols</a:t>
                      </a:r>
                      <a:endParaRPr lang="en-US" sz="2000" b="0" i="1" u="none" strike="noStrike" baseline="0" dirty="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US" sz="2000" u="none" strike="noStrike" baseline="0">
                          <a:solidFill>
                            <a:schemeClr val="bg1"/>
                          </a:solidFill>
                          <a:effectLst/>
                        </a:rPr>
                        <a:t>Fairly uniform</a:t>
                      </a:r>
                      <a:endParaRPr lang="en-US" sz="2000" b="0" i="0" u="none" strike="noStrike" baseline="0" dirty="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US" sz="2000" u="none" strike="noStrike" baseline="0">
                          <a:solidFill>
                            <a:schemeClr val="bg1"/>
                          </a:solidFill>
                          <a:effectLst/>
                        </a:rPr>
                        <a:t>Spread evenly from 1–3</a:t>
                      </a:r>
                      <a:endParaRPr lang="en-US" sz="2000" b="0" i="0" u="none" strike="noStrike" baseline="0">
                        <a:solidFill>
                          <a:schemeClr val="bg1"/>
                        </a:solidFill>
                        <a:effectLst/>
                        <a:latin typeface="Calibri" panose="020F0502020204030204" pitchFamily="34" charset="0"/>
                      </a:endParaRPr>
                    </a:p>
                  </a:txBody>
                  <a:tcPr marL="3010" marR="3010" marT="3010" marB="0" anchor="b">
                    <a:solidFill>
                      <a:srgbClr val="6B1717"/>
                    </a:solidFill>
                  </a:tcPr>
                </a:tc>
                <a:extLst>
                  <a:ext uri="{0D108BD9-81ED-4DB2-BD59-A6C34878D82A}">
                    <a16:rowId xmlns:a16="http://schemas.microsoft.com/office/drawing/2014/main" val="3759999702"/>
                  </a:ext>
                </a:extLst>
              </a:tr>
              <a:tr h="643758">
                <a:tc>
                  <a:txBody>
                    <a:bodyPr/>
                    <a:lstStyle/>
                    <a:p>
                      <a:pPr algn="l" fontAlgn="b"/>
                      <a:r>
                        <a:rPr lang="en-US" sz="2000" u="none" strike="noStrike" baseline="0">
                          <a:solidFill>
                            <a:schemeClr val="bg1"/>
                          </a:solidFill>
                          <a:effectLst/>
                        </a:rPr>
                        <a:t>flavonoids</a:t>
                      </a:r>
                      <a:endParaRPr lang="en-US" sz="2000" b="0" i="1" u="none" strike="noStrike" baseline="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US" sz="2000" u="none" strike="noStrike" baseline="0">
                          <a:solidFill>
                            <a:schemeClr val="bg1"/>
                          </a:solidFill>
                          <a:effectLst/>
                        </a:rPr>
                        <a:t>Right-skewed</a:t>
                      </a:r>
                      <a:endParaRPr lang="en-US" sz="2000" b="0" i="0" u="none" strike="noStrike" baseline="0" dirty="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GB" sz="2000" u="none" strike="noStrike" baseline="0">
                          <a:solidFill>
                            <a:schemeClr val="bg1"/>
                          </a:solidFill>
                          <a:effectLst/>
                        </a:rPr>
                        <a:t>Many wines with low values</a:t>
                      </a:r>
                      <a:endParaRPr lang="en-GB" sz="2000" b="0" i="0" u="none" strike="noStrike" baseline="0" dirty="0">
                        <a:solidFill>
                          <a:schemeClr val="bg1"/>
                        </a:solidFill>
                        <a:effectLst/>
                        <a:latin typeface="Calibri" panose="020F0502020204030204" pitchFamily="34" charset="0"/>
                      </a:endParaRPr>
                    </a:p>
                  </a:txBody>
                  <a:tcPr marL="3010" marR="3010" marT="3010" marB="0" anchor="b">
                    <a:solidFill>
                      <a:srgbClr val="6B1717"/>
                    </a:solidFill>
                  </a:tcPr>
                </a:tc>
                <a:extLst>
                  <a:ext uri="{0D108BD9-81ED-4DB2-BD59-A6C34878D82A}">
                    <a16:rowId xmlns:a16="http://schemas.microsoft.com/office/drawing/2014/main" val="2721800665"/>
                  </a:ext>
                </a:extLst>
              </a:tr>
              <a:tr h="654586">
                <a:tc>
                  <a:txBody>
                    <a:bodyPr/>
                    <a:lstStyle/>
                    <a:p>
                      <a:pPr algn="l" fontAlgn="b"/>
                      <a:r>
                        <a:rPr lang="en-US" sz="2000" u="none" strike="noStrike" baseline="0">
                          <a:solidFill>
                            <a:schemeClr val="bg1"/>
                          </a:solidFill>
                          <a:effectLst/>
                        </a:rPr>
                        <a:t>nonflavanoid_phenols</a:t>
                      </a:r>
                      <a:endParaRPr lang="en-US" sz="2000" b="0" i="1" u="none" strike="noStrike" baseline="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US" sz="2000" u="none" strike="noStrike" baseline="0">
                          <a:solidFill>
                            <a:schemeClr val="bg1"/>
                          </a:solidFill>
                          <a:effectLst/>
                        </a:rPr>
                        <a:t>Right-skewed</a:t>
                      </a:r>
                      <a:endParaRPr lang="en-US" sz="2000" b="0" i="0" u="none" strike="noStrike" baseline="0" dirty="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US" sz="2000" u="none" strike="noStrike" baseline="0">
                          <a:solidFill>
                            <a:schemeClr val="bg1"/>
                          </a:solidFill>
                          <a:effectLst/>
                        </a:rPr>
                        <a:t>Similar pattern to flavonoids</a:t>
                      </a:r>
                      <a:endParaRPr lang="en-US" sz="2000" b="0" i="0" u="none" strike="noStrike" baseline="0" dirty="0">
                        <a:solidFill>
                          <a:schemeClr val="bg1"/>
                        </a:solidFill>
                        <a:effectLst/>
                        <a:latin typeface="Calibri" panose="020F0502020204030204" pitchFamily="34" charset="0"/>
                      </a:endParaRPr>
                    </a:p>
                  </a:txBody>
                  <a:tcPr marL="3010" marR="3010" marT="3010" marB="0" anchor="b">
                    <a:solidFill>
                      <a:srgbClr val="6B1717"/>
                    </a:solidFill>
                  </a:tcPr>
                </a:tc>
                <a:extLst>
                  <a:ext uri="{0D108BD9-81ED-4DB2-BD59-A6C34878D82A}">
                    <a16:rowId xmlns:a16="http://schemas.microsoft.com/office/drawing/2014/main" val="574660291"/>
                  </a:ext>
                </a:extLst>
              </a:tr>
              <a:tr h="641314">
                <a:tc>
                  <a:txBody>
                    <a:bodyPr/>
                    <a:lstStyle/>
                    <a:p>
                      <a:pPr algn="l" fontAlgn="b"/>
                      <a:r>
                        <a:rPr lang="en-US" sz="2000" u="none" strike="noStrike" baseline="0">
                          <a:solidFill>
                            <a:schemeClr val="bg1"/>
                          </a:solidFill>
                          <a:effectLst/>
                        </a:rPr>
                        <a:t>proanthocyanins</a:t>
                      </a:r>
                      <a:endParaRPr lang="en-US" sz="2000" b="0" i="1" u="none" strike="noStrike" baseline="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US" sz="2000" u="none" strike="noStrike" baseline="0">
                          <a:solidFill>
                            <a:schemeClr val="bg1"/>
                          </a:solidFill>
                          <a:effectLst/>
                        </a:rPr>
                        <a:t>Normal-like</a:t>
                      </a:r>
                      <a:endParaRPr lang="en-US" sz="2000" b="0" i="0" u="none" strike="noStrike" baseline="0" dirty="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US" sz="2000" u="none" strike="noStrike" baseline="0">
                          <a:solidFill>
                            <a:schemeClr val="bg1"/>
                          </a:solidFill>
                          <a:effectLst/>
                        </a:rPr>
                        <a:t>Balanced spread</a:t>
                      </a:r>
                      <a:endParaRPr lang="en-US" sz="2000" b="0" i="0" u="none" strike="noStrike" baseline="0" dirty="0">
                        <a:solidFill>
                          <a:schemeClr val="bg1"/>
                        </a:solidFill>
                        <a:effectLst/>
                        <a:latin typeface="Calibri" panose="020F0502020204030204" pitchFamily="34" charset="0"/>
                      </a:endParaRPr>
                    </a:p>
                  </a:txBody>
                  <a:tcPr marL="3010" marR="3010" marT="3010" marB="0" anchor="b">
                    <a:solidFill>
                      <a:srgbClr val="6B1717"/>
                    </a:solidFill>
                  </a:tcPr>
                </a:tc>
                <a:extLst>
                  <a:ext uri="{0D108BD9-81ED-4DB2-BD59-A6C34878D82A}">
                    <a16:rowId xmlns:a16="http://schemas.microsoft.com/office/drawing/2014/main" val="85990259"/>
                  </a:ext>
                </a:extLst>
              </a:tr>
              <a:tr h="654586">
                <a:tc>
                  <a:txBody>
                    <a:bodyPr/>
                    <a:lstStyle/>
                    <a:p>
                      <a:pPr algn="l" fontAlgn="b"/>
                      <a:r>
                        <a:rPr lang="en-US" sz="2000" u="none" strike="noStrike" baseline="0">
                          <a:solidFill>
                            <a:schemeClr val="bg1"/>
                          </a:solidFill>
                          <a:effectLst/>
                        </a:rPr>
                        <a:t>color_intensity</a:t>
                      </a:r>
                      <a:endParaRPr lang="en-US" sz="2000" b="0" i="1" u="none" strike="noStrike" baseline="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US" sz="2000" u="none" strike="noStrike" baseline="0">
                          <a:solidFill>
                            <a:schemeClr val="bg1"/>
                          </a:solidFill>
                          <a:effectLst/>
                        </a:rPr>
                        <a:t>Right-skewed</a:t>
                      </a:r>
                      <a:endParaRPr lang="en-US" sz="2000" b="0" i="0" u="none" strike="noStrike" baseline="0" dirty="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US" sz="2000" u="none" strike="noStrike" baseline="0">
                          <a:solidFill>
                            <a:schemeClr val="bg1"/>
                          </a:solidFill>
                          <a:effectLst/>
                        </a:rPr>
                        <a:t>Few very intense-colored wines</a:t>
                      </a:r>
                      <a:endParaRPr lang="en-US" sz="2000" b="0" i="0" u="none" strike="noStrike" baseline="0" dirty="0">
                        <a:solidFill>
                          <a:schemeClr val="bg1"/>
                        </a:solidFill>
                        <a:effectLst/>
                        <a:latin typeface="Calibri" panose="020F0502020204030204" pitchFamily="34" charset="0"/>
                      </a:endParaRPr>
                    </a:p>
                  </a:txBody>
                  <a:tcPr marL="3010" marR="3010" marT="3010" marB="0" anchor="b">
                    <a:solidFill>
                      <a:srgbClr val="6B1717"/>
                    </a:solidFill>
                  </a:tcPr>
                </a:tc>
                <a:extLst>
                  <a:ext uri="{0D108BD9-81ED-4DB2-BD59-A6C34878D82A}">
                    <a16:rowId xmlns:a16="http://schemas.microsoft.com/office/drawing/2014/main" val="1703352984"/>
                  </a:ext>
                </a:extLst>
              </a:tr>
              <a:tr h="643758">
                <a:tc>
                  <a:txBody>
                    <a:bodyPr/>
                    <a:lstStyle/>
                    <a:p>
                      <a:pPr algn="l" fontAlgn="b"/>
                      <a:r>
                        <a:rPr lang="en-US" sz="2000" u="none" strike="noStrike" baseline="0">
                          <a:solidFill>
                            <a:schemeClr val="bg1"/>
                          </a:solidFill>
                          <a:effectLst/>
                        </a:rPr>
                        <a:t>hue</a:t>
                      </a:r>
                      <a:endParaRPr lang="en-US" sz="2000" b="0" i="1" u="none" strike="noStrike" baseline="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US" sz="2000" u="none" strike="noStrike" baseline="0">
                          <a:solidFill>
                            <a:schemeClr val="bg1"/>
                          </a:solidFill>
                          <a:effectLst/>
                        </a:rPr>
                        <a:t>Bell-shaped</a:t>
                      </a:r>
                      <a:endParaRPr lang="en-US" sz="2000" b="0" i="0" u="none" strike="noStrike" baseline="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US" sz="2000" u="none" strike="noStrike" baseline="0" dirty="0">
                          <a:solidFill>
                            <a:schemeClr val="bg1"/>
                          </a:solidFill>
                          <a:effectLst/>
                        </a:rPr>
                        <a:t>Typical range 0.8–1.2</a:t>
                      </a:r>
                      <a:endParaRPr lang="en-US" sz="2000" b="0" i="0" u="none" strike="noStrike" baseline="0" dirty="0">
                        <a:solidFill>
                          <a:schemeClr val="bg1"/>
                        </a:solidFill>
                        <a:effectLst/>
                        <a:latin typeface="Calibri" panose="020F0502020204030204" pitchFamily="34" charset="0"/>
                      </a:endParaRPr>
                    </a:p>
                  </a:txBody>
                  <a:tcPr marL="3010" marR="3010" marT="3010" marB="0" anchor="b">
                    <a:solidFill>
                      <a:srgbClr val="6B1717"/>
                    </a:solidFill>
                  </a:tcPr>
                </a:tc>
                <a:extLst>
                  <a:ext uri="{0D108BD9-81ED-4DB2-BD59-A6C34878D82A}">
                    <a16:rowId xmlns:a16="http://schemas.microsoft.com/office/drawing/2014/main" val="2806251096"/>
                  </a:ext>
                </a:extLst>
              </a:tr>
              <a:tr h="654586">
                <a:tc>
                  <a:txBody>
                    <a:bodyPr/>
                    <a:lstStyle/>
                    <a:p>
                      <a:pPr algn="l" fontAlgn="b"/>
                      <a:r>
                        <a:rPr lang="en-GB" sz="2000" u="none" strike="noStrike" baseline="0">
                          <a:solidFill>
                            <a:schemeClr val="bg1"/>
                          </a:solidFill>
                          <a:effectLst/>
                        </a:rPr>
                        <a:t>od280/od315_of_diluted_wines</a:t>
                      </a:r>
                      <a:endParaRPr lang="en-GB" sz="2000" b="0" i="1" u="none" strike="noStrike" baseline="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US" sz="2000" u="none" strike="noStrike" baseline="0">
                          <a:solidFill>
                            <a:schemeClr val="bg1"/>
                          </a:solidFill>
                          <a:effectLst/>
                        </a:rPr>
                        <a:t>Bimodal</a:t>
                      </a:r>
                      <a:endParaRPr lang="en-US" sz="2000" b="0" i="0" u="none" strike="noStrike" baseline="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GB" sz="2000" u="none" strike="noStrike" baseline="0">
                          <a:solidFill>
                            <a:schemeClr val="bg1"/>
                          </a:solidFill>
                          <a:effectLst/>
                        </a:rPr>
                        <a:t>Two common groups of wines</a:t>
                      </a:r>
                      <a:endParaRPr lang="en-GB" sz="2000" b="0" i="0" u="none" strike="noStrike" baseline="0" dirty="0">
                        <a:solidFill>
                          <a:schemeClr val="bg1"/>
                        </a:solidFill>
                        <a:effectLst/>
                        <a:latin typeface="Calibri" panose="020F0502020204030204" pitchFamily="34" charset="0"/>
                      </a:endParaRPr>
                    </a:p>
                  </a:txBody>
                  <a:tcPr marL="3010" marR="3010" marT="3010" marB="0" anchor="b">
                    <a:solidFill>
                      <a:srgbClr val="6B1717"/>
                    </a:solidFill>
                  </a:tcPr>
                </a:tc>
                <a:extLst>
                  <a:ext uri="{0D108BD9-81ED-4DB2-BD59-A6C34878D82A}">
                    <a16:rowId xmlns:a16="http://schemas.microsoft.com/office/drawing/2014/main" val="4124288492"/>
                  </a:ext>
                </a:extLst>
              </a:tr>
              <a:tr h="654586">
                <a:tc>
                  <a:txBody>
                    <a:bodyPr/>
                    <a:lstStyle/>
                    <a:p>
                      <a:pPr algn="l" fontAlgn="b"/>
                      <a:r>
                        <a:rPr lang="en-US" sz="2000" u="none" strike="noStrike" baseline="0">
                          <a:solidFill>
                            <a:schemeClr val="bg1"/>
                          </a:solidFill>
                          <a:effectLst/>
                        </a:rPr>
                        <a:t>proline</a:t>
                      </a:r>
                      <a:endParaRPr lang="en-US" sz="2000" b="0" i="1" u="none" strike="noStrike" baseline="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US" sz="2000" u="none" strike="noStrike" baseline="0">
                          <a:solidFill>
                            <a:schemeClr val="bg1"/>
                          </a:solidFill>
                          <a:effectLst/>
                        </a:rPr>
                        <a:t>Strongly right-skewed</a:t>
                      </a:r>
                      <a:endParaRPr lang="en-US" sz="2000" b="0" i="0" u="none" strike="noStrike" baseline="0" dirty="0">
                        <a:solidFill>
                          <a:schemeClr val="bg1"/>
                        </a:solidFill>
                        <a:effectLst/>
                        <a:latin typeface="Calibri" panose="020F0502020204030204" pitchFamily="34" charset="0"/>
                      </a:endParaRPr>
                    </a:p>
                  </a:txBody>
                  <a:tcPr marL="3010" marR="3010" marT="3010" marB="0" anchor="b">
                    <a:solidFill>
                      <a:srgbClr val="6B1717"/>
                    </a:solidFill>
                  </a:tcPr>
                </a:tc>
                <a:tc>
                  <a:txBody>
                    <a:bodyPr/>
                    <a:lstStyle/>
                    <a:p>
                      <a:pPr algn="l" fontAlgn="b"/>
                      <a:r>
                        <a:rPr lang="en-GB" sz="2000" u="none" strike="noStrike" baseline="0" dirty="0">
                          <a:solidFill>
                            <a:schemeClr val="bg1"/>
                          </a:solidFill>
                          <a:effectLst/>
                        </a:rPr>
                        <a:t>Few wines have very high proline</a:t>
                      </a:r>
                      <a:endParaRPr lang="en-GB" sz="2000" b="0" i="0" u="none" strike="noStrike" baseline="0" dirty="0">
                        <a:solidFill>
                          <a:schemeClr val="bg1"/>
                        </a:solidFill>
                        <a:effectLst/>
                        <a:latin typeface="Calibri" panose="020F0502020204030204" pitchFamily="34" charset="0"/>
                      </a:endParaRPr>
                    </a:p>
                  </a:txBody>
                  <a:tcPr marL="3010" marR="3010" marT="3010" marB="0" anchor="b">
                    <a:solidFill>
                      <a:srgbClr val="6B1717"/>
                    </a:solidFill>
                  </a:tcPr>
                </a:tc>
                <a:extLst>
                  <a:ext uri="{0D108BD9-81ED-4DB2-BD59-A6C34878D82A}">
                    <a16:rowId xmlns:a16="http://schemas.microsoft.com/office/drawing/2014/main" val="40373954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FB09B9C2-0873-9810-F54B-5C1BDF13535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E4CE887-B5FD-EB29-6987-5C968EDCEAF2}"/>
              </a:ext>
            </a:extLst>
          </p:cNvPr>
          <p:cNvSpPr txBox="1"/>
          <p:nvPr/>
        </p:nvSpPr>
        <p:spPr>
          <a:xfrm>
            <a:off x="1219200" y="419100"/>
            <a:ext cx="4724400" cy="1867178"/>
          </a:xfrm>
          <a:prstGeom prst="rect">
            <a:avLst/>
          </a:prstGeom>
          <a:noFill/>
        </p:spPr>
        <p:txBody>
          <a:bodyPr wrap="square">
            <a:spAutoFit/>
          </a:bodyPr>
          <a:lstStyle/>
          <a:p>
            <a:pPr algn="l">
              <a:lnSpc>
                <a:spcPts val="7267"/>
              </a:lnSpc>
            </a:pPr>
            <a:r>
              <a:rPr lang="en-US" sz="4000" b="1" spc="-321" dirty="0">
                <a:solidFill>
                  <a:srgbClr val="F4F4F4"/>
                </a:solidFill>
                <a:latin typeface="Palatino Linotype" panose="02040502050505030304" pitchFamily="18" charset="0"/>
                <a:ea typeface="Poppins Medium"/>
                <a:cs typeface="Poppins Medium"/>
                <a:sym typeface="Poppins Medium"/>
              </a:rPr>
              <a:t>Wine Type</a:t>
            </a:r>
          </a:p>
          <a:p>
            <a:pPr algn="l">
              <a:lnSpc>
                <a:spcPts val="7267"/>
              </a:lnSpc>
            </a:pPr>
            <a:r>
              <a:rPr lang="en-US" sz="4000" b="1" spc="-321" dirty="0">
                <a:solidFill>
                  <a:srgbClr val="F4F4F4"/>
                </a:solidFill>
                <a:latin typeface="Palatino Linotype" panose="02040502050505030304" pitchFamily="18" charset="0"/>
                <a:ea typeface="Poppins Medium"/>
                <a:cs typeface="Poppins Medium"/>
                <a:sym typeface="Poppins Medium"/>
              </a:rPr>
              <a:t>Distribution Analysis</a:t>
            </a:r>
          </a:p>
        </p:txBody>
      </p:sp>
      <p:sp>
        <p:nvSpPr>
          <p:cNvPr id="9" name="TextBox 8">
            <a:extLst>
              <a:ext uri="{FF2B5EF4-FFF2-40B4-BE49-F238E27FC236}">
                <a16:creationId xmlns:a16="http://schemas.microsoft.com/office/drawing/2014/main" id="{DBBD40D1-BFD6-A718-5E0F-C875F082A6A9}"/>
              </a:ext>
            </a:extLst>
          </p:cNvPr>
          <p:cNvSpPr txBox="1"/>
          <p:nvPr/>
        </p:nvSpPr>
        <p:spPr>
          <a:xfrm>
            <a:off x="0" y="2745053"/>
            <a:ext cx="8839200" cy="7122847"/>
          </a:xfrm>
          <a:prstGeom prst="rect">
            <a:avLst/>
          </a:prstGeom>
          <a:noFill/>
        </p:spPr>
        <p:txBody>
          <a:bodyPr wrap="square">
            <a:spAutoFit/>
          </a:bodyPr>
          <a:lstStyle/>
          <a:p>
            <a:pPr algn="l">
              <a:lnSpc>
                <a:spcPts val="4034"/>
              </a:lnSpc>
            </a:pPr>
            <a:r>
              <a:rPr lang="en-US" sz="2881" b="1" spc="-121" dirty="0">
                <a:solidFill>
                  <a:srgbClr val="FFFFFF"/>
                </a:solidFill>
                <a:latin typeface="Poppins Bold"/>
                <a:ea typeface="Poppins Bold"/>
                <a:cs typeface="Poppins Bold"/>
                <a:sym typeface="Poppins Bold"/>
              </a:rPr>
              <a:t>Wine Type Distribution – Analysis</a:t>
            </a:r>
          </a:p>
          <a:p>
            <a:pPr marL="557448" lvl="1" indent="-278724" algn="l">
              <a:lnSpc>
                <a:spcPts val="3614"/>
              </a:lnSpc>
              <a:buFont typeface="Arial"/>
              <a:buChar char="•"/>
            </a:pPr>
            <a:r>
              <a:rPr lang="en-US" sz="2581" spc="-108" dirty="0">
                <a:solidFill>
                  <a:srgbClr val="F4F4F4"/>
                </a:solidFill>
                <a:latin typeface="Poppins"/>
                <a:ea typeface="Poppins"/>
                <a:cs typeface="Poppins"/>
                <a:sym typeface="Poppins"/>
              </a:rPr>
              <a:t>The dataset contains three wine types, labeled as 0, 1, and 2.</a:t>
            </a:r>
          </a:p>
          <a:p>
            <a:pPr marL="557448" lvl="1" indent="-278724" algn="l">
              <a:lnSpc>
                <a:spcPts val="3614"/>
              </a:lnSpc>
              <a:buFont typeface="Arial"/>
              <a:buChar char="•"/>
            </a:pPr>
            <a:r>
              <a:rPr lang="en-US" sz="2581" spc="-108" dirty="0">
                <a:solidFill>
                  <a:srgbClr val="F4F4F4"/>
                </a:solidFill>
                <a:latin typeface="Poppins"/>
                <a:ea typeface="Poppins"/>
                <a:cs typeface="Poppins"/>
                <a:sym typeface="Poppins"/>
              </a:rPr>
              <a:t>Wine Type 1 is the most represented, with approximately 71 entries.</a:t>
            </a:r>
          </a:p>
          <a:p>
            <a:pPr marL="557448" lvl="1" indent="-278724" algn="l">
              <a:lnSpc>
                <a:spcPts val="3614"/>
              </a:lnSpc>
              <a:buFont typeface="Arial"/>
              <a:buChar char="•"/>
            </a:pPr>
            <a:r>
              <a:rPr lang="en-US" sz="2581" spc="-108" dirty="0">
                <a:solidFill>
                  <a:srgbClr val="F4F4F4"/>
                </a:solidFill>
                <a:latin typeface="Poppins"/>
                <a:ea typeface="Poppins"/>
                <a:cs typeface="Poppins"/>
                <a:sym typeface="Poppins"/>
              </a:rPr>
              <a:t>Wine Type 0 follows with about 59 entries.</a:t>
            </a:r>
          </a:p>
          <a:p>
            <a:pPr marL="557448" lvl="1" indent="-278724" algn="l">
              <a:lnSpc>
                <a:spcPts val="3614"/>
              </a:lnSpc>
              <a:buFont typeface="Arial"/>
              <a:buChar char="•"/>
            </a:pPr>
            <a:r>
              <a:rPr lang="en-US" sz="2581" spc="-108" dirty="0">
                <a:solidFill>
                  <a:srgbClr val="F4F4F4"/>
                </a:solidFill>
                <a:latin typeface="Poppins"/>
                <a:ea typeface="Poppins"/>
                <a:cs typeface="Poppins"/>
                <a:sym typeface="Poppins"/>
              </a:rPr>
              <a:t>Wine Type 2 has the lowest representation, with around 48 entries.</a:t>
            </a:r>
          </a:p>
          <a:p>
            <a:pPr algn="l">
              <a:lnSpc>
                <a:spcPts val="4174"/>
              </a:lnSpc>
            </a:pPr>
            <a:r>
              <a:rPr lang="en-US" sz="2981" b="1" spc="-125" dirty="0">
                <a:solidFill>
                  <a:srgbClr val="F4F4F4"/>
                </a:solidFill>
                <a:latin typeface="Poppins Bold"/>
                <a:ea typeface="Poppins Bold"/>
                <a:cs typeface="Poppins Bold"/>
                <a:sym typeface="Poppins Bold"/>
              </a:rPr>
              <a:t>  Observations:</a:t>
            </a:r>
          </a:p>
          <a:p>
            <a:pPr marL="557448" lvl="1" indent="-278724" algn="l">
              <a:lnSpc>
                <a:spcPts val="3614"/>
              </a:lnSpc>
              <a:buFont typeface="Arial"/>
              <a:buChar char="•"/>
            </a:pPr>
            <a:r>
              <a:rPr lang="en-US" sz="2581" spc="-108" dirty="0">
                <a:solidFill>
                  <a:srgbClr val="F4F4F4"/>
                </a:solidFill>
                <a:latin typeface="Poppins"/>
                <a:ea typeface="Poppins"/>
                <a:cs typeface="Poppins"/>
                <a:sym typeface="Poppins"/>
              </a:rPr>
              <a:t>The data is relatively balanced, though Wine Type 1 has a noticeable lead.</a:t>
            </a:r>
          </a:p>
          <a:p>
            <a:pPr marL="557448" lvl="1" indent="-278724" algn="l">
              <a:lnSpc>
                <a:spcPts val="3614"/>
              </a:lnSpc>
              <a:buFont typeface="Arial"/>
              <a:buChar char="•"/>
            </a:pPr>
            <a:r>
              <a:rPr lang="en-US" sz="2581" spc="-108" dirty="0">
                <a:solidFill>
                  <a:srgbClr val="F4F4F4"/>
                </a:solidFill>
                <a:latin typeface="Poppins"/>
                <a:ea typeface="Poppins"/>
                <a:cs typeface="Poppins"/>
                <a:sym typeface="Poppins"/>
              </a:rPr>
              <a:t>The class imbalance is not extreme, but it's something to be aware of when training classification models, as it could slightly influence performance metrics.</a:t>
            </a:r>
          </a:p>
        </p:txBody>
      </p:sp>
      <p:sp>
        <p:nvSpPr>
          <p:cNvPr id="10" name="Freeform 3"/>
          <p:cNvSpPr/>
          <p:nvPr/>
        </p:nvSpPr>
        <p:spPr>
          <a:xfrm>
            <a:off x="9448802" y="1562100"/>
            <a:ext cx="8774985" cy="8458200"/>
          </a:xfrm>
          <a:custGeom>
            <a:avLst/>
            <a:gdLst/>
            <a:ahLst/>
            <a:cxnLst/>
            <a:rect l="l" t="t" r="r" b="b"/>
            <a:pathLst>
              <a:path w="8568457" h="6812716">
                <a:moveTo>
                  <a:pt x="0" y="0"/>
                </a:moveTo>
                <a:lnTo>
                  <a:pt x="8568457" y="0"/>
                </a:lnTo>
                <a:lnTo>
                  <a:pt x="8568457" y="6812716"/>
                </a:lnTo>
                <a:lnTo>
                  <a:pt x="0" y="6812716"/>
                </a:lnTo>
                <a:lnTo>
                  <a:pt x="0" y="0"/>
                </a:lnTo>
                <a:close/>
              </a:path>
            </a:pathLst>
          </a:custGeom>
          <a:blipFill>
            <a:blip r:embed="rId2"/>
            <a:stretch>
              <a:fillRect l="-1106" t="-4078" r="-1106"/>
            </a:stretch>
          </a:blipFill>
        </p:spPr>
      </p:sp>
    </p:spTree>
    <p:extLst>
      <p:ext uri="{BB962C8B-B14F-4D97-AF65-F5344CB8AC3E}">
        <p14:creationId xmlns:p14="http://schemas.microsoft.com/office/powerpoint/2010/main" val="13426666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8D9E9FB4-A8FE-FAA6-164D-544372DD0F5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42210E4-B390-21CC-FA4F-9CDE78308838}"/>
              </a:ext>
            </a:extLst>
          </p:cNvPr>
          <p:cNvSpPr txBox="1"/>
          <p:nvPr/>
        </p:nvSpPr>
        <p:spPr>
          <a:xfrm>
            <a:off x="1219200" y="419100"/>
            <a:ext cx="15087600" cy="938077"/>
          </a:xfrm>
          <a:prstGeom prst="rect">
            <a:avLst/>
          </a:prstGeom>
          <a:noFill/>
        </p:spPr>
        <p:txBody>
          <a:bodyPr wrap="square">
            <a:spAutoFit/>
          </a:bodyPr>
          <a:lstStyle/>
          <a:p>
            <a:pPr>
              <a:lnSpc>
                <a:spcPts val="7267"/>
              </a:lnSpc>
            </a:pPr>
            <a:r>
              <a:rPr lang="en-US" sz="4000" b="1" spc="-321" dirty="0">
                <a:solidFill>
                  <a:srgbClr val="F4F4F4"/>
                </a:solidFill>
                <a:latin typeface="Poppins Medium"/>
                <a:ea typeface="Poppins Medium"/>
                <a:cs typeface="Poppins Medium"/>
                <a:sym typeface="Poppins Medium"/>
              </a:rPr>
              <a:t>Key    Insights     from    Feature    Correlations</a:t>
            </a:r>
          </a:p>
        </p:txBody>
      </p:sp>
      <p:sp>
        <p:nvSpPr>
          <p:cNvPr id="9" name="TextBox 8">
            <a:extLst>
              <a:ext uri="{FF2B5EF4-FFF2-40B4-BE49-F238E27FC236}">
                <a16:creationId xmlns:a16="http://schemas.microsoft.com/office/drawing/2014/main" id="{348B4A27-DD6C-04AE-778F-951712A41D66}"/>
              </a:ext>
            </a:extLst>
          </p:cNvPr>
          <p:cNvSpPr txBox="1"/>
          <p:nvPr/>
        </p:nvSpPr>
        <p:spPr>
          <a:xfrm>
            <a:off x="0" y="2745053"/>
            <a:ext cx="8153400" cy="7238264"/>
          </a:xfrm>
          <a:prstGeom prst="rect">
            <a:avLst/>
          </a:prstGeom>
          <a:noFill/>
        </p:spPr>
        <p:txBody>
          <a:bodyPr wrap="square">
            <a:spAutoFit/>
          </a:bodyPr>
          <a:lstStyle/>
          <a:p>
            <a:pPr>
              <a:lnSpc>
                <a:spcPts val="4034"/>
              </a:lnSpc>
            </a:pPr>
            <a:r>
              <a:rPr lang="en-US" sz="2000" spc="-121" dirty="0">
                <a:solidFill>
                  <a:srgbClr val="FFFFFF"/>
                </a:solidFill>
                <a:latin typeface="Poppins" panose="00000500000000000000" pitchFamily="2" charset="0"/>
                <a:ea typeface="Poppins Bold"/>
                <a:cs typeface="Poppins" panose="00000500000000000000" pitchFamily="2" charset="0"/>
                <a:sym typeface="Poppins Bold"/>
              </a:rPr>
              <a:t>The heatmap reveals that </a:t>
            </a:r>
            <a:r>
              <a:rPr lang="en-US" sz="2000" spc="-121" dirty="0" err="1">
                <a:solidFill>
                  <a:srgbClr val="FFFFFF"/>
                </a:solidFill>
                <a:latin typeface="Poppins" panose="00000500000000000000" pitchFamily="2" charset="0"/>
                <a:ea typeface="Poppins Bold"/>
                <a:cs typeface="Poppins" panose="00000500000000000000" pitchFamily="2" charset="0"/>
                <a:sym typeface="Poppins Bold"/>
              </a:rPr>
              <a:t>flavanoids</a:t>
            </a:r>
            <a:r>
              <a:rPr lang="en-US" sz="2000" spc="-121" dirty="0">
                <a:solidFill>
                  <a:srgbClr val="FFFFFF"/>
                </a:solidFill>
                <a:latin typeface="Poppins" panose="00000500000000000000" pitchFamily="2" charset="0"/>
                <a:ea typeface="Poppins Bold"/>
                <a:cs typeface="Poppins" panose="00000500000000000000" pitchFamily="2" charset="0"/>
                <a:sym typeface="Poppins Bold"/>
              </a:rPr>
              <a:t>, total phenols, and OD280/OD315 are highly correlated, suggesting they may represent similar underlying wine characteristics—likely related to antioxidant or polyphenol content. This can help in reducing dimensionality or selecting the most informative feature during model building.</a:t>
            </a:r>
          </a:p>
          <a:p>
            <a:pPr>
              <a:lnSpc>
                <a:spcPts val="4034"/>
              </a:lnSpc>
            </a:pPr>
            <a:r>
              <a:rPr lang="en-US" sz="2000" spc="-121" dirty="0">
                <a:solidFill>
                  <a:srgbClr val="FFFFFF"/>
                </a:solidFill>
                <a:latin typeface="Poppins" panose="00000500000000000000" pitchFamily="2" charset="0"/>
                <a:ea typeface="Poppins Bold"/>
                <a:cs typeface="Poppins" panose="00000500000000000000" pitchFamily="2" charset="0"/>
                <a:sym typeface="Poppins Bold"/>
              </a:rPr>
              <a:t>Additionally, the strong negative correlation between malic acid and hue highlights a possible link between wine acidity and color tint, which could reflect quality or type.</a:t>
            </a:r>
          </a:p>
          <a:p>
            <a:pPr>
              <a:lnSpc>
                <a:spcPts val="4034"/>
              </a:lnSpc>
            </a:pPr>
            <a:r>
              <a:rPr lang="en-US" sz="2000" spc="-121" dirty="0">
                <a:solidFill>
                  <a:srgbClr val="FFFFFF"/>
                </a:solidFill>
                <a:latin typeface="Poppins" panose="00000500000000000000" pitchFamily="2" charset="0"/>
                <a:ea typeface="Poppins Bold"/>
                <a:cs typeface="Poppins" panose="00000500000000000000" pitchFamily="2" charset="0"/>
                <a:sym typeface="Poppins Bold"/>
              </a:rPr>
              <a:t>Understanding these relationships aids in:</a:t>
            </a:r>
          </a:p>
          <a:p>
            <a:pPr marL="622216" lvl="1" indent="-311108">
              <a:lnSpc>
                <a:spcPts val="4034"/>
              </a:lnSpc>
              <a:buFont typeface="Arial"/>
              <a:buChar char="•"/>
            </a:pPr>
            <a:r>
              <a:rPr lang="en-US" sz="2000" spc="-121" dirty="0">
                <a:solidFill>
                  <a:srgbClr val="FFFFFF"/>
                </a:solidFill>
                <a:latin typeface="Poppins" panose="00000500000000000000" pitchFamily="2" charset="0"/>
                <a:ea typeface="Poppins Bold"/>
                <a:cs typeface="Poppins" panose="00000500000000000000" pitchFamily="2" charset="0"/>
                <a:sym typeface="Poppins Bold"/>
              </a:rPr>
              <a:t>Improving model accuracy by avoiding redundant features,</a:t>
            </a:r>
          </a:p>
          <a:p>
            <a:pPr marL="622216" lvl="1" indent="-311108">
              <a:lnSpc>
                <a:spcPts val="4034"/>
              </a:lnSpc>
              <a:buFont typeface="Arial"/>
              <a:buChar char="•"/>
            </a:pPr>
            <a:r>
              <a:rPr lang="en-US" sz="2000" spc="-121" dirty="0">
                <a:solidFill>
                  <a:srgbClr val="FFFFFF"/>
                </a:solidFill>
                <a:latin typeface="Poppins" panose="00000500000000000000" pitchFamily="2" charset="0"/>
                <a:ea typeface="Poppins Bold"/>
                <a:cs typeface="Poppins" panose="00000500000000000000" pitchFamily="2" charset="0"/>
                <a:sym typeface="Poppins Bold"/>
              </a:rPr>
              <a:t>Interpreting chemical composition linked to wine quality,</a:t>
            </a:r>
          </a:p>
          <a:p>
            <a:pPr marL="622216" lvl="1" indent="-311108">
              <a:lnSpc>
                <a:spcPts val="4034"/>
              </a:lnSpc>
              <a:buFont typeface="Arial"/>
              <a:buChar char="•"/>
            </a:pPr>
            <a:r>
              <a:rPr lang="en-US" sz="2000" spc="-121" dirty="0">
                <a:solidFill>
                  <a:srgbClr val="FFFFFF"/>
                </a:solidFill>
                <a:latin typeface="Poppins" panose="00000500000000000000" pitchFamily="2" charset="0"/>
                <a:ea typeface="Poppins Bold"/>
                <a:cs typeface="Poppins" panose="00000500000000000000" pitchFamily="2" charset="0"/>
                <a:sym typeface="Poppins Bold"/>
              </a:rPr>
              <a:t>And enhancing feature selection for classification or prediction tasks.</a:t>
            </a:r>
          </a:p>
          <a:p>
            <a:pPr algn="l">
              <a:lnSpc>
                <a:spcPts val="4034"/>
              </a:lnSpc>
            </a:pPr>
            <a:endParaRPr lang="en-US" sz="2581" spc="-108" dirty="0">
              <a:solidFill>
                <a:srgbClr val="F4F4F4"/>
              </a:solidFill>
              <a:latin typeface="Poppins"/>
              <a:ea typeface="Poppins"/>
              <a:cs typeface="Poppins"/>
              <a:sym typeface="Poppins"/>
            </a:endParaRPr>
          </a:p>
        </p:txBody>
      </p:sp>
      <p:pic>
        <p:nvPicPr>
          <p:cNvPr id="3" name="Picture 2">
            <a:extLst>
              <a:ext uri="{FF2B5EF4-FFF2-40B4-BE49-F238E27FC236}">
                <a16:creationId xmlns:a16="http://schemas.microsoft.com/office/drawing/2014/main" id="{6A38EDC7-9767-3924-0121-E141D53F61E6}"/>
              </a:ext>
            </a:extLst>
          </p:cNvPr>
          <p:cNvPicPr>
            <a:picLocks noChangeAspect="1"/>
          </p:cNvPicPr>
          <p:nvPr/>
        </p:nvPicPr>
        <p:blipFill>
          <a:blip r:embed="rId2">
            <a:extLst>
              <a:ext uri="{28A0092B-C50C-407E-A947-70E740481C1C}">
                <a14:useLocalDpi xmlns:a14="http://schemas.microsoft.com/office/drawing/2010/main" val="0"/>
              </a:ext>
            </a:extLst>
          </a:blip>
          <a:srcRect t="6708" r="9722"/>
          <a:stretch>
            <a:fillRect/>
          </a:stretch>
        </p:blipFill>
        <p:spPr>
          <a:xfrm>
            <a:off x="8381978" y="2628900"/>
            <a:ext cx="9906022" cy="6824542"/>
          </a:xfrm>
          <a:prstGeom prst="rect">
            <a:avLst/>
          </a:prstGeom>
        </p:spPr>
      </p:pic>
    </p:spTree>
    <p:extLst>
      <p:ext uri="{BB962C8B-B14F-4D97-AF65-F5344CB8AC3E}">
        <p14:creationId xmlns:p14="http://schemas.microsoft.com/office/powerpoint/2010/main" val="1277121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C0F4CF16-BE4E-7B81-E293-9E23DF704E2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E67C495-351D-F87A-D6E7-2D18CE705FC6}"/>
              </a:ext>
            </a:extLst>
          </p:cNvPr>
          <p:cNvSpPr txBox="1"/>
          <p:nvPr/>
        </p:nvSpPr>
        <p:spPr>
          <a:xfrm>
            <a:off x="2438400" y="303683"/>
            <a:ext cx="15087600" cy="928459"/>
          </a:xfrm>
          <a:prstGeom prst="rect">
            <a:avLst/>
          </a:prstGeom>
          <a:noFill/>
        </p:spPr>
        <p:txBody>
          <a:bodyPr wrap="square">
            <a:spAutoFit/>
          </a:bodyPr>
          <a:lstStyle/>
          <a:p>
            <a:pPr>
              <a:lnSpc>
                <a:spcPts val="7172"/>
              </a:lnSpc>
            </a:pPr>
            <a:r>
              <a:rPr lang="en-US" sz="4000" b="1" spc="-317" dirty="0" err="1">
                <a:solidFill>
                  <a:srgbClr val="F4F4F4"/>
                </a:solidFill>
                <a:latin typeface="Bookman Old Style" panose="02050604050505020204" pitchFamily="18" charset="0"/>
                <a:ea typeface="Poppins Medium"/>
                <a:cs typeface="Poppins" panose="00000500000000000000" pitchFamily="2" charset="0"/>
                <a:sym typeface="Poppins Medium"/>
              </a:rPr>
              <a:t>Flavanoids</a:t>
            </a:r>
            <a:r>
              <a:rPr lang="en-US" sz="4000" b="1" spc="-317" dirty="0">
                <a:solidFill>
                  <a:srgbClr val="F4F4F4"/>
                </a:solidFill>
                <a:latin typeface="Bookman Old Style" panose="02050604050505020204" pitchFamily="18" charset="0"/>
                <a:ea typeface="Poppins Medium"/>
                <a:cs typeface="Poppins" panose="00000500000000000000" pitchFamily="2" charset="0"/>
                <a:sym typeface="Poppins Medium"/>
              </a:rPr>
              <a:t>   vs. Total   Phenols    Relationship</a:t>
            </a:r>
          </a:p>
        </p:txBody>
      </p:sp>
      <p:sp>
        <p:nvSpPr>
          <p:cNvPr id="9" name="TextBox 8">
            <a:extLst>
              <a:ext uri="{FF2B5EF4-FFF2-40B4-BE49-F238E27FC236}">
                <a16:creationId xmlns:a16="http://schemas.microsoft.com/office/drawing/2014/main" id="{8B646DAE-D014-6611-D829-A95A8367C886}"/>
              </a:ext>
            </a:extLst>
          </p:cNvPr>
          <p:cNvSpPr txBox="1"/>
          <p:nvPr/>
        </p:nvSpPr>
        <p:spPr>
          <a:xfrm>
            <a:off x="0" y="2745053"/>
            <a:ext cx="8153400" cy="7751224"/>
          </a:xfrm>
          <a:prstGeom prst="rect">
            <a:avLst/>
          </a:prstGeom>
          <a:noFill/>
        </p:spPr>
        <p:txBody>
          <a:bodyPr wrap="square">
            <a:spAutoFit/>
          </a:bodyPr>
          <a:lstStyle/>
          <a:p>
            <a:pPr>
              <a:lnSpc>
                <a:spcPts val="4034"/>
              </a:lnSpc>
            </a:pPr>
            <a:r>
              <a:rPr lang="en-US" sz="2400" spc="-121" dirty="0">
                <a:solidFill>
                  <a:srgbClr val="FFFFFF"/>
                </a:solidFill>
                <a:latin typeface="Poppins" panose="00000500000000000000" pitchFamily="2" charset="0"/>
                <a:ea typeface="Poppins Bold"/>
                <a:cs typeface="Poppins" panose="00000500000000000000" pitchFamily="2" charset="0"/>
                <a:sym typeface="Poppins Bold"/>
              </a:rPr>
              <a:t>From the previous correlation heatmap, we observed a strong positive correlation (0.86) between </a:t>
            </a:r>
            <a:r>
              <a:rPr lang="en-US" sz="2400" spc="-121" dirty="0" err="1">
                <a:solidFill>
                  <a:srgbClr val="FFFFFF"/>
                </a:solidFill>
                <a:latin typeface="Poppins" panose="00000500000000000000" pitchFamily="2" charset="0"/>
                <a:ea typeface="Poppins Bold"/>
                <a:cs typeface="Poppins" panose="00000500000000000000" pitchFamily="2" charset="0"/>
                <a:sym typeface="Poppins Bold"/>
              </a:rPr>
              <a:t>flavanoids</a:t>
            </a:r>
            <a:r>
              <a:rPr lang="en-US" sz="2400" spc="-121" dirty="0">
                <a:solidFill>
                  <a:srgbClr val="FFFFFF"/>
                </a:solidFill>
                <a:latin typeface="Poppins" panose="00000500000000000000" pitchFamily="2" charset="0"/>
                <a:ea typeface="Poppins Bold"/>
                <a:cs typeface="Poppins" panose="00000500000000000000" pitchFamily="2" charset="0"/>
                <a:sym typeface="Poppins Bold"/>
              </a:rPr>
              <a:t> and </a:t>
            </a:r>
            <a:r>
              <a:rPr lang="en-US" sz="2400" spc="-121" dirty="0" err="1">
                <a:solidFill>
                  <a:srgbClr val="FFFFFF"/>
                </a:solidFill>
                <a:latin typeface="Poppins" panose="00000500000000000000" pitchFamily="2" charset="0"/>
                <a:ea typeface="Poppins Bold"/>
                <a:cs typeface="Poppins" panose="00000500000000000000" pitchFamily="2" charset="0"/>
                <a:sym typeface="Poppins Bold"/>
              </a:rPr>
              <a:t>total_phenols</a:t>
            </a:r>
            <a:r>
              <a:rPr lang="en-US" sz="2400" spc="-121" dirty="0">
                <a:solidFill>
                  <a:srgbClr val="FFFFFF"/>
                </a:solidFill>
                <a:latin typeface="Poppins" panose="00000500000000000000" pitchFamily="2" charset="0"/>
                <a:ea typeface="Poppins Bold"/>
                <a:cs typeface="Poppins" panose="00000500000000000000" pitchFamily="2" charset="0"/>
                <a:sym typeface="Poppins Bold"/>
              </a:rPr>
              <a:t>. This scatter plot confirms that relationship visually — as the </a:t>
            </a:r>
            <a:r>
              <a:rPr lang="en-US" sz="2400" spc="-121" dirty="0" err="1">
                <a:solidFill>
                  <a:srgbClr val="FFFFFF"/>
                </a:solidFill>
                <a:latin typeface="Poppins" panose="00000500000000000000" pitchFamily="2" charset="0"/>
                <a:ea typeface="Poppins Bold"/>
                <a:cs typeface="Poppins" panose="00000500000000000000" pitchFamily="2" charset="0"/>
                <a:sym typeface="Poppins Bold"/>
              </a:rPr>
              <a:t>total_phenols</a:t>
            </a:r>
            <a:r>
              <a:rPr lang="en-US" sz="2400" spc="-121" dirty="0">
                <a:solidFill>
                  <a:srgbClr val="FFFFFF"/>
                </a:solidFill>
                <a:latin typeface="Poppins" panose="00000500000000000000" pitchFamily="2" charset="0"/>
                <a:ea typeface="Poppins Bold"/>
                <a:cs typeface="Poppins" panose="00000500000000000000" pitchFamily="2" charset="0"/>
                <a:sym typeface="Poppins Bold"/>
              </a:rPr>
              <a:t> content increases, the </a:t>
            </a:r>
            <a:r>
              <a:rPr lang="en-US" sz="2400" spc="-121" dirty="0" err="1">
                <a:solidFill>
                  <a:srgbClr val="FFFFFF"/>
                </a:solidFill>
                <a:latin typeface="Poppins" panose="00000500000000000000" pitchFamily="2" charset="0"/>
                <a:ea typeface="Poppins Bold"/>
                <a:cs typeface="Poppins" panose="00000500000000000000" pitchFamily="2" charset="0"/>
                <a:sym typeface="Poppins Bold"/>
              </a:rPr>
              <a:t>flavanoids</a:t>
            </a:r>
            <a:r>
              <a:rPr lang="en-US" sz="2400" spc="-121" dirty="0">
                <a:solidFill>
                  <a:srgbClr val="FFFFFF"/>
                </a:solidFill>
                <a:latin typeface="Poppins" panose="00000500000000000000" pitchFamily="2" charset="0"/>
                <a:ea typeface="Poppins Bold"/>
                <a:cs typeface="Poppins" panose="00000500000000000000" pitchFamily="2" charset="0"/>
                <a:sym typeface="Poppins Bold"/>
              </a:rPr>
              <a:t> also tend to increase.</a:t>
            </a:r>
          </a:p>
          <a:p>
            <a:pPr>
              <a:lnSpc>
                <a:spcPts val="4034"/>
              </a:lnSpc>
            </a:pPr>
            <a:endParaRPr lang="en-US" sz="2400" spc="-121" dirty="0">
              <a:solidFill>
                <a:srgbClr val="FFFFFF"/>
              </a:solidFill>
              <a:latin typeface="Poppins" panose="00000500000000000000" pitchFamily="2" charset="0"/>
              <a:ea typeface="Poppins Bold"/>
              <a:cs typeface="Poppins" panose="00000500000000000000" pitchFamily="2" charset="0"/>
              <a:sym typeface="Poppins Bold"/>
            </a:endParaRPr>
          </a:p>
          <a:p>
            <a:pPr>
              <a:lnSpc>
                <a:spcPts val="4034"/>
              </a:lnSpc>
            </a:pPr>
            <a:r>
              <a:rPr lang="en-US" sz="2400" spc="-121" dirty="0">
                <a:solidFill>
                  <a:srgbClr val="FFFFFF"/>
                </a:solidFill>
                <a:latin typeface="Poppins" panose="00000500000000000000" pitchFamily="2" charset="0"/>
                <a:ea typeface="Poppins Bold"/>
                <a:cs typeface="Poppins" panose="00000500000000000000" pitchFamily="2" charset="0"/>
                <a:sym typeface="Poppins Bold"/>
              </a:rPr>
              <a:t>      Key Insight:</a:t>
            </a:r>
          </a:p>
          <a:p>
            <a:pPr marL="622216" lvl="1" indent="-311108">
              <a:lnSpc>
                <a:spcPts val="4034"/>
              </a:lnSpc>
              <a:buFont typeface="Arial"/>
              <a:buChar char="•"/>
            </a:pPr>
            <a:r>
              <a:rPr lang="en-US" sz="2400" spc="-121" dirty="0">
                <a:solidFill>
                  <a:srgbClr val="FFFFFF"/>
                </a:solidFill>
                <a:latin typeface="Poppins" panose="00000500000000000000" pitchFamily="2" charset="0"/>
                <a:ea typeface="Poppins Bold"/>
                <a:cs typeface="Poppins" panose="00000500000000000000" pitchFamily="2" charset="0"/>
                <a:sym typeface="Poppins Bold"/>
              </a:rPr>
              <a:t>The points form a clear upward trend, indicating a strong linear relationship.</a:t>
            </a:r>
          </a:p>
          <a:p>
            <a:pPr marL="622216" lvl="1" indent="-311108">
              <a:lnSpc>
                <a:spcPts val="4034"/>
              </a:lnSpc>
              <a:buFont typeface="Arial"/>
              <a:buChar char="•"/>
            </a:pPr>
            <a:r>
              <a:rPr lang="en-US" sz="2400" spc="-121" dirty="0">
                <a:solidFill>
                  <a:srgbClr val="FFFFFF"/>
                </a:solidFill>
                <a:latin typeface="Poppins" panose="00000500000000000000" pitchFamily="2" charset="0"/>
                <a:ea typeface="Poppins Bold"/>
                <a:cs typeface="Poppins" panose="00000500000000000000" pitchFamily="2" charset="0"/>
                <a:sym typeface="Poppins Bold"/>
              </a:rPr>
              <a:t>This suggests that wines with higher total phenolic content generally contain more </a:t>
            </a:r>
            <a:r>
              <a:rPr lang="en-US" sz="2400" spc="-121" dirty="0" err="1">
                <a:solidFill>
                  <a:srgbClr val="FFFFFF"/>
                </a:solidFill>
                <a:latin typeface="Poppins" panose="00000500000000000000" pitchFamily="2" charset="0"/>
                <a:ea typeface="Poppins Bold"/>
                <a:cs typeface="Poppins" panose="00000500000000000000" pitchFamily="2" charset="0"/>
                <a:sym typeface="Poppins Bold"/>
              </a:rPr>
              <a:t>flavanoids</a:t>
            </a:r>
            <a:r>
              <a:rPr lang="en-US" sz="2400" spc="-121" dirty="0">
                <a:solidFill>
                  <a:srgbClr val="FFFFFF"/>
                </a:solidFill>
                <a:latin typeface="Poppins" panose="00000500000000000000" pitchFamily="2" charset="0"/>
                <a:ea typeface="Poppins Bold"/>
                <a:cs typeface="Poppins" panose="00000500000000000000" pitchFamily="2" charset="0"/>
                <a:sym typeface="Poppins Bold"/>
              </a:rPr>
              <a:t>, reinforcing the idea that </a:t>
            </a:r>
            <a:r>
              <a:rPr lang="en-US" sz="2400" spc="-121" dirty="0" err="1">
                <a:solidFill>
                  <a:srgbClr val="FFFFFF"/>
                </a:solidFill>
                <a:latin typeface="Poppins" panose="00000500000000000000" pitchFamily="2" charset="0"/>
                <a:ea typeface="Poppins Bold"/>
                <a:cs typeface="Poppins" panose="00000500000000000000" pitchFamily="2" charset="0"/>
                <a:sym typeface="Poppins Bold"/>
              </a:rPr>
              <a:t>flavanoids</a:t>
            </a:r>
            <a:r>
              <a:rPr lang="en-US" sz="2400" spc="-121" dirty="0">
                <a:solidFill>
                  <a:srgbClr val="FFFFFF"/>
                </a:solidFill>
                <a:latin typeface="Poppins" panose="00000500000000000000" pitchFamily="2" charset="0"/>
                <a:ea typeface="Poppins Bold"/>
                <a:cs typeface="Poppins" panose="00000500000000000000" pitchFamily="2" charset="0"/>
                <a:sym typeface="Poppins Bold"/>
              </a:rPr>
              <a:t> are a major component of total phenols.</a:t>
            </a:r>
          </a:p>
          <a:p>
            <a:pPr>
              <a:lnSpc>
                <a:spcPts val="4034"/>
              </a:lnSpc>
            </a:pPr>
            <a:r>
              <a:rPr lang="en-US" sz="2400" spc="-121" dirty="0">
                <a:solidFill>
                  <a:srgbClr val="FFFFFF"/>
                </a:solidFill>
                <a:latin typeface="Poppins" panose="00000500000000000000" pitchFamily="2" charset="0"/>
                <a:ea typeface="Poppins Bold"/>
                <a:cs typeface="Poppins" panose="00000500000000000000" pitchFamily="2" charset="0"/>
                <a:sym typeface="Poppins Bold"/>
              </a:rPr>
              <a:t> </a:t>
            </a:r>
          </a:p>
          <a:p>
            <a:pPr algn="l">
              <a:lnSpc>
                <a:spcPts val="4034"/>
              </a:lnSpc>
            </a:pPr>
            <a:endParaRPr lang="en-US" sz="2581" spc="-108" dirty="0">
              <a:solidFill>
                <a:srgbClr val="F4F4F4"/>
              </a:solidFill>
              <a:latin typeface="Poppins"/>
              <a:ea typeface="Poppins"/>
              <a:cs typeface="Poppins"/>
              <a:sym typeface="Poppins"/>
            </a:endParaRPr>
          </a:p>
        </p:txBody>
      </p:sp>
      <p:sp>
        <p:nvSpPr>
          <p:cNvPr id="2" name="Freeform 3"/>
          <p:cNvSpPr/>
          <p:nvPr/>
        </p:nvSpPr>
        <p:spPr>
          <a:xfrm>
            <a:off x="8534400" y="2324100"/>
            <a:ext cx="9329498" cy="7376534"/>
          </a:xfrm>
          <a:custGeom>
            <a:avLst/>
            <a:gdLst/>
            <a:ahLst/>
            <a:cxnLst/>
            <a:rect l="l" t="t" r="r" b="b"/>
            <a:pathLst>
              <a:path w="9329498" h="7376534">
                <a:moveTo>
                  <a:pt x="0" y="0"/>
                </a:moveTo>
                <a:lnTo>
                  <a:pt x="9329497" y="0"/>
                </a:lnTo>
                <a:lnTo>
                  <a:pt x="9329497" y="7376534"/>
                </a:lnTo>
                <a:lnTo>
                  <a:pt x="0" y="7376534"/>
                </a:lnTo>
                <a:lnTo>
                  <a:pt x="0" y="0"/>
                </a:lnTo>
                <a:close/>
              </a:path>
            </a:pathLst>
          </a:custGeom>
          <a:blipFill>
            <a:blip r:embed="rId2"/>
            <a:stretch>
              <a:fillRect l="-1530" r="-2445" b="-1499"/>
            </a:stretch>
          </a:blipFill>
        </p:spPr>
      </p:sp>
    </p:spTree>
    <p:extLst>
      <p:ext uri="{BB962C8B-B14F-4D97-AF65-F5344CB8AC3E}">
        <p14:creationId xmlns:p14="http://schemas.microsoft.com/office/powerpoint/2010/main" val="330536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9BDC001D-8542-7FFD-4877-FBB78CF83FF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E46B330-06D9-400B-EF92-88467A0BB959}"/>
              </a:ext>
            </a:extLst>
          </p:cNvPr>
          <p:cNvSpPr txBox="1"/>
          <p:nvPr/>
        </p:nvSpPr>
        <p:spPr>
          <a:xfrm>
            <a:off x="4457700" y="0"/>
            <a:ext cx="8153400" cy="928459"/>
          </a:xfrm>
          <a:prstGeom prst="rect">
            <a:avLst/>
          </a:prstGeom>
          <a:noFill/>
        </p:spPr>
        <p:txBody>
          <a:bodyPr wrap="square">
            <a:spAutoFit/>
          </a:bodyPr>
          <a:lstStyle/>
          <a:p>
            <a:pPr>
              <a:lnSpc>
                <a:spcPts val="7172"/>
              </a:lnSpc>
            </a:pPr>
            <a:r>
              <a:rPr lang="en-US" sz="4000" b="1" spc="-317" dirty="0">
                <a:solidFill>
                  <a:srgbClr val="F4F4F4"/>
                </a:solidFill>
                <a:latin typeface="Poppins Medium"/>
                <a:ea typeface="Poppins Medium"/>
                <a:cs typeface="Poppins Medium"/>
                <a:sym typeface="Poppins Medium"/>
              </a:rPr>
              <a:t>Malic   Acid   vs.   Hue    Relationship</a:t>
            </a:r>
          </a:p>
        </p:txBody>
      </p:sp>
      <p:sp>
        <p:nvSpPr>
          <p:cNvPr id="9" name="TextBox 8">
            <a:extLst>
              <a:ext uri="{FF2B5EF4-FFF2-40B4-BE49-F238E27FC236}">
                <a16:creationId xmlns:a16="http://schemas.microsoft.com/office/drawing/2014/main" id="{A5F949C4-6274-F121-DF11-4B2C78D0902E}"/>
              </a:ext>
            </a:extLst>
          </p:cNvPr>
          <p:cNvSpPr txBox="1"/>
          <p:nvPr/>
        </p:nvSpPr>
        <p:spPr>
          <a:xfrm>
            <a:off x="0" y="1790700"/>
            <a:ext cx="8153400" cy="9456820"/>
          </a:xfrm>
          <a:prstGeom prst="rect">
            <a:avLst/>
          </a:prstGeom>
          <a:noFill/>
        </p:spPr>
        <p:txBody>
          <a:bodyPr wrap="square">
            <a:spAutoFit/>
          </a:bodyPr>
          <a:lstStyle/>
          <a:p>
            <a:pPr>
              <a:lnSpc>
                <a:spcPts val="3754"/>
              </a:lnSpc>
            </a:pPr>
            <a:r>
              <a:rPr lang="en-US" sz="2400" spc="-112" dirty="0">
                <a:solidFill>
                  <a:srgbClr val="FFFFFF"/>
                </a:solidFill>
                <a:latin typeface="Poppins" panose="00000500000000000000" pitchFamily="2" charset="0"/>
                <a:ea typeface="Poppins Bold"/>
                <a:cs typeface="Poppins" panose="00000500000000000000" pitchFamily="2" charset="0"/>
                <a:sym typeface="Poppins Bold"/>
              </a:rPr>
              <a:t>From the previous correlation heatmap, we identified that </a:t>
            </a:r>
            <a:r>
              <a:rPr lang="en-US" sz="2400" spc="-112" dirty="0" err="1">
                <a:solidFill>
                  <a:srgbClr val="FFFFFF"/>
                </a:solidFill>
                <a:latin typeface="Poppins" panose="00000500000000000000" pitchFamily="2" charset="0"/>
                <a:ea typeface="Poppins Bold"/>
                <a:cs typeface="Poppins" panose="00000500000000000000" pitchFamily="2" charset="0"/>
                <a:sym typeface="Poppins Bold"/>
              </a:rPr>
              <a:t>malic_acid</a:t>
            </a:r>
            <a:r>
              <a:rPr lang="en-US" sz="2400" spc="-112" dirty="0">
                <a:solidFill>
                  <a:srgbClr val="FFFFFF"/>
                </a:solidFill>
                <a:latin typeface="Poppins" panose="00000500000000000000" pitchFamily="2" charset="0"/>
                <a:ea typeface="Poppins Bold"/>
                <a:cs typeface="Poppins" panose="00000500000000000000" pitchFamily="2" charset="0"/>
                <a:sym typeface="Poppins Bold"/>
              </a:rPr>
              <a:t> and hue had the strongest negative correlation (–0.56) among all feature pairs.</a:t>
            </a:r>
          </a:p>
          <a:p>
            <a:pPr>
              <a:lnSpc>
                <a:spcPts val="3754"/>
              </a:lnSpc>
            </a:pPr>
            <a:r>
              <a:rPr lang="en-US" sz="2400" spc="-112" dirty="0">
                <a:solidFill>
                  <a:srgbClr val="FFFFFF"/>
                </a:solidFill>
                <a:latin typeface="Poppins" panose="00000500000000000000" pitchFamily="2" charset="0"/>
                <a:ea typeface="Poppins Bold"/>
                <a:cs typeface="Poppins" panose="00000500000000000000" pitchFamily="2" charset="0"/>
                <a:sym typeface="Poppins Bold"/>
              </a:rPr>
              <a:t>While this scatter plot does not show a clear linear downward trend, we can still observe a slight negative pattern, suggesting that as malic acid increases, the hue tends to decrease.</a:t>
            </a:r>
          </a:p>
          <a:p>
            <a:pPr>
              <a:lnSpc>
                <a:spcPts val="4454"/>
              </a:lnSpc>
            </a:pPr>
            <a:r>
              <a:rPr lang="en-US" sz="2400" spc="-133" dirty="0">
                <a:solidFill>
                  <a:srgbClr val="FFFFFF"/>
                </a:solidFill>
                <a:latin typeface="Poppins" panose="00000500000000000000" pitchFamily="2" charset="0"/>
                <a:ea typeface="Poppins"/>
                <a:cs typeface="Poppins" panose="00000500000000000000" pitchFamily="2" charset="0"/>
                <a:sym typeface="Poppins"/>
              </a:rPr>
              <a:t>    </a:t>
            </a:r>
            <a:r>
              <a:rPr lang="en-US" sz="2400" spc="-133" dirty="0">
                <a:solidFill>
                  <a:srgbClr val="FFFFFF"/>
                </a:solidFill>
                <a:latin typeface="Poppins" panose="00000500000000000000" pitchFamily="2" charset="0"/>
                <a:ea typeface="Poppins Bold"/>
                <a:cs typeface="Poppins" panose="00000500000000000000" pitchFamily="2" charset="0"/>
                <a:sym typeface="Poppins Bold"/>
              </a:rPr>
              <a:t>Key Insight:</a:t>
            </a:r>
          </a:p>
          <a:p>
            <a:pPr marL="579037" lvl="1" indent="-289519">
              <a:lnSpc>
                <a:spcPts val="3754"/>
              </a:lnSpc>
              <a:buFont typeface="Arial"/>
              <a:buChar char="•"/>
            </a:pPr>
            <a:r>
              <a:rPr lang="en-US" sz="2400" spc="-112" dirty="0">
                <a:solidFill>
                  <a:srgbClr val="FFFFFF"/>
                </a:solidFill>
                <a:latin typeface="Poppins" panose="00000500000000000000" pitchFamily="2" charset="0"/>
                <a:ea typeface="Poppins Bold"/>
                <a:cs typeface="Poppins" panose="00000500000000000000" pitchFamily="2" charset="0"/>
                <a:sym typeface="Poppins Bold"/>
              </a:rPr>
              <a:t>The slight downward spread reflects that features like acidity (malic acid) may influence visual properties of wine such as color tint (hue).</a:t>
            </a:r>
          </a:p>
          <a:p>
            <a:pPr marL="579037" lvl="1" indent="-289519">
              <a:lnSpc>
                <a:spcPts val="3754"/>
              </a:lnSpc>
              <a:buFont typeface="Arial"/>
              <a:buChar char="•"/>
            </a:pPr>
            <a:r>
              <a:rPr lang="en-US" sz="2400" spc="-112" dirty="0">
                <a:solidFill>
                  <a:srgbClr val="FFFFFF"/>
                </a:solidFill>
                <a:latin typeface="Poppins" panose="00000500000000000000" pitchFamily="2" charset="0"/>
                <a:ea typeface="Poppins Bold"/>
                <a:cs typeface="Poppins" panose="00000500000000000000" pitchFamily="2" charset="0"/>
                <a:sym typeface="Poppins Bold"/>
              </a:rPr>
              <a:t>This relationship, though not perfectly linear, supports the idea that wine composition affects appearance, and can be considered in modeling or quality analysis.</a:t>
            </a:r>
          </a:p>
          <a:p>
            <a:pPr>
              <a:lnSpc>
                <a:spcPts val="3754"/>
              </a:lnSpc>
            </a:pPr>
            <a:r>
              <a:rPr lang="en-US" sz="2400" spc="-112" dirty="0">
                <a:solidFill>
                  <a:srgbClr val="FFFFFF"/>
                </a:solidFill>
                <a:latin typeface="Poppins" panose="00000500000000000000" pitchFamily="2" charset="0"/>
                <a:ea typeface="Poppins Bold"/>
                <a:cs typeface="Poppins" panose="00000500000000000000" pitchFamily="2" charset="0"/>
                <a:sym typeface="Poppins Bold"/>
              </a:rPr>
              <a:t>It highlights subtle but meaningful chemical relationships useful for classification or prediction tasks.</a:t>
            </a:r>
          </a:p>
          <a:p>
            <a:pPr>
              <a:lnSpc>
                <a:spcPts val="4034"/>
              </a:lnSpc>
            </a:pPr>
            <a:r>
              <a:rPr lang="en-US" sz="2400" spc="-121" dirty="0">
                <a:solidFill>
                  <a:srgbClr val="FFFFFF"/>
                </a:solidFill>
                <a:latin typeface="Poppins" panose="00000500000000000000" pitchFamily="2" charset="0"/>
                <a:ea typeface="Poppins Bold"/>
                <a:cs typeface="Poppins" panose="00000500000000000000" pitchFamily="2" charset="0"/>
                <a:sym typeface="Poppins Bold"/>
              </a:rPr>
              <a:t> </a:t>
            </a:r>
          </a:p>
          <a:p>
            <a:pPr algn="l">
              <a:lnSpc>
                <a:spcPts val="4034"/>
              </a:lnSpc>
            </a:pPr>
            <a:endParaRPr lang="en-US" sz="2581" spc="-108" dirty="0">
              <a:solidFill>
                <a:srgbClr val="F4F4F4"/>
              </a:solidFill>
              <a:latin typeface="Poppins"/>
              <a:ea typeface="Poppins"/>
              <a:cs typeface="Poppins"/>
              <a:sym typeface="Poppins"/>
            </a:endParaRPr>
          </a:p>
        </p:txBody>
      </p:sp>
      <p:sp>
        <p:nvSpPr>
          <p:cNvPr id="3" name="Freeform 2"/>
          <p:cNvSpPr/>
          <p:nvPr/>
        </p:nvSpPr>
        <p:spPr>
          <a:xfrm>
            <a:off x="9296400" y="2247900"/>
            <a:ext cx="8590159" cy="6560033"/>
          </a:xfrm>
          <a:custGeom>
            <a:avLst/>
            <a:gdLst/>
            <a:ahLst/>
            <a:cxnLst/>
            <a:rect l="l" t="t" r="r" b="b"/>
            <a:pathLst>
              <a:path w="8590159" h="6560033">
                <a:moveTo>
                  <a:pt x="0" y="0"/>
                </a:moveTo>
                <a:lnTo>
                  <a:pt x="8590159" y="0"/>
                </a:lnTo>
                <a:lnTo>
                  <a:pt x="8590159" y="6560033"/>
                </a:lnTo>
                <a:lnTo>
                  <a:pt x="0" y="6560033"/>
                </a:lnTo>
                <a:lnTo>
                  <a:pt x="0" y="0"/>
                </a:lnTo>
                <a:close/>
              </a:path>
            </a:pathLst>
          </a:custGeom>
          <a:blipFill>
            <a:blip r:embed="rId2"/>
            <a:stretch>
              <a:fillRect l="-631" b="-631"/>
            </a:stretch>
          </a:blipFill>
        </p:spPr>
      </p:sp>
    </p:spTree>
    <p:extLst>
      <p:ext uri="{BB962C8B-B14F-4D97-AF65-F5344CB8AC3E}">
        <p14:creationId xmlns:p14="http://schemas.microsoft.com/office/powerpoint/2010/main" val="1129172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a:extLst>
            <a:ext uri="{FF2B5EF4-FFF2-40B4-BE49-F238E27FC236}">
              <a16:creationId xmlns:a16="http://schemas.microsoft.com/office/drawing/2014/main" id="{C9E5433B-357C-BC33-0525-21DA06A47DB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69D1863-2A54-AD20-EC21-7B7987274888}"/>
              </a:ext>
            </a:extLst>
          </p:cNvPr>
          <p:cNvSpPr txBox="1"/>
          <p:nvPr/>
        </p:nvSpPr>
        <p:spPr>
          <a:xfrm>
            <a:off x="4457700" y="0"/>
            <a:ext cx="8153400" cy="928459"/>
          </a:xfrm>
          <a:prstGeom prst="rect">
            <a:avLst/>
          </a:prstGeom>
          <a:noFill/>
        </p:spPr>
        <p:txBody>
          <a:bodyPr wrap="square">
            <a:spAutoFit/>
          </a:bodyPr>
          <a:lstStyle/>
          <a:p>
            <a:pPr>
              <a:lnSpc>
                <a:spcPts val="7172"/>
              </a:lnSpc>
            </a:pPr>
            <a:r>
              <a:rPr lang="en-US" sz="4000" b="1" spc="-317" dirty="0">
                <a:solidFill>
                  <a:srgbClr val="F4F4F4"/>
                </a:solidFill>
                <a:latin typeface="Poppins Medium"/>
                <a:ea typeface="Poppins Medium"/>
                <a:cs typeface="Poppins Medium"/>
                <a:sym typeface="Poppins Medium"/>
              </a:rPr>
              <a:t>Malic   Acid   vs.   Hue    Relationship</a:t>
            </a:r>
          </a:p>
        </p:txBody>
      </p:sp>
      <p:sp>
        <p:nvSpPr>
          <p:cNvPr id="9" name="TextBox 8">
            <a:extLst>
              <a:ext uri="{FF2B5EF4-FFF2-40B4-BE49-F238E27FC236}">
                <a16:creationId xmlns:a16="http://schemas.microsoft.com/office/drawing/2014/main" id="{A3304B8A-5737-B9CF-01BE-AF4CF9AFB836}"/>
              </a:ext>
            </a:extLst>
          </p:cNvPr>
          <p:cNvSpPr txBox="1"/>
          <p:nvPr/>
        </p:nvSpPr>
        <p:spPr>
          <a:xfrm>
            <a:off x="-47625" y="2705100"/>
            <a:ext cx="7696200" cy="7366376"/>
          </a:xfrm>
          <a:prstGeom prst="rect">
            <a:avLst/>
          </a:prstGeom>
          <a:noFill/>
        </p:spPr>
        <p:txBody>
          <a:bodyPr wrap="square">
            <a:spAutoFit/>
          </a:bodyPr>
          <a:lstStyle/>
          <a:p>
            <a:pPr>
              <a:lnSpc>
                <a:spcPts val="3783"/>
              </a:lnSpc>
            </a:pPr>
            <a:r>
              <a:rPr lang="en-US" sz="2400" spc="-113" dirty="0">
                <a:solidFill>
                  <a:srgbClr val="FFFFFF"/>
                </a:solidFill>
                <a:latin typeface="Poppins" panose="00000500000000000000" pitchFamily="2" charset="0"/>
                <a:ea typeface="Poppins"/>
                <a:cs typeface="Poppins" panose="00000500000000000000" pitchFamily="2" charset="0"/>
                <a:sym typeface="Poppins"/>
              </a:rPr>
              <a:t>Several ingredients clearly help differentiate the three wine cultivars:</a:t>
            </a:r>
          </a:p>
          <a:p>
            <a:pPr marL="583472" lvl="1" indent="-291736">
              <a:lnSpc>
                <a:spcPts val="3783"/>
              </a:lnSpc>
              <a:buFont typeface="Arial"/>
              <a:buChar char="•"/>
            </a:pPr>
            <a:r>
              <a:rPr lang="en-US" sz="2400" spc="-113" dirty="0">
                <a:solidFill>
                  <a:srgbClr val="FFFFFF"/>
                </a:solidFill>
                <a:latin typeface="Poppins" panose="00000500000000000000" pitchFamily="2" charset="0"/>
                <a:ea typeface="Poppins"/>
                <a:cs typeface="Poppins" panose="00000500000000000000" pitchFamily="2" charset="0"/>
                <a:sym typeface="Poppins"/>
              </a:rPr>
              <a:t>Proline is the strongest indicator for Cultivar 0, with much higher values than the others.</a:t>
            </a:r>
          </a:p>
          <a:p>
            <a:pPr marL="583472" lvl="1" indent="-291736">
              <a:lnSpc>
                <a:spcPts val="3783"/>
              </a:lnSpc>
              <a:buFont typeface="Arial"/>
              <a:buChar char="•"/>
            </a:pPr>
            <a:r>
              <a:rPr lang="en-US" sz="2400" spc="-113" dirty="0">
                <a:solidFill>
                  <a:srgbClr val="FFFFFF"/>
                </a:solidFill>
                <a:latin typeface="Poppins" panose="00000500000000000000" pitchFamily="2" charset="0"/>
                <a:ea typeface="Poppins"/>
                <a:cs typeface="Poppins" panose="00000500000000000000" pitchFamily="2" charset="0"/>
                <a:sym typeface="Poppins"/>
              </a:rPr>
              <a:t>Color Intensity stands out for Cultivar 2, showing the highest median and range.</a:t>
            </a:r>
          </a:p>
          <a:p>
            <a:pPr marL="583472" lvl="1" indent="-291736">
              <a:lnSpc>
                <a:spcPts val="3783"/>
              </a:lnSpc>
              <a:buFont typeface="Arial"/>
              <a:buChar char="•"/>
            </a:pPr>
            <a:r>
              <a:rPr lang="en-US" sz="2400" spc="-113" dirty="0">
                <a:solidFill>
                  <a:srgbClr val="FFFFFF"/>
                </a:solidFill>
                <a:latin typeface="Poppins" panose="00000500000000000000" pitchFamily="2" charset="0"/>
                <a:ea typeface="Poppins"/>
                <a:cs typeface="Poppins" panose="00000500000000000000" pitchFamily="2" charset="0"/>
                <a:sym typeface="Poppins"/>
              </a:rPr>
              <a:t>Alcohol helps distinguish Cultivar 1, which has the lowest average.</a:t>
            </a:r>
          </a:p>
          <a:p>
            <a:pPr marL="583472" lvl="1" indent="-291736">
              <a:lnSpc>
                <a:spcPts val="3783"/>
              </a:lnSpc>
              <a:buFont typeface="Arial"/>
              <a:buChar char="•"/>
            </a:pPr>
            <a:r>
              <a:rPr lang="en-US" sz="2400" spc="-113" dirty="0">
                <a:solidFill>
                  <a:srgbClr val="FFFFFF"/>
                </a:solidFill>
                <a:latin typeface="Poppins" panose="00000500000000000000" pitchFamily="2" charset="0"/>
                <a:ea typeface="Poppins"/>
                <a:cs typeface="Poppins" panose="00000500000000000000" pitchFamily="2" charset="0"/>
                <a:sym typeface="Poppins"/>
              </a:rPr>
              <a:t>OD280/OD315 and Hue are useful in identifying Cultivar 2, both showing distinct value patterns.</a:t>
            </a:r>
          </a:p>
          <a:p>
            <a:pPr marL="583472" lvl="1" indent="-291736">
              <a:lnSpc>
                <a:spcPts val="3783"/>
              </a:lnSpc>
              <a:buFont typeface="Arial"/>
              <a:buChar char="•"/>
            </a:pPr>
            <a:r>
              <a:rPr lang="en-US" sz="2400" spc="-113" dirty="0" err="1">
                <a:solidFill>
                  <a:srgbClr val="FFFFFF"/>
                </a:solidFill>
                <a:latin typeface="Poppins" panose="00000500000000000000" pitchFamily="2" charset="0"/>
                <a:ea typeface="Poppins"/>
                <a:cs typeface="Poppins" panose="00000500000000000000" pitchFamily="2" charset="0"/>
                <a:sym typeface="Poppins"/>
              </a:rPr>
              <a:t>Flavanoids</a:t>
            </a:r>
            <a:r>
              <a:rPr lang="en-US" sz="2400" spc="-113" dirty="0">
                <a:solidFill>
                  <a:srgbClr val="FFFFFF"/>
                </a:solidFill>
                <a:latin typeface="Poppins" panose="00000500000000000000" pitchFamily="2" charset="0"/>
                <a:ea typeface="Poppins"/>
                <a:cs typeface="Poppins" panose="00000500000000000000" pitchFamily="2" charset="0"/>
                <a:sym typeface="Poppins"/>
              </a:rPr>
              <a:t> and Total Phenols effectively separate Cultivar 0 from Cultivar 2.</a:t>
            </a:r>
          </a:p>
          <a:p>
            <a:pPr>
              <a:lnSpc>
                <a:spcPts val="3783"/>
              </a:lnSpc>
            </a:pPr>
            <a:r>
              <a:rPr lang="en-US" sz="2400" spc="-113" dirty="0">
                <a:solidFill>
                  <a:srgbClr val="FFFFFF"/>
                </a:solidFill>
                <a:latin typeface="Poppins" panose="00000500000000000000" pitchFamily="2" charset="0"/>
                <a:ea typeface="Poppins"/>
                <a:cs typeface="Poppins" panose="00000500000000000000" pitchFamily="2" charset="0"/>
                <a:sym typeface="Poppins"/>
              </a:rPr>
              <a:t>Less useful features include Ash, Magnesium, and </a:t>
            </a:r>
            <a:r>
              <a:rPr lang="en-US" sz="2400" spc="-113" dirty="0" err="1">
                <a:solidFill>
                  <a:srgbClr val="FFFFFF"/>
                </a:solidFill>
                <a:latin typeface="Poppins" panose="00000500000000000000" pitchFamily="2" charset="0"/>
                <a:ea typeface="Poppins"/>
                <a:cs typeface="Poppins" panose="00000500000000000000" pitchFamily="2" charset="0"/>
                <a:sym typeface="Poppins"/>
              </a:rPr>
              <a:t>Alcalinity</a:t>
            </a:r>
            <a:r>
              <a:rPr lang="en-US" sz="2400" spc="-113" dirty="0">
                <a:solidFill>
                  <a:srgbClr val="FFFFFF"/>
                </a:solidFill>
                <a:latin typeface="Poppins" panose="00000500000000000000" pitchFamily="2" charset="0"/>
                <a:ea typeface="Poppins"/>
                <a:cs typeface="Poppins" panose="00000500000000000000" pitchFamily="2" charset="0"/>
                <a:sym typeface="Poppins"/>
              </a:rPr>
              <a:t> of Ash, which show high overlap.</a:t>
            </a:r>
          </a:p>
          <a:p>
            <a:pPr>
              <a:lnSpc>
                <a:spcPts val="3754"/>
              </a:lnSpc>
            </a:pPr>
            <a:endParaRPr lang="en-US" sz="2400" spc="-121" dirty="0">
              <a:solidFill>
                <a:srgbClr val="FFFFFF"/>
              </a:solidFill>
              <a:latin typeface="Poppins" panose="00000500000000000000" pitchFamily="2" charset="0"/>
              <a:ea typeface="Poppins Bold"/>
              <a:cs typeface="Poppins" panose="00000500000000000000" pitchFamily="2" charset="0"/>
              <a:sym typeface="Poppins Bold"/>
            </a:endParaRPr>
          </a:p>
        </p:txBody>
      </p:sp>
      <p:sp>
        <p:nvSpPr>
          <p:cNvPr id="2" name="Freeform 2"/>
          <p:cNvSpPr/>
          <p:nvPr/>
        </p:nvSpPr>
        <p:spPr>
          <a:xfrm>
            <a:off x="7935271" y="2171700"/>
            <a:ext cx="10347966" cy="8018504"/>
          </a:xfrm>
          <a:custGeom>
            <a:avLst/>
            <a:gdLst/>
            <a:ahLst/>
            <a:cxnLst/>
            <a:rect l="l" t="t" r="r" b="b"/>
            <a:pathLst>
              <a:path w="10347966" h="8018504">
                <a:moveTo>
                  <a:pt x="0" y="0"/>
                </a:moveTo>
                <a:lnTo>
                  <a:pt x="10347966" y="0"/>
                </a:lnTo>
                <a:lnTo>
                  <a:pt x="10347966" y="8018504"/>
                </a:lnTo>
                <a:lnTo>
                  <a:pt x="0" y="8018504"/>
                </a:lnTo>
                <a:lnTo>
                  <a:pt x="0" y="0"/>
                </a:lnTo>
                <a:close/>
              </a:path>
            </a:pathLst>
          </a:custGeom>
          <a:blipFill>
            <a:blip r:embed="rId2"/>
            <a:stretch>
              <a:fillRect t="-1235" b="-2005"/>
            </a:stretch>
          </a:blipFill>
          <a:ln cap="sq">
            <a:noFill/>
            <a:prstDash val="solid"/>
            <a:miter/>
          </a:ln>
        </p:spPr>
      </p:sp>
    </p:spTree>
    <p:extLst>
      <p:ext uri="{BB962C8B-B14F-4D97-AF65-F5344CB8AC3E}">
        <p14:creationId xmlns:p14="http://schemas.microsoft.com/office/powerpoint/2010/main" val="3930182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0" y="1656334"/>
            <a:ext cx="18288000" cy="0"/>
          </a:xfrm>
          <a:prstGeom prst="line">
            <a:avLst/>
          </a:prstGeom>
          <a:ln w="9525" cap="rnd">
            <a:solidFill>
              <a:srgbClr val="F4F4F4"/>
            </a:solidFill>
            <a:prstDash val="solid"/>
            <a:headEnd type="none" w="sm" len="sm"/>
            <a:tailEnd type="none" w="sm" len="sm"/>
          </a:ln>
        </p:spPr>
      </p:sp>
      <p:sp>
        <p:nvSpPr>
          <p:cNvPr id="3" name="TextBox 3"/>
          <p:cNvSpPr txBox="1"/>
          <p:nvPr/>
        </p:nvSpPr>
        <p:spPr>
          <a:xfrm>
            <a:off x="3006238" y="320949"/>
            <a:ext cx="11783046" cy="692721"/>
          </a:xfrm>
          <a:prstGeom prst="rect">
            <a:avLst/>
          </a:prstGeom>
        </p:spPr>
        <p:txBody>
          <a:bodyPr lIns="0" tIns="0" rIns="0" bIns="0" rtlCol="0" anchor="t">
            <a:spAutoFit/>
          </a:bodyPr>
          <a:lstStyle/>
          <a:p>
            <a:pPr algn="ctr">
              <a:lnSpc>
                <a:spcPts val="4767"/>
              </a:lnSpc>
            </a:pPr>
            <a:r>
              <a:rPr lang="en-US" sz="5017" b="1" spc="-210">
                <a:solidFill>
                  <a:srgbClr val="F4F4F4"/>
                </a:solidFill>
                <a:latin typeface="Poppins Medium"/>
                <a:ea typeface="Poppins Medium"/>
                <a:cs typeface="Poppins Medium"/>
                <a:sym typeface="Poppins Medium"/>
              </a:rPr>
              <a:t>Exploratory Data Analysis</a:t>
            </a:r>
          </a:p>
        </p:txBody>
      </p:sp>
      <p:sp>
        <p:nvSpPr>
          <p:cNvPr id="4" name="TextBox 4"/>
          <p:cNvSpPr txBox="1"/>
          <p:nvPr/>
        </p:nvSpPr>
        <p:spPr>
          <a:xfrm>
            <a:off x="0" y="2209356"/>
            <a:ext cx="18288000" cy="2715895"/>
          </a:xfrm>
          <a:prstGeom prst="rect">
            <a:avLst/>
          </a:prstGeom>
        </p:spPr>
        <p:txBody>
          <a:bodyPr lIns="0" tIns="0" rIns="0" bIns="0" rtlCol="0" anchor="t">
            <a:spAutoFit/>
          </a:bodyPr>
          <a:lstStyle/>
          <a:p>
            <a:pPr marL="474976" lvl="1" indent="-237488" algn="just">
              <a:lnSpc>
                <a:spcPts val="3079"/>
              </a:lnSpc>
              <a:buFont typeface="Arial"/>
              <a:buChar char="•"/>
            </a:pPr>
            <a:r>
              <a:rPr lang="en-US" sz="2199">
                <a:solidFill>
                  <a:srgbClr val="F4F4F4"/>
                </a:solidFill>
                <a:latin typeface="Inter Extra-Light"/>
                <a:ea typeface="Inter Extra-Light"/>
                <a:cs typeface="Inter Extra-Light"/>
                <a:sym typeface="Inter Extra-Light"/>
              </a:rPr>
              <a:t>Wine Class 0 has the most samples, while Class 2 has the fewest.</a:t>
            </a:r>
          </a:p>
          <a:p>
            <a:pPr algn="just">
              <a:lnSpc>
                <a:spcPts val="3079"/>
              </a:lnSpc>
            </a:pPr>
            <a:endParaRPr lang="en-US" sz="2199">
              <a:solidFill>
                <a:srgbClr val="F4F4F4"/>
              </a:solidFill>
              <a:latin typeface="Inter Extra-Light"/>
              <a:ea typeface="Inter Extra-Light"/>
              <a:cs typeface="Inter Extra-Light"/>
              <a:sym typeface="Inter Extra-Light"/>
            </a:endParaRPr>
          </a:p>
          <a:p>
            <a:pPr marL="474976" lvl="1" indent="-237488" algn="just">
              <a:lnSpc>
                <a:spcPts val="3079"/>
              </a:lnSpc>
              <a:buFont typeface="Arial"/>
              <a:buChar char="•"/>
            </a:pPr>
            <a:r>
              <a:rPr lang="en-US" sz="2199">
                <a:solidFill>
                  <a:srgbClr val="F4F4F4"/>
                </a:solidFill>
                <a:latin typeface="Inter Extra-Light"/>
                <a:ea typeface="Inter Extra-Light"/>
                <a:cs typeface="Inter Extra-Light"/>
                <a:sym typeface="Inter Extra-Light"/>
              </a:rPr>
              <a:t>Class 0 wines tend to have higher values in features like Proline, Flavanoids, and Total Phenols.</a:t>
            </a:r>
          </a:p>
          <a:p>
            <a:pPr algn="just">
              <a:lnSpc>
                <a:spcPts val="3079"/>
              </a:lnSpc>
            </a:pPr>
            <a:endParaRPr lang="en-US" sz="2199">
              <a:solidFill>
                <a:srgbClr val="F4F4F4"/>
              </a:solidFill>
              <a:latin typeface="Inter Extra-Light"/>
              <a:ea typeface="Inter Extra-Light"/>
              <a:cs typeface="Inter Extra-Light"/>
              <a:sym typeface="Inter Extra-Light"/>
            </a:endParaRPr>
          </a:p>
          <a:p>
            <a:pPr marL="474976" lvl="1" indent="-237488" algn="just">
              <a:lnSpc>
                <a:spcPts val="3079"/>
              </a:lnSpc>
              <a:buFont typeface="Arial"/>
              <a:buChar char="•"/>
            </a:pPr>
            <a:r>
              <a:rPr lang="en-US" sz="2199">
                <a:solidFill>
                  <a:srgbClr val="F4F4F4"/>
                </a:solidFill>
                <a:latin typeface="Inter Extra-Light"/>
                <a:ea typeface="Inter Extra-Light"/>
                <a:cs typeface="Inter Extra-Light"/>
                <a:sym typeface="Inter Extra-Light"/>
              </a:rPr>
              <a:t>Class 1 shows the lowest Alcohol content, clearly separating it from the other two.</a:t>
            </a:r>
          </a:p>
          <a:p>
            <a:pPr algn="just">
              <a:lnSpc>
                <a:spcPts val="3079"/>
              </a:lnSpc>
            </a:pPr>
            <a:endParaRPr lang="en-US" sz="2199">
              <a:solidFill>
                <a:srgbClr val="F4F4F4"/>
              </a:solidFill>
              <a:latin typeface="Inter Extra-Light"/>
              <a:ea typeface="Inter Extra-Light"/>
              <a:cs typeface="Inter Extra-Light"/>
              <a:sym typeface="Inter Extra-Light"/>
            </a:endParaRPr>
          </a:p>
          <a:p>
            <a:pPr marL="474976" lvl="1" indent="-237488" algn="just">
              <a:lnSpc>
                <a:spcPts val="3079"/>
              </a:lnSpc>
              <a:buFont typeface="Arial"/>
              <a:buChar char="•"/>
            </a:pPr>
            <a:r>
              <a:rPr lang="en-US" sz="2199">
                <a:solidFill>
                  <a:srgbClr val="F4F4F4"/>
                </a:solidFill>
                <a:latin typeface="Inter Extra-Light"/>
                <a:ea typeface="Inter Extra-Light"/>
                <a:cs typeface="Inter Extra-Light"/>
                <a:sym typeface="Inter Extra-Light"/>
              </a:rPr>
              <a:t>Class 2 stands out with higher Color Intensity and a wider range of Malic Acid values.</a:t>
            </a:r>
          </a:p>
        </p:txBody>
      </p:sp>
      <p:sp>
        <p:nvSpPr>
          <p:cNvPr id="5" name="TextBox 5"/>
          <p:cNvSpPr txBox="1"/>
          <p:nvPr/>
        </p:nvSpPr>
        <p:spPr>
          <a:xfrm>
            <a:off x="3252477" y="1085850"/>
            <a:ext cx="11783046" cy="546672"/>
          </a:xfrm>
          <a:prstGeom prst="rect">
            <a:avLst/>
          </a:prstGeom>
        </p:spPr>
        <p:txBody>
          <a:bodyPr lIns="0" tIns="0" rIns="0" bIns="0" rtlCol="0" anchor="t">
            <a:spAutoFit/>
          </a:bodyPr>
          <a:lstStyle/>
          <a:p>
            <a:pPr algn="ctr">
              <a:lnSpc>
                <a:spcPts val="3817"/>
              </a:lnSpc>
            </a:pPr>
            <a:r>
              <a:rPr lang="en-US" sz="4018" b="1" spc="-168">
                <a:solidFill>
                  <a:srgbClr val="F4F4F4"/>
                </a:solidFill>
                <a:latin typeface="Poppins Medium"/>
                <a:ea typeface="Poppins Medium"/>
                <a:cs typeface="Poppins Medium"/>
                <a:sym typeface="Poppins Medium"/>
              </a:rPr>
              <a:t>Key findings: trends, outliers, correlation</a:t>
            </a:r>
          </a:p>
        </p:txBody>
      </p:sp>
      <p:sp>
        <p:nvSpPr>
          <p:cNvPr id="6" name="AutoShape 6"/>
          <p:cNvSpPr/>
          <p:nvPr/>
        </p:nvSpPr>
        <p:spPr>
          <a:xfrm flipV="1">
            <a:off x="0" y="5330906"/>
            <a:ext cx="18288000" cy="0"/>
          </a:xfrm>
          <a:prstGeom prst="line">
            <a:avLst/>
          </a:prstGeom>
          <a:ln w="9525" cap="rnd">
            <a:solidFill>
              <a:srgbClr val="F4F4F4"/>
            </a:solidFill>
            <a:prstDash val="solid"/>
            <a:headEnd type="none" w="sm" len="sm"/>
            <a:tailEnd type="none" w="sm" len="sm"/>
          </a:ln>
        </p:spPr>
      </p:sp>
      <p:sp>
        <p:nvSpPr>
          <p:cNvPr id="7" name="AutoShape 7"/>
          <p:cNvSpPr/>
          <p:nvPr/>
        </p:nvSpPr>
        <p:spPr>
          <a:xfrm flipV="1">
            <a:off x="0" y="7475032"/>
            <a:ext cx="18288000" cy="0"/>
          </a:xfrm>
          <a:prstGeom prst="line">
            <a:avLst/>
          </a:prstGeom>
          <a:ln w="9525" cap="rnd">
            <a:solidFill>
              <a:srgbClr val="F4F4F4"/>
            </a:solidFill>
            <a:prstDash val="solid"/>
            <a:headEnd type="none" w="sm" len="sm"/>
            <a:tailEnd type="none" w="sm" len="sm"/>
          </a:ln>
        </p:spPr>
      </p:sp>
      <p:sp>
        <p:nvSpPr>
          <p:cNvPr id="8" name="TextBox 8"/>
          <p:cNvSpPr txBox="1"/>
          <p:nvPr/>
        </p:nvSpPr>
        <p:spPr>
          <a:xfrm>
            <a:off x="727342" y="1694434"/>
            <a:ext cx="2029561" cy="432373"/>
          </a:xfrm>
          <a:prstGeom prst="rect">
            <a:avLst/>
          </a:prstGeom>
        </p:spPr>
        <p:txBody>
          <a:bodyPr lIns="0" tIns="0" rIns="0" bIns="0" rtlCol="0" anchor="t">
            <a:spAutoFit/>
          </a:bodyPr>
          <a:lstStyle/>
          <a:p>
            <a:pPr algn="ctr">
              <a:lnSpc>
                <a:spcPts val="2962"/>
              </a:lnSpc>
            </a:pPr>
            <a:r>
              <a:rPr lang="en-US" sz="3118" b="1" spc="-130">
                <a:solidFill>
                  <a:srgbClr val="F4F4F4"/>
                </a:solidFill>
                <a:latin typeface="Poppins Medium"/>
                <a:ea typeface="Poppins Medium"/>
                <a:cs typeface="Poppins Medium"/>
                <a:sym typeface="Poppins Medium"/>
              </a:rPr>
              <a:t>Trends :</a:t>
            </a:r>
          </a:p>
        </p:txBody>
      </p:sp>
      <p:sp>
        <p:nvSpPr>
          <p:cNvPr id="9" name="TextBox 9"/>
          <p:cNvSpPr txBox="1"/>
          <p:nvPr/>
        </p:nvSpPr>
        <p:spPr>
          <a:xfrm>
            <a:off x="727342" y="5353877"/>
            <a:ext cx="2029561" cy="432373"/>
          </a:xfrm>
          <a:prstGeom prst="rect">
            <a:avLst/>
          </a:prstGeom>
        </p:spPr>
        <p:txBody>
          <a:bodyPr lIns="0" tIns="0" rIns="0" bIns="0" rtlCol="0" anchor="t">
            <a:spAutoFit/>
          </a:bodyPr>
          <a:lstStyle/>
          <a:p>
            <a:pPr algn="ctr">
              <a:lnSpc>
                <a:spcPts val="2962"/>
              </a:lnSpc>
            </a:pPr>
            <a:r>
              <a:rPr lang="en-US" sz="3118" b="1" spc="-130">
                <a:solidFill>
                  <a:srgbClr val="F4F4F4"/>
                </a:solidFill>
                <a:latin typeface="Poppins Medium"/>
                <a:ea typeface="Poppins Medium"/>
                <a:cs typeface="Poppins Medium"/>
                <a:sym typeface="Poppins Medium"/>
              </a:rPr>
              <a:t>Outliers :</a:t>
            </a:r>
          </a:p>
        </p:txBody>
      </p:sp>
      <p:sp>
        <p:nvSpPr>
          <p:cNvPr id="10" name="TextBox 10"/>
          <p:cNvSpPr txBox="1"/>
          <p:nvPr/>
        </p:nvSpPr>
        <p:spPr>
          <a:xfrm>
            <a:off x="0" y="5897374"/>
            <a:ext cx="18066369" cy="1544320"/>
          </a:xfrm>
          <a:prstGeom prst="rect">
            <a:avLst/>
          </a:prstGeom>
        </p:spPr>
        <p:txBody>
          <a:bodyPr lIns="0" tIns="0" rIns="0" bIns="0" rtlCol="0" anchor="t">
            <a:spAutoFit/>
          </a:bodyPr>
          <a:lstStyle/>
          <a:p>
            <a:pPr marL="474976" lvl="1" indent="-237488" algn="just">
              <a:lnSpc>
                <a:spcPts val="3079"/>
              </a:lnSpc>
              <a:buFont typeface="Arial"/>
              <a:buChar char="•"/>
            </a:pPr>
            <a:r>
              <a:rPr lang="en-US" sz="2199">
                <a:solidFill>
                  <a:srgbClr val="F4F4F4"/>
                </a:solidFill>
                <a:latin typeface="Inter Extra-Light"/>
                <a:ea typeface="Inter Extra-Light"/>
                <a:cs typeface="Inter Extra-Light"/>
                <a:sym typeface="Inter Extra-Light"/>
              </a:rPr>
              <a:t>No significant outliers were detected; most values across features appeared to be within a close range.</a:t>
            </a:r>
          </a:p>
          <a:p>
            <a:pPr algn="just">
              <a:lnSpc>
                <a:spcPts val="3079"/>
              </a:lnSpc>
            </a:pPr>
            <a:endParaRPr lang="en-US" sz="2199">
              <a:solidFill>
                <a:srgbClr val="F4F4F4"/>
              </a:solidFill>
              <a:latin typeface="Inter Extra-Light"/>
              <a:ea typeface="Inter Extra-Light"/>
              <a:cs typeface="Inter Extra-Light"/>
              <a:sym typeface="Inter Extra-Light"/>
            </a:endParaRPr>
          </a:p>
          <a:p>
            <a:pPr marL="474976" lvl="1" indent="-237488" algn="just">
              <a:lnSpc>
                <a:spcPts val="3079"/>
              </a:lnSpc>
              <a:buFont typeface="Arial"/>
              <a:buChar char="•"/>
            </a:pPr>
            <a:r>
              <a:rPr lang="en-US" sz="2199">
                <a:solidFill>
                  <a:srgbClr val="F4F4F4"/>
                </a:solidFill>
                <a:latin typeface="Inter Extra-Light"/>
                <a:ea typeface="Inter Extra-Light"/>
                <a:cs typeface="Inter Extra-Light"/>
                <a:sym typeface="Inter Extra-Light"/>
              </a:rPr>
              <a:t>The dataset is fairly clean, with no extreme anomalies affecting the analysis or model performance.</a:t>
            </a:r>
          </a:p>
          <a:p>
            <a:pPr algn="just">
              <a:lnSpc>
                <a:spcPts val="3079"/>
              </a:lnSpc>
            </a:pPr>
            <a:endParaRPr lang="en-US" sz="2199">
              <a:solidFill>
                <a:srgbClr val="F4F4F4"/>
              </a:solidFill>
              <a:latin typeface="Inter Extra-Light"/>
              <a:ea typeface="Inter Extra-Light"/>
              <a:cs typeface="Inter Extra-Light"/>
              <a:sym typeface="Inter Extra-Light"/>
            </a:endParaRPr>
          </a:p>
        </p:txBody>
      </p:sp>
      <p:sp>
        <p:nvSpPr>
          <p:cNvPr id="11" name="TextBox 11"/>
          <p:cNvSpPr txBox="1"/>
          <p:nvPr/>
        </p:nvSpPr>
        <p:spPr>
          <a:xfrm>
            <a:off x="0" y="7924045"/>
            <a:ext cx="18288000" cy="2359610"/>
          </a:xfrm>
          <a:prstGeom prst="rect">
            <a:avLst/>
          </a:prstGeom>
        </p:spPr>
        <p:txBody>
          <a:bodyPr lIns="0" tIns="0" rIns="0" bIns="0" rtlCol="0" anchor="t">
            <a:spAutoFit/>
          </a:bodyPr>
          <a:lstStyle/>
          <a:p>
            <a:pPr marL="480802" lvl="1" indent="-240401" algn="just">
              <a:lnSpc>
                <a:spcPts val="3117"/>
              </a:lnSpc>
              <a:buFont typeface="Arial"/>
              <a:buChar char="•"/>
            </a:pPr>
            <a:r>
              <a:rPr lang="en-US" sz="2226">
                <a:solidFill>
                  <a:srgbClr val="F4F4F4"/>
                </a:solidFill>
                <a:latin typeface="Inter Extra-Light"/>
                <a:ea typeface="Inter Extra-Light"/>
                <a:cs typeface="Inter Extra-Light"/>
                <a:sym typeface="Inter Extra-Light"/>
              </a:rPr>
              <a:t>Most features showed low to moderate correlation, indicating they contribute independent information.</a:t>
            </a:r>
          </a:p>
          <a:p>
            <a:pPr algn="just">
              <a:lnSpc>
                <a:spcPts val="3117"/>
              </a:lnSpc>
            </a:pPr>
            <a:endParaRPr lang="en-US" sz="2226">
              <a:solidFill>
                <a:srgbClr val="F4F4F4"/>
              </a:solidFill>
              <a:latin typeface="Inter Extra-Light"/>
              <a:ea typeface="Inter Extra-Light"/>
              <a:cs typeface="Inter Extra-Light"/>
              <a:sym typeface="Inter Extra-Light"/>
            </a:endParaRPr>
          </a:p>
          <a:p>
            <a:pPr marL="480802" lvl="1" indent="-240401" algn="just">
              <a:lnSpc>
                <a:spcPts val="3117"/>
              </a:lnSpc>
              <a:buFont typeface="Arial"/>
              <a:buChar char="•"/>
            </a:pPr>
            <a:r>
              <a:rPr lang="en-US" sz="2226">
                <a:solidFill>
                  <a:srgbClr val="F4F4F4"/>
                </a:solidFill>
                <a:latin typeface="Inter Extra-Light"/>
                <a:ea typeface="Inter Extra-Light"/>
                <a:cs typeface="Inter Extra-Light"/>
                <a:sym typeface="Inter Extra-Light"/>
              </a:rPr>
              <a:t>Flavanoids and Total Phenols showed the strongest positive correlation (+0.86), suggesting wines with more phenols tend to have higher flavonoids.</a:t>
            </a:r>
          </a:p>
          <a:p>
            <a:pPr algn="just">
              <a:lnSpc>
                <a:spcPts val="3117"/>
              </a:lnSpc>
            </a:pPr>
            <a:endParaRPr lang="en-US" sz="2226">
              <a:solidFill>
                <a:srgbClr val="F4F4F4"/>
              </a:solidFill>
              <a:latin typeface="Inter Extra-Light"/>
              <a:ea typeface="Inter Extra-Light"/>
              <a:cs typeface="Inter Extra-Light"/>
              <a:sym typeface="Inter Extra-Light"/>
            </a:endParaRPr>
          </a:p>
          <a:p>
            <a:pPr marL="480802" lvl="1" indent="-240401" algn="just">
              <a:lnSpc>
                <a:spcPts val="3117"/>
              </a:lnSpc>
              <a:buFont typeface="Arial"/>
              <a:buChar char="•"/>
            </a:pPr>
            <a:r>
              <a:rPr lang="en-US" sz="2226">
                <a:solidFill>
                  <a:srgbClr val="F4F4F4"/>
                </a:solidFill>
                <a:latin typeface="Inter Extra-Light"/>
                <a:ea typeface="Inter Extra-Light"/>
                <a:cs typeface="Inter Extra-Light"/>
                <a:sym typeface="Inter Extra-Light"/>
              </a:rPr>
              <a:t>This strong correlation may indicate a shared chemical characteristic common in certain wine classes, especially Class 0.</a:t>
            </a:r>
          </a:p>
        </p:txBody>
      </p:sp>
      <p:sp>
        <p:nvSpPr>
          <p:cNvPr id="12" name="TextBox 12"/>
          <p:cNvSpPr txBox="1"/>
          <p:nvPr/>
        </p:nvSpPr>
        <p:spPr>
          <a:xfrm>
            <a:off x="727342" y="7479794"/>
            <a:ext cx="2525135" cy="432373"/>
          </a:xfrm>
          <a:prstGeom prst="rect">
            <a:avLst/>
          </a:prstGeom>
        </p:spPr>
        <p:txBody>
          <a:bodyPr lIns="0" tIns="0" rIns="0" bIns="0" rtlCol="0" anchor="t">
            <a:spAutoFit/>
          </a:bodyPr>
          <a:lstStyle/>
          <a:p>
            <a:pPr algn="ctr">
              <a:lnSpc>
                <a:spcPts val="2962"/>
              </a:lnSpc>
            </a:pPr>
            <a:r>
              <a:rPr lang="en-US" sz="3118" b="1" spc="-130">
                <a:solidFill>
                  <a:srgbClr val="F4F4F4"/>
                </a:solidFill>
                <a:latin typeface="Poppins Medium"/>
                <a:ea typeface="Poppins Medium"/>
                <a:cs typeface="Poppins Medium"/>
                <a:sym typeface="Poppins Medium"/>
              </a:rPr>
              <a:t>Correlation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3006238" y="311424"/>
            <a:ext cx="11783046" cy="546672"/>
          </a:xfrm>
          <a:prstGeom prst="rect">
            <a:avLst/>
          </a:prstGeom>
        </p:spPr>
        <p:txBody>
          <a:bodyPr lIns="0" tIns="0" rIns="0" bIns="0" rtlCol="0" anchor="t">
            <a:spAutoFit/>
          </a:bodyPr>
          <a:lstStyle/>
          <a:p>
            <a:pPr algn="ctr">
              <a:lnSpc>
                <a:spcPts val="3817"/>
              </a:lnSpc>
            </a:pPr>
            <a:r>
              <a:rPr lang="en-US" sz="4018" b="1" spc="-168">
                <a:solidFill>
                  <a:srgbClr val="F4F4F4"/>
                </a:solidFill>
                <a:latin typeface="Poppins Medium"/>
                <a:ea typeface="Poppins Medium"/>
                <a:cs typeface="Poppins Medium"/>
                <a:sym typeface="Poppins Medium"/>
              </a:rPr>
              <a:t>Exploratory Data Analysis</a:t>
            </a:r>
          </a:p>
        </p:txBody>
      </p:sp>
      <p:sp>
        <p:nvSpPr>
          <p:cNvPr id="3" name="TextBox 3"/>
          <p:cNvSpPr txBox="1"/>
          <p:nvPr/>
        </p:nvSpPr>
        <p:spPr>
          <a:xfrm>
            <a:off x="3252477" y="1085850"/>
            <a:ext cx="11783046" cy="978472"/>
          </a:xfrm>
          <a:prstGeom prst="rect">
            <a:avLst/>
          </a:prstGeom>
        </p:spPr>
        <p:txBody>
          <a:bodyPr lIns="0" tIns="0" rIns="0" bIns="0" rtlCol="0" anchor="t">
            <a:spAutoFit/>
          </a:bodyPr>
          <a:lstStyle/>
          <a:p>
            <a:pPr algn="ctr">
              <a:lnSpc>
                <a:spcPts val="3627"/>
              </a:lnSpc>
            </a:pPr>
            <a:r>
              <a:rPr lang="en-US" sz="3818" b="1" spc="-160">
                <a:solidFill>
                  <a:srgbClr val="F4F4F4"/>
                </a:solidFill>
                <a:latin typeface="Poppins Medium"/>
                <a:ea typeface="Poppins Medium"/>
                <a:cs typeface="Poppins Medium"/>
                <a:sym typeface="Poppins Medium"/>
              </a:rPr>
              <a:t>Data preprocessing steps: handling missing data, encoding, scaling</a:t>
            </a:r>
          </a:p>
        </p:txBody>
      </p:sp>
      <p:sp>
        <p:nvSpPr>
          <p:cNvPr id="4" name="TextBox 4"/>
          <p:cNvSpPr txBox="1"/>
          <p:nvPr/>
        </p:nvSpPr>
        <p:spPr>
          <a:xfrm>
            <a:off x="0" y="2707866"/>
            <a:ext cx="18288000" cy="6913863"/>
          </a:xfrm>
          <a:prstGeom prst="rect">
            <a:avLst/>
          </a:prstGeom>
        </p:spPr>
        <p:txBody>
          <a:bodyPr lIns="0" tIns="0" rIns="0" bIns="0" rtlCol="0" anchor="t">
            <a:spAutoFit/>
          </a:bodyPr>
          <a:lstStyle/>
          <a:p>
            <a:pPr algn="just">
              <a:lnSpc>
                <a:spcPts val="4270"/>
              </a:lnSpc>
            </a:pPr>
            <a:r>
              <a:rPr lang="en-US" sz="3050">
                <a:solidFill>
                  <a:srgbClr val="F4F4F4"/>
                </a:solidFill>
                <a:latin typeface="Inter Extra-Light"/>
                <a:ea typeface="Inter Extra-Light"/>
                <a:cs typeface="Inter Extra-Light"/>
                <a:sym typeface="Inter Extra-Light"/>
              </a:rPr>
              <a:t>    </a:t>
            </a:r>
            <a:r>
              <a:rPr lang="en-US" sz="3050" b="1">
                <a:solidFill>
                  <a:srgbClr val="F4F4F4"/>
                </a:solidFill>
                <a:latin typeface="Inter Bold"/>
                <a:ea typeface="Inter Bold"/>
                <a:cs typeface="Inter Bold"/>
                <a:sym typeface="Inter Bold"/>
              </a:rPr>
              <a:t>Missing Data:</a:t>
            </a:r>
          </a:p>
          <a:p>
            <a:pPr marL="658643" lvl="1" indent="-329321" algn="just">
              <a:lnSpc>
                <a:spcPts val="4270"/>
              </a:lnSpc>
              <a:buFont typeface="Arial"/>
              <a:buChar char="•"/>
            </a:pPr>
            <a:r>
              <a:rPr lang="en-US" sz="3050">
                <a:solidFill>
                  <a:srgbClr val="F4F4F4"/>
                </a:solidFill>
                <a:latin typeface="Inter Extra-Light"/>
                <a:ea typeface="Inter Extra-Light"/>
                <a:cs typeface="Inter Extra-Light"/>
                <a:sym typeface="Inter Extra-Light"/>
              </a:rPr>
              <a:t>The dataset contained no missing values, so no imputation or removal of data was necessary.</a:t>
            </a:r>
          </a:p>
          <a:p>
            <a:pPr algn="just">
              <a:lnSpc>
                <a:spcPts val="4270"/>
              </a:lnSpc>
            </a:pPr>
            <a:endParaRPr lang="en-US" sz="3050">
              <a:solidFill>
                <a:srgbClr val="F4F4F4"/>
              </a:solidFill>
              <a:latin typeface="Inter Extra-Light"/>
              <a:ea typeface="Inter Extra-Light"/>
              <a:cs typeface="Inter Extra-Light"/>
              <a:sym typeface="Inter Extra-Light"/>
            </a:endParaRPr>
          </a:p>
          <a:p>
            <a:pPr algn="just">
              <a:lnSpc>
                <a:spcPts val="4270"/>
              </a:lnSpc>
            </a:pPr>
            <a:r>
              <a:rPr lang="en-US" sz="3050">
                <a:solidFill>
                  <a:srgbClr val="F4F4F4"/>
                </a:solidFill>
                <a:latin typeface="Inter Extra-Light"/>
                <a:ea typeface="Inter Extra-Light"/>
                <a:cs typeface="Inter Extra-Light"/>
                <a:sym typeface="Inter Extra-Light"/>
              </a:rPr>
              <a:t>   </a:t>
            </a:r>
            <a:r>
              <a:rPr lang="en-US" sz="3050" b="1">
                <a:solidFill>
                  <a:srgbClr val="F4F4F4"/>
                </a:solidFill>
                <a:latin typeface="Inter Bold"/>
                <a:ea typeface="Inter Bold"/>
                <a:cs typeface="Inter Bold"/>
                <a:sym typeface="Inter Bold"/>
              </a:rPr>
              <a:t> Encoding:</a:t>
            </a:r>
          </a:p>
          <a:p>
            <a:pPr marL="658643" lvl="1" indent="-329321" algn="just">
              <a:lnSpc>
                <a:spcPts val="4270"/>
              </a:lnSpc>
              <a:buFont typeface="Arial"/>
              <a:buChar char="•"/>
            </a:pPr>
            <a:r>
              <a:rPr lang="en-US" sz="3050">
                <a:solidFill>
                  <a:srgbClr val="F4F4F4"/>
                </a:solidFill>
                <a:latin typeface="Inter Extra-Light"/>
                <a:ea typeface="Inter Extra-Light"/>
                <a:cs typeface="Inter Extra-Light"/>
                <a:sym typeface="Inter Extra-Light"/>
              </a:rPr>
              <a:t>Encoding was not required, as all features were already in numerical format suitable for machine learning models.</a:t>
            </a:r>
          </a:p>
          <a:p>
            <a:pPr algn="just">
              <a:lnSpc>
                <a:spcPts val="4270"/>
              </a:lnSpc>
            </a:pPr>
            <a:endParaRPr lang="en-US" sz="3050">
              <a:solidFill>
                <a:srgbClr val="F4F4F4"/>
              </a:solidFill>
              <a:latin typeface="Inter Extra-Light"/>
              <a:ea typeface="Inter Extra-Light"/>
              <a:cs typeface="Inter Extra-Light"/>
              <a:sym typeface="Inter Extra-Light"/>
            </a:endParaRPr>
          </a:p>
          <a:p>
            <a:pPr algn="just">
              <a:lnSpc>
                <a:spcPts val="4270"/>
              </a:lnSpc>
            </a:pPr>
            <a:r>
              <a:rPr lang="en-US" sz="3050">
                <a:solidFill>
                  <a:srgbClr val="F4F4F4"/>
                </a:solidFill>
                <a:latin typeface="Inter Extra-Light"/>
                <a:ea typeface="Inter Extra-Light"/>
                <a:cs typeface="Inter Extra-Light"/>
                <a:sym typeface="Inter Extra-Light"/>
              </a:rPr>
              <a:t>    </a:t>
            </a:r>
            <a:r>
              <a:rPr lang="en-US" sz="3050" b="1">
                <a:solidFill>
                  <a:srgbClr val="F4F4F4"/>
                </a:solidFill>
                <a:latin typeface="Inter Bold"/>
                <a:ea typeface="Inter Bold"/>
                <a:cs typeface="Inter Bold"/>
                <a:sym typeface="Inter Bold"/>
              </a:rPr>
              <a:t> Feature Scaling:</a:t>
            </a:r>
          </a:p>
          <a:p>
            <a:pPr marL="658643" lvl="1" indent="-329321" algn="just">
              <a:lnSpc>
                <a:spcPts val="4270"/>
              </a:lnSpc>
              <a:buFont typeface="Arial"/>
              <a:buChar char="•"/>
            </a:pPr>
            <a:r>
              <a:rPr lang="en-US" sz="3050">
                <a:solidFill>
                  <a:srgbClr val="F4F4F4"/>
                </a:solidFill>
                <a:latin typeface="Inter Extra-Light"/>
                <a:ea typeface="Inter Extra-Light"/>
                <a:cs typeface="Inter Extra-Light"/>
                <a:sym typeface="Inter Extra-Light"/>
              </a:rPr>
              <a:t>The data was scaled using StandardScaler, which standardises features by removing the mean and scaling to unit variance.</a:t>
            </a:r>
          </a:p>
          <a:p>
            <a:pPr marL="658643" lvl="1" indent="-329321" algn="just">
              <a:lnSpc>
                <a:spcPts val="4270"/>
              </a:lnSpc>
              <a:buFont typeface="Arial"/>
              <a:buChar char="•"/>
            </a:pPr>
            <a:r>
              <a:rPr lang="en-US" sz="3050">
                <a:solidFill>
                  <a:srgbClr val="F4F4F4"/>
                </a:solidFill>
                <a:latin typeface="Inter Extra-Light"/>
                <a:ea typeface="Inter Extra-Light"/>
                <a:cs typeface="Inter Extra-Light"/>
                <a:sym typeface="Inter Extra-Light"/>
              </a:rPr>
              <a:t>This step was essential to ensure that features like proline (large values) and flavanoids (smaller values) were on a comparable scale, especially important for distance-based models like KNN and SVM.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22150" y="9228218"/>
            <a:ext cx="18288000" cy="0"/>
          </a:xfrm>
          <a:prstGeom prst="line">
            <a:avLst/>
          </a:prstGeom>
          <a:ln w="9525" cap="rnd">
            <a:solidFill>
              <a:srgbClr val="F4F4F4"/>
            </a:solidFill>
            <a:prstDash val="solid"/>
            <a:headEnd type="none" w="sm" len="sm"/>
            <a:tailEnd type="none" w="sm" len="sm"/>
          </a:ln>
        </p:spPr>
      </p:sp>
      <p:sp>
        <p:nvSpPr>
          <p:cNvPr id="3" name="TextBox 3"/>
          <p:cNvSpPr txBox="1"/>
          <p:nvPr/>
        </p:nvSpPr>
        <p:spPr>
          <a:xfrm>
            <a:off x="1982873" y="492919"/>
            <a:ext cx="14322254" cy="1185862"/>
          </a:xfrm>
          <a:prstGeom prst="rect">
            <a:avLst/>
          </a:prstGeom>
        </p:spPr>
        <p:txBody>
          <a:bodyPr lIns="0" tIns="0" rIns="0" bIns="0" rtlCol="0" anchor="t">
            <a:spAutoFit/>
          </a:bodyPr>
          <a:lstStyle/>
          <a:p>
            <a:pPr algn="ctr">
              <a:lnSpc>
                <a:spcPts val="8122"/>
              </a:lnSpc>
            </a:pPr>
            <a:r>
              <a:rPr lang="en-US" sz="8550" b="1" spc="-359">
                <a:solidFill>
                  <a:srgbClr val="F4F4F4"/>
                </a:solidFill>
                <a:latin typeface="Poppins Medium"/>
                <a:ea typeface="Poppins Medium"/>
                <a:cs typeface="Poppins Medium"/>
                <a:sym typeface="Poppins Medium"/>
              </a:rPr>
              <a:t>Methodology</a:t>
            </a:r>
          </a:p>
        </p:txBody>
      </p:sp>
      <p:sp>
        <p:nvSpPr>
          <p:cNvPr id="4" name="TextBox 4"/>
          <p:cNvSpPr txBox="1"/>
          <p:nvPr/>
        </p:nvSpPr>
        <p:spPr>
          <a:xfrm>
            <a:off x="0" y="1766876"/>
            <a:ext cx="18265850" cy="8569285"/>
          </a:xfrm>
          <a:prstGeom prst="rect">
            <a:avLst/>
          </a:prstGeom>
        </p:spPr>
        <p:txBody>
          <a:bodyPr lIns="0" tIns="0" rIns="0" bIns="0" rtlCol="0" anchor="t">
            <a:spAutoFit/>
          </a:bodyPr>
          <a:lstStyle/>
          <a:p>
            <a:pPr algn="just">
              <a:lnSpc>
                <a:spcPts val="3922"/>
              </a:lnSpc>
            </a:pPr>
            <a:r>
              <a:rPr lang="en-US" sz="2801" b="1">
                <a:solidFill>
                  <a:srgbClr val="F4F4F4"/>
                </a:solidFill>
                <a:latin typeface="Inter Bold"/>
                <a:ea typeface="Inter Bold"/>
                <a:cs typeface="Inter Bold"/>
                <a:sym typeface="Inter Bold"/>
              </a:rPr>
              <a:t>Data Exploration &amp; Preprocessing</a:t>
            </a:r>
          </a:p>
          <a:p>
            <a:pPr marL="583270" lvl="1" indent="-291635" algn="just">
              <a:lnSpc>
                <a:spcPts val="3782"/>
              </a:lnSpc>
              <a:buFont typeface="Arial"/>
              <a:buChar char="•"/>
            </a:pPr>
            <a:r>
              <a:rPr lang="en-US" sz="2701">
                <a:solidFill>
                  <a:srgbClr val="F4F4F4"/>
                </a:solidFill>
                <a:latin typeface="Inter Extra-Light"/>
                <a:ea typeface="Inter Extra-Light"/>
                <a:cs typeface="Inter Extra-Light"/>
                <a:sym typeface="Inter Extra-Light"/>
              </a:rPr>
              <a:t>Dataset Used: sklearn.datasets.load_wine</a:t>
            </a:r>
          </a:p>
          <a:p>
            <a:pPr marL="1166540" lvl="2" indent="-388847" algn="just">
              <a:lnSpc>
                <a:spcPts val="3782"/>
              </a:lnSpc>
              <a:buFont typeface="Arial"/>
              <a:buChar char="⚬"/>
            </a:pPr>
            <a:r>
              <a:rPr lang="en-US" sz="2701">
                <a:solidFill>
                  <a:srgbClr val="F4F4F4"/>
                </a:solidFill>
                <a:latin typeface="Inter Extra-Light"/>
                <a:ea typeface="Inter Extra-Light"/>
                <a:cs typeface="Inter Extra-Light"/>
                <a:sym typeface="Inter Extra-Light"/>
              </a:rPr>
              <a:t>178 samples, 13 chemical features, and 3 target wine cultivars (0, 1, 2)</a:t>
            </a:r>
          </a:p>
          <a:p>
            <a:pPr marL="583270" lvl="1" indent="-291635" algn="just">
              <a:lnSpc>
                <a:spcPts val="3782"/>
              </a:lnSpc>
              <a:buFont typeface="Arial"/>
              <a:buChar char="•"/>
            </a:pPr>
            <a:r>
              <a:rPr lang="en-US" sz="2701">
                <a:solidFill>
                  <a:srgbClr val="F4F4F4"/>
                </a:solidFill>
                <a:latin typeface="Inter Extra-Light"/>
                <a:ea typeface="Inter Extra-Light"/>
                <a:cs typeface="Inter Extra-Light"/>
                <a:sym typeface="Inter Extra-Light"/>
              </a:rPr>
              <a:t>Missing Values: None detected</a:t>
            </a:r>
          </a:p>
          <a:p>
            <a:pPr marL="583270" lvl="1" indent="-291635" algn="just">
              <a:lnSpc>
                <a:spcPts val="3782"/>
              </a:lnSpc>
              <a:buFont typeface="Arial"/>
              <a:buChar char="•"/>
            </a:pPr>
            <a:r>
              <a:rPr lang="en-US" sz="2701">
                <a:solidFill>
                  <a:srgbClr val="F4F4F4"/>
                </a:solidFill>
                <a:latin typeface="Inter Extra-Light"/>
                <a:ea typeface="Inter Extra-Light"/>
                <a:cs typeface="Inter Extra-Light"/>
                <a:sym typeface="Inter Extra-Light"/>
              </a:rPr>
              <a:t>Encoding: Not required (all features were numerical)</a:t>
            </a:r>
          </a:p>
          <a:p>
            <a:pPr marL="583270" lvl="1" indent="-291635" algn="just">
              <a:lnSpc>
                <a:spcPts val="3782"/>
              </a:lnSpc>
              <a:buFont typeface="Arial"/>
              <a:buChar char="•"/>
            </a:pPr>
            <a:r>
              <a:rPr lang="en-US" sz="2701">
                <a:solidFill>
                  <a:srgbClr val="F4F4F4"/>
                </a:solidFill>
                <a:latin typeface="Inter Extra-Light"/>
                <a:ea typeface="Inter Extra-Light"/>
                <a:cs typeface="Inter Extra-Light"/>
                <a:sym typeface="Inter Extra-Light"/>
              </a:rPr>
              <a:t>Scaling: Applied StandardScaler to standardize feature values (mean = 0, variance = 1)</a:t>
            </a:r>
          </a:p>
          <a:p>
            <a:pPr algn="just">
              <a:lnSpc>
                <a:spcPts val="3782"/>
              </a:lnSpc>
            </a:pPr>
            <a:endParaRPr lang="en-US" sz="2701">
              <a:solidFill>
                <a:srgbClr val="F4F4F4"/>
              </a:solidFill>
              <a:latin typeface="Inter Extra-Light"/>
              <a:ea typeface="Inter Extra-Light"/>
              <a:cs typeface="Inter Extra-Light"/>
              <a:sym typeface="Inter Extra-Light"/>
            </a:endParaRPr>
          </a:p>
          <a:p>
            <a:pPr algn="just">
              <a:lnSpc>
                <a:spcPts val="3922"/>
              </a:lnSpc>
            </a:pPr>
            <a:r>
              <a:rPr lang="en-US" sz="2801" b="1">
                <a:solidFill>
                  <a:srgbClr val="F4F4F4"/>
                </a:solidFill>
                <a:latin typeface="Inter Bold"/>
                <a:ea typeface="Inter Bold"/>
                <a:cs typeface="Inter Bold"/>
                <a:sym typeface="Inter Bold"/>
              </a:rPr>
              <a:t>Feature Engineering &amp; Selection</a:t>
            </a:r>
          </a:p>
          <a:p>
            <a:pPr marL="583270" lvl="1" indent="-291635" algn="just">
              <a:lnSpc>
                <a:spcPts val="3782"/>
              </a:lnSpc>
              <a:buFont typeface="Arial"/>
              <a:buChar char="•"/>
            </a:pPr>
            <a:r>
              <a:rPr lang="en-US" sz="2701">
                <a:solidFill>
                  <a:srgbClr val="F4F4F4"/>
                </a:solidFill>
                <a:latin typeface="Inter Extra-Light"/>
                <a:ea typeface="Inter Extra-Light"/>
                <a:cs typeface="Inter Extra-Light"/>
                <a:sym typeface="Inter Extra-Light"/>
              </a:rPr>
              <a:t>Recursive Feature Elimination (RFE) was used with Logistic Regression and Random Forest to identify the most informative chemical features, supporting cost-saving and model optimization.</a:t>
            </a:r>
          </a:p>
          <a:p>
            <a:pPr marL="583270" lvl="1" indent="-291635" algn="just">
              <a:lnSpc>
                <a:spcPts val="3782"/>
              </a:lnSpc>
              <a:buFont typeface="Arial"/>
              <a:buChar char="•"/>
            </a:pPr>
            <a:r>
              <a:rPr lang="en-US" sz="2701">
                <a:solidFill>
                  <a:srgbClr val="F4F4F4"/>
                </a:solidFill>
                <a:latin typeface="Inter Extra-Light"/>
                <a:ea typeface="Inter Extra-Light"/>
                <a:cs typeface="Inter Extra-Light"/>
                <a:sym typeface="Inter Extra-Light"/>
              </a:rPr>
              <a:t>Key features selected: Flavanoids, Proline, OD280/OD315 ratio, Color Intensity, Alcohol</a:t>
            </a:r>
          </a:p>
          <a:p>
            <a:pPr algn="just">
              <a:lnSpc>
                <a:spcPts val="3502"/>
              </a:lnSpc>
            </a:pPr>
            <a:endParaRPr lang="en-US" sz="2701">
              <a:solidFill>
                <a:srgbClr val="F4F4F4"/>
              </a:solidFill>
              <a:latin typeface="Inter Extra-Light"/>
              <a:ea typeface="Inter Extra-Light"/>
              <a:cs typeface="Inter Extra-Light"/>
              <a:sym typeface="Inter Extra-Light"/>
            </a:endParaRPr>
          </a:p>
          <a:p>
            <a:pPr algn="just">
              <a:lnSpc>
                <a:spcPts val="3782"/>
              </a:lnSpc>
            </a:pPr>
            <a:r>
              <a:rPr lang="en-US" sz="2701" b="1">
                <a:solidFill>
                  <a:srgbClr val="F4F4F4"/>
                </a:solidFill>
                <a:latin typeface="Inter Bold"/>
                <a:ea typeface="Inter Bold"/>
                <a:cs typeface="Inter Bold"/>
                <a:sym typeface="Inter Bold"/>
              </a:rPr>
              <a:t> Train-Test Split &amp; Cross-Validation</a:t>
            </a:r>
          </a:p>
          <a:p>
            <a:pPr algn="just">
              <a:lnSpc>
                <a:spcPts val="3782"/>
              </a:lnSpc>
            </a:pPr>
            <a:endParaRPr lang="en-US" sz="2701" b="1">
              <a:solidFill>
                <a:srgbClr val="F4F4F4"/>
              </a:solidFill>
              <a:latin typeface="Inter Bold"/>
              <a:ea typeface="Inter Bold"/>
              <a:cs typeface="Inter Bold"/>
              <a:sym typeface="Inter Bold"/>
            </a:endParaRPr>
          </a:p>
          <a:p>
            <a:pPr marL="583270" lvl="1" indent="-291635" algn="just">
              <a:lnSpc>
                <a:spcPts val="3782"/>
              </a:lnSpc>
              <a:buFont typeface="Arial"/>
              <a:buChar char="•"/>
            </a:pPr>
            <a:r>
              <a:rPr lang="en-US" sz="2701">
                <a:solidFill>
                  <a:srgbClr val="F4F4F4"/>
                </a:solidFill>
                <a:latin typeface="Inter Extra-Light"/>
                <a:ea typeface="Inter Extra-Light"/>
                <a:cs typeface="Inter Extra-Light"/>
                <a:sym typeface="Inter Extra-Light"/>
              </a:rPr>
              <a:t>Data split into 80% training and 20% testing using stratified sampling to maintain class distribution.</a:t>
            </a:r>
          </a:p>
          <a:p>
            <a:pPr marL="583270" lvl="1" indent="-291635" algn="just">
              <a:lnSpc>
                <a:spcPts val="3782"/>
              </a:lnSpc>
              <a:spcBef>
                <a:spcPct val="0"/>
              </a:spcBef>
              <a:buFont typeface="Arial"/>
              <a:buChar char="•"/>
            </a:pPr>
            <a:r>
              <a:rPr lang="en-US" sz="2701">
                <a:solidFill>
                  <a:srgbClr val="F4F4F4"/>
                </a:solidFill>
                <a:latin typeface="Inter Extra-Light"/>
                <a:ea typeface="Inter Extra-Light"/>
                <a:cs typeface="Inter Extra-Light"/>
                <a:sym typeface="Inter Extra-Light"/>
              </a:rPr>
              <a:t>Applied K-Fold Cross-Validation (k=5) (for KNN)during training to ensure model generalizability and avoid overfitting.</a:t>
            </a:r>
          </a:p>
          <a:p>
            <a:pPr algn="just">
              <a:lnSpc>
                <a:spcPts val="3782"/>
              </a:lnSpc>
              <a:spcBef>
                <a:spcPct val="0"/>
              </a:spcBef>
            </a:pPr>
            <a:endParaRPr lang="en-US" sz="2701">
              <a:solidFill>
                <a:srgbClr val="F4F4F4"/>
              </a:solidFill>
              <a:latin typeface="Inter Extra-Light"/>
              <a:ea typeface="Inter Extra-Light"/>
              <a:cs typeface="Inter Extra-Light"/>
              <a:sym typeface="Inter Extra-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22150" y="2626198"/>
            <a:ext cx="18265850" cy="7902535"/>
          </a:xfrm>
          <a:prstGeom prst="rect">
            <a:avLst/>
          </a:prstGeom>
        </p:spPr>
        <p:txBody>
          <a:bodyPr lIns="0" tIns="0" rIns="0" bIns="0" rtlCol="0" anchor="t">
            <a:spAutoFit/>
          </a:bodyPr>
          <a:lstStyle/>
          <a:p>
            <a:pPr algn="just">
              <a:lnSpc>
                <a:spcPts val="3922"/>
              </a:lnSpc>
            </a:pPr>
            <a:r>
              <a:rPr lang="en-US" sz="2801" b="1">
                <a:solidFill>
                  <a:srgbClr val="F4F4F4"/>
                </a:solidFill>
                <a:latin typeface="Inter Bold"/>
                <a:ea typeface="Inter Bold"/>
                <a:cs typeface="Inter Bold"/>
                <a:sym typeface="Inter Bold"/>
              </a:rPr>
              <a:t>       Model Training</a:t>
            </a:r>
          </a:p>
          <a:p>
            <a:pPr algn="just">
              <a:lnSpc>
                <a:spcPts val="3922"/>
              </a:lnSpc>
            </a:pPr>
            <a:r>
              <a:rPr lang="en-US" sz="2801" b="1">
                <a:solidFill>
                  <a:srgbClr val="F4F4F4"/>
                </a:solidFill>
                <a:latin typeface="Inter Bold"/>
                <a:ea typeface="Inter Bold"/>
                <a:cs typeface="Inter Bold"/>
                <a:sym typeface="Inter Bold"/>
              </a:rPr>
              <a:t>Trained and evaluated the following five classification algorithms:</a:t>
            </a:r>
          </a:p>
          <a:p>
            <a:pPr algn="just">
              <a:lnSpc>
                <a:spcPts val="3922"/>
              </a:lnSpc>
            </a:pPr>
            <a:endParaRPr lang="en-US" sz="2801" b="1">
              <a:solidFill>
                <a:srgbClr val="F4F4F4"/>
              </a:solidFill>
              <a:latin typeface="Inter Bold"/>
              <a:ea typeface="Inter Bold"/>
              <a:cs typeface="Inter Bold"/>
              <a:sym typeface="Inter Bold"/>
            </a:endParaRPr>
          </a:p>
          <a:p>
            <a:pPr algn="just">
              <a:lnSpc>
                <a:spcPts val="3922"/>
              </a:lnSpc>
            </a:pPr>
            <a:r>
              <a:rPr lang="en-US" sz="2801" b="1">
                <a:solidFill>
                  <a:srgbClr val="F4F4F4"/>
                </a:solidFill>
                <a:latin typeface="Inter Bold"/>
                <a:ea typeface="Inter Bold"/>
                <a:cs typeface="Inter Bold"/>
                <a:sym typeface="Inter Bold"/>
              </a:rPr>
              <a:t>       Model </a:t>
            </a:r>
          </a:p>
          <a:p>
            <a:pPr marL="604860" lvl="1" indent="-302430" algn="just">
              <a:lnSpc>
                <a:spcPts val="3922"/>
              </a:lnSpc>
              <a:buFont typeface="Arial"/>
              <a:buChar char="•"/>
            </a:pPr>
            <a:r>
              <a:rPr lang="en-US" sz="2801">
                <a:solidFill>
                  <a:srgbClr val="F4F4F4"/>
                </a:solidFill>
                <a:latin typeface="Inter"/>
                <a:ea typeface="Inter"/>
                <a:cs typeface="Inter"/>
                <a:sym typeface="Inter"/>
              </a:rPr>
              <a:t>K-Nearest Neighbors (KNN)  - Simple, instance-based learner, good for comparison</a:t>
            </a:r>
          </a:p>
          <a:p>
            <a:pPr marL="604860" lvl="1" indent="-302430" algn="just">
              <a:lnSpc>
                <a:spcPts val="3922"/>
              </a:lnSpc>
              <a:buFont typeface="Arial"/>
              <a:buChar char="•"/>
            </a:pPr>
            <a:r>
              <a:rPr lang="en-US" sz="2801">
                <a:solidFill>
                  <a:srgbClr val="F4F4F4"/>
                </a:solidFill>
                <a:latin typeface="Inter"/>
                <a:ea typeface="Inter"/>
                <a:cs typeface="Inter"/>
                <a:sym typeface="Inter"/>
              </a:rPr>
              <a:t>Logistic Regression - Linear model, interpretable and fast</a:t>
            </a:r>
          </a:p>
          <a:p>
            <a:pPr marL="604860" lvl="1" indent="-302430" algn="just">
              <a:lnSpc>
                <a:spcPts val="3922"/>
              </a:lnSpc>
              <a:buFont typeface="Arial"/>
              <a:buChar char="•"/>
            </a:pPr>
            <a:r>
              <a:rPr lang="en-US" sz="2801">
                <a:solidFill>
                  <a:srgbClr val="F4F4F4"/>
                </a:solidFill>
                <a:latin typeface="Inter"/>
                <a:ea typeface="Inter"/>
                <a:cs typeface="Inter"/>
                <a:sym typeface="Inter"/>
              </a:rPr>
              <a:t>Decision Tree   -   Rule-based, good for feature importance</a:t>
            </a:r>
          </a:p>
          <a:p>
            <a:pPr marL="604860" lvl="1" indent="-302430" algn="just">
              <a:lnSpc>
                <a:spcPts val="3922"/>
              </a:lnSpc>
              <a:buFont typeface="Arial"/>
              <a:buChar char="•"/>
            </a:pPr>
            <a:r>
              <a:rPr lang="en-US" sz="2801">
                <a:solidFill>
                  <a:srgbClr val="F4F4F4"/>
                </a:solidFill>
                <a:latin typeface="Inter"/>
                <a:ea typeface="Inter"/>
                <a:cs typeface="Inter"/>
                <a:sym typeface="Inter"/>
              </a:rPr>
              <a:t>Random Forest  - Ensemble of trees, robust to overfitting</a:t>
            </a:r>
          </a:p>
          <a:p>
            <a:pPr marL="604860" lvl="1" indent="-302430" algn="just">
              <a:lnSpc>
                <a:spcPts val="3922"/>
              </a:lnSpc>
              <a:buFont typeface="Arial"/>
              <a:buChar char="•"/>
            </a:pPr>
            <a:r>
              <a:rPr lang="en-US" sz="2801">
                <a:solidFill>
                  <a:srgbClr val="F4F4F4"/>
                </a:solidFill>
                <a:latin typeface="Inter"/>
                <a:ea typeface="Inter"/>
                <a:cs typeface="Inter"/>
                <a:sym typeface="Inter"/>
              </a:rPr>
              <a:t>Support Vector Machine (SVM) -  Tried with linear &amp; RBF kernels, good for margin-based classification</a:t>
            </a:r>
          </a:p>
          <a:p>
            <a:pPr algn="just">
              <a:lnSpc>
                <a:spcPts val="3922"/>
              </a:lnSpc>
            </a:pPr>
            <a:endParaRPr lang="en-US" sz="2801">
              <a:solidFill>
                <a:srgbClr val="F4F4F4"/>
              </a:solidFill>
              <a:latin typeface="Inter"/>
              <a:ea typeface="Inter"/>
              <a:cs typeface="Inter"/>
              <a:sym typeface="Inter"/>
            </a:endParaRPr>
          </a:p>
          <a:p>
            <a:pPr algn="just">
              <a:lnSpc>
                <a:spcPts val="3922"/>
              </a:lnSpc>
            </a:pPr>
            <a:r>
              <a:rPr lang="en-US" sz="2801" b="1">
                <a:solidFill>
                  <a:srgbClr val="F4F4F4"/>
                </a:solidFill>
                <a:latin typeface="Inter Bold"/>
                <a:ea typeface="Inter Bold"/>
                <a:cs typeface="Inter Bold"/>
                <a:sym typeface="Inter Bold"/>
              </a:rPr>
              <a:t>        Dimensionality Reduction</a:t>
            </a:r>
          </a:p>
          <a:p>
            <a:pPr algn="just">
              <a:lnSpc>
                <a:spcPts val="3922"/>
              </a:lnSpc>
            </a:pPr>
            <a:endParaRPr lang="en-US" sz="2801" b="1">
              <a:solidFill>
                <a:srgbClr val="F4F4F4"/>
              </a:solidFill>
              <a:latin typeface="Inter Bold"/>
              <a:ea typeface="Inter Bold"/>
              <a:cs typeface="Inter Bold"/>
              <a:sym typeface="Inter Bold"/>
            </a:endParaRPr>
          </a:p>
          <a:p>
            <a:pPr marL="604860" lvl="1" indent="-302430" algn="just">
              <a:lnSpc>
                <a:spcPts val="3922"/>
              </a:lnSpc>
              <a:buFont typeface="Arial"/>
              <a:buChar char="•"/>
            </a:pPr>
            <a:r>
              <a:rPr lang="en-US" sz="2801">
                <a:solidFill>
                  <a:srgbClr val="F4F4F4"/>
                </a:solidFill>
                <a:latin typeface="Inter"/>
                <a:ea typeface="Inter"/>
                <a:cs typeface="Inter"/>
                <a:sym typeface="Inter"/>
              </a:rPr>
              <a:t>Applied Principal Component Analysis (PCA) to project the dataset into 2D for visualizing natural separation between the three wine cultivars.</a:t>
            </a:r>
          </a:p>
          <a:p>
            <a:pPr marL="604860" lvl="1" indent="-302430" algn="just">
              <a:lnSpc>
                <a:spcPts val="3922"/>
              </a:lnSpc>
              <a:spcBef>
                <a:spcPct val="0"/>
              </a:spcBef>
              <a:buFont typeface="Arial"/>
              <a:buChar char="•"/>
            </a:pPr>
            <a:r>
              <a:rPr lang="en-US" sz="2801">
                <a:solidFill>
                  <a:srgbClr val="F4F4F4"/>
                </a:solidFill>
                <a:latin typeface="Inter"/>
                <a:ea typeface="Inter"/>
                <a:cs typeface="Inter"/>
                <a:sym typeface="Inter"/>
              </a:rPr>
              <a:t>Used top 2 principal components capturing &gt;80% of total variance.</a:t>
            </a:r>
          </a:p>
          <a:p>
            <a:pPr algn="just">
              <a:lnSpc>
                <a:spcPts val="3782"/>
              </a:lnSpc>
              <a:spcBef>
                <a:spcPct val="0"/>
              </a:spcBef>
            </a:pPr>
            <a:endParaRPr lang="en-US" sz="2801">
              <a:solidFill>
                <a:srgbClr val="F4F4F4"/>
              </a:solidFill>
              <a:latin typeface="Inter"/>
              <a:ea typeface="Inter"/>
              <a:cs typeface="Inter"/>
              <a:sym typeface="Inter"/>
            </a:endParaRPr>
          </a:p>
        </p:txBody>
      </p:sp>
      <p:sp>
        <p:nvSpPr>
          <p:cNvPr id="3" name="TextBox 3"/>
          <p:cNvSpPr txBox="1"/>
          <p:nvPr/>
        </p:nvSpPr>
        <p:spPr>
          <a:xfrm>
            <a:off x="5357969" y="807398"/>
            <a:ext cx="7039807" cy="943545"/>
          </a:xfrm>
          <a:prstGeom prst="rect">
            <a:avLst/>
          </a:prstGeom>
        </p:spPr>
        <p:txBody>
          <a:bodyPr lIns="0" tIns="0" rIns="0" bIns="0" rtlCol="0" anchor="t">
            <a:spAutoFit/>
          </a:bodyPr>
          <a:lstStyle/>
          <a:p>
            <a:pPr algn="ctr">
              <a:lnSpc>
                <a:spcPts val="6572"/>
              </a:lnSpc>
            </a:pPr>
            <a:r>
              <a:rPr lang="en-US" sz="6917" b="1" spc="-290">
                <a:solidFill>
                  <a:srgbClr val="F4F4F4"/>
                </a:solidFill>
                <a:latin typeface="Poppins Medium"/>
                <a:ea typeface="Poppins Medium"/>
                <a:cs typeface="Poppins Medium"/>
                <a:sym typeface="Poppins Medium"/>
              </a:rPr>
              <a:t>Methodology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3" name="TextBox 3"/>
          <p:cNvSpPr txBox="1"/>
          <p:nvPr/>
        </p:nvSpPr>
        <p:spPr>
          <a:xfrm>
            <a:off x="6150470" y="769652"/>
            <a:ext cx="5987061" cy="584772"/>
          </a:xfrm>
          <a:prstGeom prst="rect">
            <a:avLst/>
          </a:prstGeom>
        </p:spPr>
        <p:txBody>
          <a:bodyPr lIns="0" tIns="0" rIns="0" bIns="0" rtlCol="0" anchor="t">
            <a:spAutoFit/>
          </a:bodyPr>
          <a:lstStyle/>
          <a:p>
            <a:pPr algn="ctr">
              <a:lnSpc>
                <a:spcPts val="4102"/>
              </a:lnSpc>
            </a:pPr>
            <a:r>
              <a:rPr lang="en-US" sz="4318" b="1" spc="-181">
                <a:solidFill>
                  <a:srgbClr val="F4F4F4"/>
                </a:solidFill>
                <a:latin typeface="Poppins Medium"/>
                <a:ea typeface="Poppins Medium"/>
                <a:cs typeface="Poppins Medium"/>
                <a:sym typeface="Poppins Medium"/>
              </a:rPr>
              <a:t>Modelling &amp; Evaluation</a:t>
            </a:r>
          </a:p>
        </p:txBody>
      </p:sp>
      <p:graphicFrame>
        <p:nvGraphicFramePr>
          <p:cNvPr id="4" name="Table 3">
            <a:extLst>
              <a:ext uri="{FF2B5EF4-FFF2-40B4-BE49-F238E27FC236}">
                <a16:creationId xmlns:a16="http://schemas.microsoft.com/office/drawing/2014/main" id="{02704D13-C504-F53B-C809-5E5372855B97}"/>
              </a:ext>
            </a:extLst>
          </p:cNvPr>
          <p:cNvGraphicFramePr>
            <a:graphicFrameLocks noGrp="1"/>
          </p:cNvGraphicFramePr>
          <p:nvPr>
            <p:extLst>
              <p:ext uri="{D42A27DB-BD31-4B8C-83A1-F6EECF244321}">
                <p14:modId xmlns:p14="http://schemas.microsoft.com/office/powerpoint/2010/main" val="2121427868"/>
              </p:ext>
            </p:extLst>
          </p:nvPr>
        </p:nvGraphicFramePr>
        <p:xfrm>
          <a:off x="152400" y="2019300"/>
          <a:ext cx="17830800" cy="8267700"/>
        </p:xfrm>
        <a:graphic>
          <a:graphicData uri="http://schemas.openxmlformats.org/drawingml/2006/table">
            <a:tbl>
              <a:tblPr>
                <a:tableStyleId>{5C22544A-7EE6-4342-B048-85BDC9FD1C3A}</a:tableStyleId>
              </a:tblPr>
              <a:tblGrid>
                <a:gridCol w="5943600">
                  <a:extLst>
                    <a:ext uri="{9D8B030D-6E8A-4147-A177-3AD203B41FA5}">
                      <a16:colId xmlns:a16="http://schemas.microsoft.com/office/drawing/2014/main" val="3556821521"/>
                    </a:ext>
                  </a:extLst>
                </a:gridCol>
                <a:gridCol w="5943600">
                  <a:extLst>
                    <a:ext uri="{9D8B030D-6E8A-4147-A177-3AD203B41FA5}">
                      <a16:colId xmlns:a16="http://schemas.microsoft.com/office/drawing/2014/main" val="1663935404"/>
                    </a:ext>
                  </a:extLst>
                </a:gridCol>
                <a:gridCol w="5943600">
                  <a:extLst>
                    <a:ext uri="{9D8B030D-6E8A-4147-A177-3AD203B41FA5}">
                      <a16:colId xmlns:a16="http://schemas.microsoft.com/office/drawing/2014/main" val="3366650699"/>
                    </a:ext>
                  </a:extLst>
                </a:gridCol>
              </a:tblGrid>
              <a:tr h="993239">
                <a:tc>
                  <a:txBody>
                    <a:bodyPr/>
                    <a:lstStyle/>
                    <a:p>
                      <a:pPr algn="l" fontAlgn="b"/>
                      <a:r>
                        <a:rPr lang="en-US" sz="2800" b="1" u="none" strike="noStrike" baseline="0" dirty="0">
                          <a:solidFill>
                            <a:schemeClr val="bg1"/>
                          </a:solidFill>
                          <a:effectLst/>
                        </a:rPr>
                        <a:t>Model</a:t>
                      </a:r>
                      <a:endParaRPr lang="en-US" sz="2800" b="1" i="0" u="none" strike="noStrike" baseline="0" dirty="0">
                        <a:solidFill>
                          <a:schemeClr val="bg1"/>
                        </a:solidFill>
                        <a:effectLst/>
                        <a:latin typeface="Calibri" panose="020F0502020204030204" pitchFamily="34" charset="0"/>
                      </a:endParaRPr>
                    </a:p>
                  </a:txBody>
                  <a:tcPr marL="3468" marR="3468" marT="3468" marB="0" anchor="b">
                    <a:solidFill>
                      <a:srgbClr val="42121A"/>
                    </a:solidFill>
                  </a:tcPr>
                </a:tc>
                <a:tc>
                  <a:txBody>
                    <a:bodyPr/>
                    <a:lstStyle/>
                    <a:p>
                      <a:pPr algn="l" fontAlgn="b"/>
                      <a:r>
                        <a:rPr lang="en-US" sz="2800" b="1" u="none" strike="noStrike" baseline="0" dirty="0">
                          <a:solidFill>
                            <a:schemeClr val="bg1"/>
                          </a:solidFill>
                          <a:effectLst/>
                        </a:rPr>
                        <a:t>Accuracy</a:t>
                      </a:r>
                      <a:endParaRPr lang="en-US" sz="2800" b="1" i="0" u="none" strike="noStrike" baseline="0" dirty="0">
                        <a:solidFill>
                          <a:schemeClr val="bg1"/>
                        </a:solidFill>
                        <a:effectLst/>
                        <a:latin typeface="Calibri" panose="020F0502020204030204" pitchFamily="34" charset="0"/>
                      </a:endParaRPr>
                    </a:p>
                  </a:txBody>
                  <a:tcPr marL="3468" marR="3468" marT="3468" marB="0" anchor="b">
                    <a:solidFill>
                      <a:srgbClr val="42121A"/>
                    </a:solidFill>
                  </a:tcPr>
                </a:tc>
                <a:tc>
                  <a:txBody>
                    <a:bodyPr/>
                    <a:lstStyle/>
                    <a:p>
                      <a:pPr algn="l" fontAlgn="b"/>
                      <a:r>
                        <a:rPr lang="en-US" sz="2800" b="1" u="none" strike="noStrike" baseline="0" dirty="0">
                          <a:solidFill>
                            <a:schemeClr val="bg1"/>
                          </a:solidFill>
                          <a:effectLst/>
                        </a:rPr>
                        <a:t>Macro Avg F1-Score</a:t>
                      </a:r>
                      <a:endParaRPr lang="en-US" sz="2800" b="1" i="0" u="none" strike="noStrike" baseline="0" dirty="0">
                        <a:solidFill>
                          <a:schemeClr val="bg1"/>
                        </a:solidFill>
                        <a:effectLst/>
                        <a:latin typeface="Calibri" panose="020F0502020204030204" pitchFamily="34" charset="0"/>
                      </a:endParaRPr>
                    </a:p>
                  </a:txBody>
                  <a:tcPr marL="3468" marR="3468" marT="3468" marB="0" anchor="b">
                    <a:solidFill>
                      <a:srgbClr val="42121A"/>
                    </a:solidFill>
                  </a:tcPr>
                </a:tc>
                <a:extLst>
                  <a:ext uri="{0D108BD9-81ED-4DB2-BD59-A6C34878D82A}">
                    <a16:rowId xmlns:a16="http://schemas.microsoft.com/office/drawing/2014/main" val="2277447637"/>
                  </a:ext>
                </a:extLst>
              </a:tr>
              <a:tr h="1073686">
                <a:tc>
                  <a:txBody>
                    <a:bodyPr/>
                    <a:lstStyle/>
                    <a:p>
                      <a:pPr algn="l" fontAlgn="b"/>
                      <a:r>
                        <a:rPr lang="en-US" sz="2400" u="none" strike="noStrike" baseline="0" dirty="0">
                          <a:solidFill>
                            <a:schemeClr val="bg1"/>
                          </a:solidFill>
                          <a:effectLst/>
                        </a:rPr>
                        <a:t>K-Nearest Neighbors (KNN)</a:t>
                      </a:r>
                      <a:endParaRPr lang="en-US" sz="2400" b="1" i="0" u="none" strike="noStrike" baseline="0" dirty="0">
                        <a:solidFill>
                          <a:schemeClr val="bg1"/>
                        </a:solidFill>
                        <a:effectLst/>
                        <a:latin typeface="Calibri" panose="020F0502020204030204" pitchFamily="34" charset="0"/>
                      </a:endParaRPr>
                    </a:p>
                  </a:txBody>
                  <a:tcPr marL="3468" marR="3468" marT="3468" marB="0" anchor="b">
                    <a:solidFill>
                      <a:srgbClr val="42121A"/>
                    </a:solidFill>
                  </a:tcPr>
                </a:tc>
                <a:tc>
                  <a:txBody>
                    <a:bodyPr/>
                    <a:lstStyle/>
                    <a:p>
                      <a:pPr algn="ctr" fontAlgn="b"/>
                      <a:r>
                        <a:rPr lang="en-US" sz="2400" u="none" strike="noStrike" baseline="0" dirty="0">
                          <a:solidFill>
                            <a:schemeClr val="bg1"/>
                          </a:solidFill>
                          <a:effectLst/>
                        </a:rPr>
                        <a:t>0.98</a:t>
                      </a:r>
                      <a:endParaRPr lang="en-US" sz="2400" b="1" i="0" u="none" strike="noStrike" baseline="0" dirty="0">
                        <a:solidFill>
                          <a:schemeClr val="bg1"/>
                        </a:solidFill>
                        <a:effectLst/>
                        <a:latin typeface="Calibri" panose="020F0502020204030204" pitchFamily="34" charset="0"/>
                      </a:endParaRPr>
                    </a:p>
                  </a:txBody>
                  <a:tcPr marL="3468" marR="3468" marT="3468" marB="0" anchor="b">
                    <a:solidFill>
                      <a:srgbClr val="42121A"/>
                    </a:solidFill>
                  </a:tcPr>
                </a:tc>
                <a:tc>
                  <a:txBody>
                    <a:bodyPr/>
                    <a:lstStyle/>
                    <a:p>
                      <a:pPr algn="ctr" fontAlgn="b"/>
                      <a:r>
                        <a:rPr lang="en-US" sz="2400" u="none" strike="noStrike" baseline="0">
                          <a:solidFill>
                            <a:schemeClr val="bg1"/>
                          </a:solidFill>
                          <a:effectLst/>
                        </a:rPr>
                        <a:t>0.98</a:t>
                      </a:r>
                      <a:endParaRPr lang="en-US" sz="2400" b="1" i="0" u="none" strike="noStrike" baseline="0">
                        <a:solidFill>
                          <a:schemeClr val="bg1"/>
                        </a:solidFill>
                        <a:effectLst/>
                        <a:latin typeface="Calibri" panose="020F0502020204030204" pitchFamily="34" charset="0"/>
                      </a:endParaRPr>
                    </a:p>
                  </a:txBody>
                  <a:tcPr marL="3468" marR="3468" marT="3468" marB="0" anchor="b">
                    <a:solidFill>
                      <a:srgbClr val="42121A"/>
                    </a:solidFill>
                  </a:tcPr>
                </a:tc>
                <a:extLst>
                  <a:ext uri="{0D108BD9-81ED-4DB2-BD59-A6C34878D82A}">
                    <a16:rowId xmlns:a16="http://schemas.microsoft.com/office/drawing/2014/main" val="947120787"/>
                  </a:ext>
                </a:extLst>
              </a:tr>
              <a:tr h="1073686">
                <a:tc>
                  <a:txBody>
                    <a:bodyPr/>
                    <a:lstStyle/>
                    <a:p>
                      <a:pPr algn="l" fontAlgn="b"/>
                      <a:r>
                        <a:rPr lang="en-US" sz="2400" u="none" strike="noStrike" baseline="0" dirty="0">
                          <a:solidFill>
                            <a:schemeClr val="bg1"/>
                          </a:solidFill>
                          <a:effectLst/>
                        </a:rPr>
                        <a:t>Logistic Regression (w/o RFE)</a:t>
                      </a:r>
                      <a:endParaRPr lang="en-US" sz="2400" b="1" i="0" u="none" strike="noStrike" baseline="0" dirty="0">
                        <a:solidFill>
                          <a:schemeClr val="bg1"/>
                        </a:solidFill>
                        <a:effectLst/>
                        <a:latin typeface="Calibri" panose="020F0502020204030204" pitchFamily="34" charset="0"/>
                      </a:endParaRPr>
                    </a:p>
                  </a:txBody>
                  <a:tcPr marL="3468" marR="3468" marT="3468" marB="0" anchor="b">
                    <a:solidFill>
                      <a:srgbClr val="42121A"/>
                    </a:solidFill>
                  </a:tcPr>
                </a:tc>
                <a:tc>
                  <a:txBody>
                    <a:bodyPr/>
                    <a:lstStyle/>
                    <a:p>
                      <a:pPr algn="ctr" fontAlgn="b"/>
                      <a:r>
                        <a:rPr lang="en-US" sz="2400" u="none" strike="noStrike" baseline="0" dirty="0">
                          <a:solidFill>
                            <a:schemeClr val="bg1"/>
                          </a:solidFill>
                          <a:effectLst/>
                        </a:rPr>
                        <a:t>0.98</a:t>
                      </a:r>
                      <a:endParaRPr lang="en-US" sz="2400" b="1" i="0" u="none" strike="noStrike" baseline="0" dirty="0">
                        <a:solidFill>
                          <a:schemeClr val="bg1"/>
                        </a:solidFill>
                        <a:effectLst/>
                        <a:latin typeface="Calibri" panose="020F0502020204030204" pitchFamily="34" charset="0"/>
                      </a:endParaRPr>
                    </a:p>
                  </a:txBody>
                  <a:tcPr marL="3468" marR="3468" marT="3468" marB="0" anchor="b">
                    <a:solidFill>
                      <a:srgbClr val="42121A"/>
                    </a:solidFill>
                  </a:tcPr>
                </a:tc>
                <a:tc>
                  <a:txBody>
                    <a:bodyPr/>
                    <a:lstStyle/>
                    <a:p>
                      <a:pPr algn="ctr" fontAlgn="b"/>
                      <a:r>
                        <a:rPr lang="en-US" sz="2400" u="none" strike="noStrike" baseline="0" dirty="0">
                          <a:solidFill>
                            <a:schemeClr val="bg1"/>
                          </a:solidFill>
                          <a:effectLst/>
                        </a:rPr>
                        <a:t>0.98</a:t>
                      </a:r>
                      <a:endParaRPr lang="en-US" sz="2400" b="1" i="0" u="none" strike="noStrike" baseline="0" dirty="0">
                        <a:solidFill>
                          <a:schemeClr val="bg1"/>
                        </a:solidFill>
                        <a:effectLst/>
                        <a:latin typeface="Calibri" panose="020F0502020204030204" pitchFamily="34" charset="0"/>
                      </a:endParaRPr>
                    </a:p>
                  </a:txBody>
                  <a:tcPr marL="3468" marR="3468" marT="3468" marB="0" anchor="b">
                    <a:solidFill>
                      <a:srgbClr val="42121A"/>
                    </a:solidFill>
                  </a:tcPr>
                </a:tc>
                <a:extLst>
                  <a:ext uri="{0D108BD9-81ED-4DB2-BD59-A6C34878D82A}">
                    <a16:rowId xmlns:a16="http://schemas.microsoft.com/office/drawing/2014/main" val="3881040581"/>
                  </a:ext>
                </a:extLst>
              </a:tr>
              <a:tr h="993239">
                <a:tc>
                  <a:txBody>
                    <a:bodyPr/>
                    <a:lstStyle/>
                    <a:p>
                      <a:pPr algn="l" fontAlgn="b"/>
                      <a:r>
                        <a:rPr lang="en-US" sz="2400" u="none" strike="noStrike" baseline="0" dirty="0">
                          <a:solidFill>
                            <a:schemeClr val="bg1"/>
                          </a:solidFill>
                          <a:effectLst/>
                        </a:rPr>
                        <a:t>Support Vector Machine (SVM)</a:t>
                      </a:r>
                      <a:endParaRPr lang="en-US" sz="2400" b="1" i="0" u="none" strike="noStrike" baseline="0" dirty="0">
                        <a:solidFill>
                          <a:schemeClr val="bg1"/>
                        </a:solidFill>
                        <a:effectLst/>
                        <a:latin typeface="Calibri" panose="020F0502020204030204" pitchFamily="34" charset="0"/>
                      </a:endParaRPr>
                    </a:p>
                  </a:txBody>
                  <a:tcPr marL="3468" marR="3468" marT="3468" marB="0" anchor="b">
                    <a:solidFill>
                      <a:srgbClr val="42121A"/>
                    </a:solidFill>
                  </a:tcPr>
                </a:tc>
                <a:tc>
                  <a:txBody>
                    <a:bodyPr/>
                    <a:lstStyle/>
                    <a:p>
                      <a:pPr algn="ctr" fontAlgn="b"/>
                      <a:r>
                        <a:rPr lang="en-US" sz="2400" u="none" strike="noStrike" baseline="0" dirty="0">
                          <a:solidFill>
                            <a:schemeClr val="bg1"/>
                          </a:solidFill>
                          <a:effectLst/>
                        </a:rPr>
                        <a:t>0.98</a:t>
                      </a:r>
                      <a:endParaRPr lang="en-US" sz="2400" b="1" i="0" u="none" strike="noStrike" baseline="0" dirty="0">
                        <a:solidFill>
                          <a:schemeClr val="bg1"/>
                        </a:solidFill>
                        <a:effectLst/>
                        <a:latin typeface="Calibri" panose="020F0502020204030204" pitchFamily="34" charset="0"/>
                      </a:endParaRPr>
                    </a:p>
                  </a:txBody>
                  <a:tcPr marL="3468" marR="3468" marT="3468" marB="0" anchor="b">
                    <a:solidFill>
                      <a:srgbClr val="42121A"/>
                    </a:solidFill>
                  </a:tcPr>
                </a:tc>
                <a:tc>
                  <a:txBody>
                    <a:bodyPr/>
                    <a:lstStyle/>
                    <a:p>
                      <a:pPr algn="ctr" fontAlgn="b"/>
                      <a:r>
                        <a:rPr lang="en-US" sz="2400" u="none" strike="noStrike" baseline="0" dirty="0">
                          <a:solidFill>
                            <a:schemeClr val="bg1"/>
                          </a:solidFill>
                          <a:effectLst/>
                        </a:rPr>
                        <a:t>0.98</a:t>
                      </a:r>
                      <a:endParaRPr lang="en-US" sz="2400" b="1" i="0" u="none" strike="noStrike" baseline="0" dirty="0">
                        <a:solidFill>
                          <a:schemeClr val="bg1"/>
                        </a:solidFill>
                        <a:effectLst/>
                        <a:latin typeface="Calibri" panose="020F0502020204030204" pitchFamily="34" charset="0"/>
                      </a:endParaRPr>
                    </a:p>
                  </a:txBody>
                  <a:tcPr marL="3468" marR="3468" marT="3468" marB="0" anchor="b">
                    <a:solidFill>
                      <a:srgbClr val="42121A"/>
                    </a:solidFill>
                  </a:tcPr>
                </a:tc>
                <a:extLst>
                  <a:ext uri="{0D108BD9-81ED-4DB2-BD59-A6C34878D82A}">
                    <a16:rowId xmlns:a16="http://schemas.microsoft.com/office/drawing/2014/main" val="4170917454"/>
                  </a:ext>
                </a:extLst>
              </a:tr>
              <a:tr h="993239">
                <a:tc>
                  <a:txBody>
                    <a:bodyPr/>
                    <a:lstStyle/>
                    <a:p>
                      <a:pPr algn="l" fontAlgn="b"/>
                      <a:r>
                        <a:rPr lang="en-US" sz="2400" u="none" strike="noStrike" baseline="0" dirty="0">
                          <a:solidFill>
                            <a:schemeClr val="bg1"/>
                          </a:solidFill>
                          <a:effectLst/>
                        </a:rPr>
                        <a:t>Logistic Regression (with RFE)</a:t>
                      </a:r>
                      <a:endParaRPr lang="en-US" sz="2400" b="1" i="0" u="none" strike="noStrike" baseline="0" dirty="0">
                        <a:solidFill>
                          <a:schemeClr val="bg1"/>
                        </a:solidFill>
                        <a:effectLst/>
                        <a:latin typeface="Calibri" panose="020F0502020204030204" pitchFamily="34" charset="0"/>
                      </a:endParaRPr>
                    </a:p>
                  </a:txBody>
                  <a:tcPr marL="3468" marR="3468" marT="3468" marB="0" anchor="b">
                    <a:solidFill>
                      <a:srgbClr val="42121A"/>
                    </a:solidFill>
                  </a:tcPr>
                </a:tc>
                <a:tc>
                  <a:txBody>
                    <a:bodyPr/>
                    <a:lstStyle/>
                    <a:p>
                      <a:pPr algn="ctr" fontAlgn="b"/>
                      <a:r>
                        <a:rPr lang="en-US" sz="2400" u="none" strike="noStrike" baseline="0" dirty="0">
                          <a:solidFill>
                            <a:schemeClr val="bg1"/>
                          </a:solidFill>
                          <a:effectLst/>
                        </a:rPr>
                        <a:t>0.96</a:t>
                      </a:r>
                      <a:endParaRPr lang="en-US" sz="2400" b="1" i="0" u="none" strike="noStrike" baseline="0" dirty="0">
                        <a:solidFill>
                          <a:schemeClr val="bg1"/>
                        </a:solidFill>
                        <a:effectLst/>
                        <a:latin typeface="Calibri" panose="020F0502020204030204" pitchFamily="34" charset="0"/>
                      </a:endParaRPr>
                    </a:p>
                  </a:txBody>
                  <a:tcPr marL="3468" marR="3468" marT="3468" marB="0" anchor="b">
                    <a:solidFill>
                      <a:srgbClr val="42121A"/>
                    </a:solidFill>
                  </a:tcPr>
                </a:tc>
                <a:tc>
                  <a:txBody>
                    <a:bodyPr/>
                    <a:lstStyle/>
                    <a:p>
                      <a:pPr algn="ctr" fontAlgn="b"/>
                      <a:r>
                        <a:rPr lang="en-US" sz="2400" u="none" strike="noStrike" baseline="0" dirty="0">
                          <a:solidFill>
                            <a:schemeClr val="bg1"/>
                          </a:solidFill>
                          <a:effectLst/>
                        </a:rPr>
                        <a:t>0.96</a:t>
                      </a:r>
                      <a:endParaRPr lang="en-US" sz="2400" b="1" i="0" u="none" strike="noStrike" baseline="0" dirty="0">
                        <a:solidFill>
                          <a:schemeClr val="bg1"/>
                        </a:solidFill>
                        <a:effectLst/>
                        <a:latin typeface="Calibri" panose="020F0502020204030204" pitchFamily="34" charset="0"/>
                      </a:endParaRPr>
                    </a:p>
                  </a:txBody>
                  <a:tcPr marL="3468" marR="3468" marT="3468" marB="0" anchor="b">
                    <a:solidFill>
                      <a:srgbClr val="42121A"/>
                    </a:solidFill>
                  </a:tcPr>
                </a:tc>
                <a:extLst>
                  <a:ext uri="{0D108BD9-81ED-4DB2-BD59-A6C34878D82A}">
                    <a16:rowId xmlns:a16="http://schemas.microsoft.com/office/drawing/2014/main" val="4224897780"/>
                  </a:ext>
                </a:extLst>
              </a:tr>
              <a:tr h="1073686">
                <a:tc>
                  <a:txBody>
                    <a:bodyPr/>
                    <a:lstStyle/>
                    <a:p>
                      <a:pPr algn="l" fontAlgn="b"/>
                      <a:r>
                        <a:rPr lang="en-US" sz="2400" u="none" strike="noStrike" baseline="0" dirty="0">
                          <a:solidFill>
                            <a:schemeClr val="bg1"/>
                          </a:solidFill>
                          <a:effectLst/>
                        </a:rPr>
                        <a:t>PCA + Logistic Regression</a:t>
                      </a:r>
                      <a:endParaRPr lang="en-US" sz="2400" b="1" i="0" u="none" strike="noStrike" baseline="0" dirty="0">
                        <a:solidFill>
                          <a:schemeClr val="bg1"/>
                        </a:solidFill>
                        <a:effectLst/>
                        <a:latin typeface="Calibri" panose="020F0502020204030204" pitchFamily="34" charset="0"/>
                      </a:endParaRPr>
                    </a:p>
                  </a:txBody>
                  <a:tcPr marL="3468" marR="3468" marT="3468" marB="0" anchor="b">
                    <a:solidFill>
                      <a:srgbClr val="42121A"/>
                    </a:solidFill>
                  </a:tcPr>
                </a:tc>
                <a:tc>
                  <a:txBody>
                    <a:bodyPr/>
                    <a:lstStyle/>
                    <a:p>
                      <a:pPr algn="ctr" fontAlgn="b"/>
                      <a:r>
                        <a:rPr lang="en-US" sz="2400" u="none" strike="noStrike" baseline="0" dirty="0">
                          <a:solidFill>
                            <a:schemeClr val="bg1"/>
                          </a:solidFill>
                          <a:effectLst/>
                        </a:rPr>
                        <a:t>0.96</a:t>
                      </a:r>
                      <a:endParaRPr lang="en-US" sz="2400" b="1" i="0" u="none" strike="noStrike" baseline="0" dirty="0">
                        <a:solidFill>
                          <a:schemeClr val="bg1"/>
                        </a:solidFill>
                        <a:effectLst/>
                        <a:latin typeface="Calibri" panose="020F0502020204030204" pitchFamily="34" charset="0"/>
                      </a:endParaRPr>
                    </a:p>
                  </a:txBody>
                  <a:tcPr marL="3468" marR="3468" marT="3468" marB="0" anchor="b">
                    <a:solidFill>
                      <a:srgbClr val="42121A"/>
                    </a:solidFill>
                  </a:tcPr>
                </a:tc>
                <a:tc>
                  <a:txBody>
                    <a:bodyPr/>
                    <a:lstStyle/>
                    <a:p>
                      <a:pPr algn="ctr" fontAlgn="b"/>
                      <a:r>
                        <a:rPr lang="en-US" sz="2400" u="none" strike="noStrike" baseline="0" dirty="0">
                          <a:solidFill>
                            <a:schemeClr val="bg1"/>
                          </a:solidFill>
                          <a:effectLst/>
                        </a:rPr>
                        <a:t>0.97</a:t>
                      </a:r>
                      <a:endParaRPr lang="en-US" sz="2400" b="1" i="0" u="none" strike="noStrike" baseline="0" dirty="0">
                        <a:solidFill>
                          <a:schemeClr val="bg1"/>
                        </a:solidFill>
                        <a:effectLst/>
                        <a:latin typeface="Calibri" panose="020F0502020204030204" pitchFamily="34" charset="0"/>
                      </a:endParaRPr>
                    </a:p>
                  </a:txBody>
                  <a:tcPr marL="3468" marR="3468" marT="3468" marB="0" anchor="b">
                    <a:solidFill>
                      <a:srgbClr val="42121A"/>
                    </a:solidFill>
                  </a:tcPr>
                </a:tc>
                <a:extLst>
                  <a:ext uri="{0D108BD9-81ED-4DB2-BD59-A6C34878D82A}">
                    <a16:rowId xmlns:a16="http://schemas.microsoft.com/office/drawing/2014/main" val="590623540"/>
                  </a:ext>
                </a:extLst>
              </a:tr>
              <a:tr h="993239">
                <a:tc>
                  <a:txBody>
                    <a:bodyPr/>
                    <a:lstStyle/>
                    <a:p>
                      <a:pPr algn="l" fontAlgn="b"/>
                      <a:r>
                        <a:rPr lang="en-US" sz="2400" u="none" strike="noStrike" baseline="0" dirty="0">
                          <a:solidFill>
                            <a:schemeClr val="bg1"/>
                          </a:solidFill>
                          <a:effectLst/>
                        </a:rPr>
                        <a:t>Decision Tree</a:t>
                      </a:r>
                      <a:endParaRPr lang="en-US" sz="2400" b="1" i="0" u="none" strike="noStrike" baseline="0" dirty="0">
                        <a:solidFill>
                          <a:schemeClr val="bg1"/>
                        </a:solidFill>
                        <a:effectLst/>
                        <a:latin typeface="Calibri" panose="020F0502020204030204" pitchFamily="34" charset="0"/>
                      </a:endParaRPr>
                    </a:p>
                  </a:txBody>
                  <a:tcPr marL="3468" marR="3468" marT="3468" marB="0" anchor="b">
                    <a:solidFill>
                      <a:srgbClr val="42121A"/>
                    </a:solidFill>
                  </a:tcPr>
                </a:tc>
                <a:tc>
                  <a:txBody>
                    <a:bodyPr/>
                    <a:lstStyle/>
                    <a:p>
                      <a:pPr algn="ctr" fontAlgn="b"/>
                      <a:r>
                        <a:rPr lang="en-US" sz="2400" u="none" strike="noStrike" baseline="0">
                          <a:solidFill>
                            <a:schemeClr val="bg1"/>
                          </a:solidFill>
                          <a:effectLst/>
                        </a:rPr>
                        <a:t>0.96</a:t>
                      </a:r>
                      <a:endParaRPr lang="en-US" sz="2400" b="1" i="0" u="none" strike="noStrike" baseline="0">
                        <a:solidFill>
                          <a:schemeClr val="bg1"/>
                        </a:solidFill>
                        <a:effectLst/>
                        <a:latin typeface="Calibri" panose="020F0502020204030204" pitchFamily="34" charset="0"/>
                      </a:endParaRPr>
                    </a:p>
                  </a:txBody>
                  <a:tcPr marL="3468" marR="3468" marT="3468" marB="0" anchor="b">
                    <a:solidFill>
                      <a:srgbClr val="42121A"/>
                    </a:solidFill>
                  </a:tcPr>
                </a:tc>
                <a:tc>
                  <a:txBody>
                    <a:bodyPr/>
                    <a:lstStyle/>
                    <a:p>
                      <a:pPr algn="ctr" fontAlgn="b"/>
                      <a:r>
                        <a:rPr lang="en-US" sz="2400" u="none" strike="noStrike" baseline="0" dirty="0">
                          <a:solidFill>
                            <a:schemeClr val="bg1"/>
                          </a:solidFill>
                          <a:effectLst/>
                        </a:rPr>
                        <a:t>0.96</a:t>
                      </a:r>
                      <a:endParaRPr lang="en-US" sz="2400" b="1" i="0" u="none" strike="noStrike" baseline="0" dirty="0">
                        <a:solidFill>
                          <a:schemeClr val="bg1"/>
                        </a:solidFill>
                        <a:effectLst/>
                        <a:latin typeface="Calibri" panose="020F0502020204030204" pitchFamily="34" charset="0"/>
                      </a:endParaRPr>
                    </a:p>
                  </a:txBody>
                  <a:tcPr marL="3468" marR="3468" marT="3468" marB="0" anchor="b">
                    <a:solidFill>
                      <a:srgbClr val="42121A"/>
                    </a:solidFill>
                  </a:tcPr>
                </a:tc>
                <a:extLst>
                  <a:ext uri="{0D108BD9-81ED-4DB2-BD59-A6C34878D82A}">
                    <a16:rowId xmlns:a16="http://schemas.microsoft.com/office/drawing/2014/main" val="358442739"/>
                  </a:ext>
                </a:extLst>
              </a:tr>
              <a:tr h="1073686">
                <a:tc>
                  <a:txBody>
                    <a:bodyPr/>
                    <a:lstStyle/>
                    <a:p>
                      <a:pPr algn="l" fontAlgn="b"/>
                      <a:r>
                        <a:rPr lang="en-US" sz="2400" u="none" strike="noStrike" baseline="0" dirty="0">
                          <a:solidFill>
                            <a:schemeClr val="bg1"/>
                          </a:solidFill>
                          <a:effectLst/>
                        </a:rPr>
                        <a:t>Random Forest</a:t>
                      </a:r>
                      <a:endParaRPr lang="en-US" sz="2400" b="1" i="0" u="none" strike="noStrike" baseline="0" dirty="0">
                        <a:solidFill>
                          <a:schemeClr val="bg1"/>
                        </a:solidFill>
                        <a:effectLst/>
                        <a:latin typeface="Calibri" panose="020F0502020204030204" pitchFamily="34" charset="0"/>
                      </a:endParaRPr>
                    </a:p>
                  </a:txBody>
                  <a:tcPr marL="3468" marR="3468" marT="3468" marB="0" anchor="b">
                    <a:solidFill>
                      <a:srgbClr val="42121A"/>
                    </a:solidFill>
                  </a:tcPr>
                </a:tc>
                <a:tc>
                  <a:txBody>
                    <a:bodyPr/>
                    <a:lstStyle/>
                    <a:p>
                      <a:pPr algn="ctr" fontAlgn="b"/>
                      <a:r>
                        <a:rPr lang="en-US" sz="2400" u="none" strike="noStrike" baseline="0">
                          <a:solidFill>
                            <a:schemeClr val="bg1"/>
                          </a:solidFill>
                          <a:effectLst/>
                        </a:rPr>
                        <a:t>0.93</a:t>
                      </a:r>
                      <a:endParaRPr lang="en-US" sz="2400" b="1" i="0" u="none" strike="noStrike" baseline="0">
                        <a:solidFill>
                          <a:schemeClr val="bg1"/>
                        </a:solidFill>
                        <a:effectLst/>
                        <a:latin typeface="Calibri" panose="020F0502020204030204" pitchFamily="34" charset="0"/>
                      </a:endParaRPr>
                    </a:p>
                  </a:txBody>
                  <a:tcPr marL="3468" marR="3468" marT="3468" marB="0" anchor="b">
                    <a:solidFill>
                      <a:srgbClr val="42121A"/>
                    </a:solidFill>
                  </a:tcPr>
                </a:tc>
                <a:tc>
                  <a:txBody>
                    <a:bodyPr/>
                    <a:lstStyle/>
                    <a:p>
                      <a:pPr algn="ctr" fontAlgn="b"/>
                      <a:r>
                        <a:rPr lang="en-US" sz="2400" u="none" strike="noStrike" baseline="0" dirty="0">
                          <a:solidFill>
                            <a:schemeClr val="bg1"/>
                          </a:solidFill>
                          <a:effectLst/>
                        </a:rPr>
                        <a:t>0.93</a:t>
                      </a:r>
                      <a:endParaRPr lang="en-US" sz="2400" b="1" i="0" u="none" strike="noStrike" baseline="0" dirty="0">
                        <a:solidFill>
                          <a:schemeClr val="bg1"/>
                        </a:solidFill>
                        <a:effectLst/>
                        <a:latin typeface="Calibri" panose="020F0502020204030204" pitchFamily="34" charset="0"/>
                      </a:endParaRPr>
                    </a:p>
                  </a:txBody>
                  <a:tcPr marL="3468" marR="3468" marT="3468" marB="0" anchor="b">
                    <a:solidFill>
                      <a:srgbClr val="42121A"/>
                    </a:solidFill>
                  </a:tcPr>
                </a:tc>
                <a:extLst>
                  <a:ext uri="{0D108BD9-81ED-4DB2-BD59-A6C34878D82A}">
                    <a16:rowId xmlns:a16="http://schemas.microsoft.com/office/drawing/2014/main" val="3886272313"/>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5219450" y="310579"/>
            <a:ext cx="7039807" cy="718121"/>
          </a:xfrm>
          <a:prstGeom prst="rect">
            <a:avLst/>
          </a:prstGeom>
        </p:spPr>
        <p:txBody>
          <a:bodyPr lIns="0" tIns="0" rIns="0" bIns="0" rtlCol="0" anchor="t">
            <a:spAutoFit/>
          </a:bodyPr>
          <a:lstStyle/>
          <a:p>
            <a:pPr algn="ctr">
              <a:lnSpc>
                <a:spcPts val="4957"/>
              </a:lnSpc>
            </a:pPr>
            <a:r>
              <a:rPr lang="en-US" sz="5217" b="1" spc="-219">
                <a:solidFill>
                  <a:srgbClr val="F4F4F4"/>
                </a:solidFill>
                <a:latin typeface="Poppins Medium"/>
                <a:ea typeface="Poppins Medium"/>
                <a:cs typeface="Poppins Medium"/>
                <a:sym typeface="Poppins Medium"/>
              </a:rPr>
              <a:t>Modelling &amp; Evaluation</a:t>
            </a:r>
          </a:p>
        </p:txBody>
      </p:sp>
      <p:sp>
        <p:nvSpPr>
          <p:cNvPr id="3" name="TextBox 3"/>
          <p:cNvSpPr txBox="1"/>
          <p:nvPr/>
        </p:nvSpPr>
        <p:spPr>
          <a:xfrm>
            <a:off x="0" y="1463478"/>
            <a:ext cx="18288000" cy="8722161"/>
          </a:xfrm>
          <a:prstGeom prst="rect">
            <a:avLst/>
          </a:prstGeom>
        </p:spPr>
        <p:txBody>
          <a:bodyPr lIns="0" tIns="0" rIns="0" bIns="0" rtlCol="0" anchor="t">
            <a:spAutoFit/>
          </a:bodyPr>
          <a:lstStyle/>
          <a:p>
            <a:pPr algn="just">
              <a:lnSpc>
                <a:spcPts val="3895"/>
              </a:lnSpc>
            </a:pPr>
            <a:r>
              <a:rPr lang="en-US" sz="2782" b="1">
                <a:solidFill>
                  <a:srgbClr val="F4F4F4"/>
                </a:solidFill>
                <a:latin typeface="Inter Bold"/>
                <a:ea typeface="Inter Bold"/>
                <a:cs typeface="Inter Bold"/>
                <a:sym typeface="Inter Bold"/>
              </a:rPr>
              <a:t> </a:t>
            </a:r>
            <a:r>
              <a:rPr lang="en-US" sz="2782">
                <a:solidFill>
                  <a:srgbClr val="F4F4F4"/>
                </a:solidFill>
                <a:latin typeface="Inter"/>
                <a:ea typeface="Inter"/>
                <a:cs typeface="Inter"/>
                <a:sym typeface="Inter"/>
              </a:rPr>
              <a:t>Seven classification models were trained to predict wine cultivars based on chemical properties.</a:t>
            </a:r>
          </a:p>
          <a:p>
            <a:pPr algn="just">
              <a:lnSpc>
                <a:spcPts val="3895"/>
              </a:lnSpc>
            </a:pPr>
            <a:r>
              <a:rPr lang="en-US" sz="2782">
                <a:solidFill>
                  <a:srgbClr val="F4F4F4"/>
                </a:solidFill>
                <a:latin typeface="Inter"/>
                <a:ea typeface="Inter"/>
                <a:cs typeface="Inter"/>
                <a:sym typeface="Inter"/>
              </a:rPr>
              <a:t> </a:t>
            </a:r>
          </a:p>
          <a:p>
            <a:pPr algn="just">
              <a:lnSpc>
                <a:spcPts val="3895"/>
              </a:lnSpc>
            </a:pPr>
            <a:r>
              <a:rPr lang="en-US" sz="2782">
                <a:solidFill>
                  <a:srgbClr val="F4F4F4"/>
                </a:solidFill>
                <a:latin typeface="Inter"/>
                <a:ea typeface="Inter"/>
                <a:cs typeface="Inter"/>
                <a:sym typeface="Inter"/>
              </a:rPr>
              <a:t>The top-performing models—KNN, SVM, and Logistic Regression (full features)—each achieved 98% accuracy, demonstrating excellent precision and recall across all classes.</a:t>
            </a:r>
          </a:p>
          <a:p>
            <a:pPr algn="just">
              <a:lnSpc>
                <a:spcPts val="3895"/>
              </a:lnSpc>
            </a:pPr>
            <a:endParaRPr lang="en-US" sz="2782">
              <a:solidFill>
                <a:srgbClr val="F4F4F4"/>
              </a:solidFill>
              <a:latin typeface="Inter"/>
              <a:ea typeface="Inter"/>
              <a:cs typeface="Inter"/>
              <a:sym typeface="Inter"/>
            </a:endParaRPr>
          </a:p>
          <a:p>
            <a:pPr algn="just">
              <a:lnSpc>
                <a:spcPts val="3895"/>
              </a:lnSpc>
            </a:pPr>
            <a:r>
              <a:rPr lang="en-US" sz="2782">
                <a:solidFill>
                  <a:srgbClr val="F4F4F4"/>
                </a:solidFill>
                <a:latin typeface="Inter"/>
                <a:ea typeface="Inter"/>
                <a:cs typeface="Inter"/>
                <a:sym typeface="Inter"/>
              </a:rPr>
              <a:t>Models using Recursive Feature Elimination (RFE) and PCA maintained high performance (96% accuracy), supporting the objective of reducing lab testing costs while preserving accuracy.</a:t>
            </a:r>
          </a:p>
          <a:p>
            <a:pPr algn="just">
              <a:lnSpc>
                <a:spcPts val="3895"/>
              </a:lnSpc>
            </a:pPr>
            <a:r>
              <a:rPr lang="en-US" sz="2782">
                <a:solidFill>
                  <a:srgbClr val="F4F4F4"/>
                </a:solidFill>
                <a:latin typeface="Inter"/>
                <a:ea typeface="Inter"/>
                <a:cs typeface="Inter"/>
                <a:sym typeface="Inter"/>
              </a:rPr>
              <a:t>Although Decision Tree performed reasonably well, Random Forest showed lower accuracy (93%), likely due to overfitting or class imbalance. </a:t>
            </a:r>
          </a:p>
          <a:p>
            <a:pPr algn="just">
              <a:lnSpc>
                <a:spcPts val="3895"/>
              </a:lnSpc>
            </a:pPr>
            <a:endParaRPr lang="en-US" sz="2782">
              <a:solidFill>
                <a:srgbClr val="F4F4F4"/>
              </a:solidFill>
              <a:latin typeface="Inter"/>
              <a:ea typeface="Inter"/>
              <a:cs typeface="Inter"/>
              <a:sym typeface="Inter"/>
            </a:endParaRPr>
          </a:p>
          <a:p>
            <a:pPr algn="just">
              <a:lnSpc>
                <a:spcPts val="3895"/>
              </a:lnSpc>
              <a:spcBef>
                <a:spcPct val="0"/>
              </a:spcBef>
            </a:pPr>
            <a:r>
              <a:rPr lang="en-US" sz="2782">
                <a:solidFill>
                  <a:srgbClr val="F4F4F4"/>
                </a:solidFill>
                <a:latin typeface="Inter"/>
                <a:ea typeface="Inter"/>
                <a:cs typeface="Inter"/>
                <a:sym typeface="Inter"/>
              </a:rPr>
              <a:t>Overall, the results confirm that wine cultivars are highly distinguishable through machine learning, with SVM and Logistic Regression emerging as ideal choices for automation due to their balance of performance, interpretability, and efficiency.</a:t>
            </a:r>
          </a:p>
          <a:p>
            <a:pPr algn="just">
              <a:lnSpc>
                <a:spcPts val="3895"/>
              </a:lnSpc>
              <a:spcBef>
                <a:spcPct val="0"/>
              </a:spcBef>
            </a:pPr>
            <a:endParaRPr lang="en-US" sz="2782">
              <a:solidFill>
                <a:srgbClr val="F4F4F4"/>
              </a:solidFill>
              <a:latin typeface="Inter"/>
              <a:ea typeface="Inter"/>
              <a:cs typeface="Inter"/>
              <a:sym typeface="Inter"/>
            </a:endParaRPr>
          </a:p>
          <a:p>
            <a:pPr algn="just">
              <a:lnSpc>
                <a:spcPts val="3895"/>
              </a:lnSpc>
              <a:spcBef>
                <a:spcPct val="0"/>
              </a:spcBef>
            </a:pPr>
            <a:r>
              <a:rPr lang="en-US" sz="2782">
                <a:solidFill>
                  <a:srgbClr val="F4F4F4"/>
                </a:solidFill>
                <a:latin typeface="Inter"/>
                <a:ea typeface="Inter"/>
                <a:cs typeface="Inter"/>
                <a:sym typeface="Inter"/>
              </a:rPr>
              <a:t>The modeling results show that machine learning can be effectively used for wine classification with fewer chemical tests, offering clear cost and time savings. Even with reduced features, model performance remained high</a:t>
            </a:r>
          </a:p>
          <a:p>
            <a:pPr algn="just">
              <a:lnSpc>
                <a:spcPts val="3756"/>
              </a:lnSpc>
              <a:spcBef>
                <a:spcPct val="0"/>
              </a:spcBef>
            </a:pPr>
            <a:endParaRPr lang="en-US" sz="2782">
              <a:solidFill>
                <a:srgbClr val="F4F4F4"/>
              </a:solidFill>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5660492" y="454644"/>
            <a:ext cx="6967016" cy="938221"/>
          </a:xfrm>
          <a:prstGeom prst="rect">
            <a:avLst/>
          </a:prstGeom>
        </p:spPr>
        <p:txBody>
          <a:bodyPr lIns="0" tIns="0" rIns="0" bIns="0" rtlCol="0" anchor="t">
            <a:spAutoFit/>
          </a:bodyPr>
          <a:lstStyle/>
          <a:p>
            <a:pPr algn="l">
              <a:lnSpc>
                <a:spcPts val="6412"/>
              </a:lnSpc>
            </a:pPr>
            <a:r>
              <a:rPr lang="en-US" sz="6750" b="1" spc="-283">
                <a:solidFill>
                  <a:srgbClr val="F4F4F4"/>
                </a:solidFill>
                <a:latin typeface="Poppins Medium"/>
                <a:ea typeface="Poppins Medium"/>
                <a:cs typeface="Poppins Medium"/>
                <a:sym typeface="Poppins Medium"/>
              </a:rPr>
              <a:t>Results &amp; Insights</a:t>
            </a:r>
          </a:p>
        </p:txBody>
      </p:sp>
      <p:sp>
        <p:nvSpPr>
          <p:cNvPr id="3" name="TextBox 3"/>
          <p:cNvSpPr txBox="1"/>
          <p:nvPr/>
        </p:nvSpPr>
        <p:spPr>
          <a:xfrm>
            <a:off x="0" y="1852295"/>
            <a:ext cx="18288000" cy="8434705"/>
          </a:xfrm>
          <a:prstGeom prst="rect">
            <a:avLst/>
          </a:prstGeom>
        </p:spPr>
        <p:txBody>
          <a:bodyPr lIns="0" tIns="0" rIns="0" bIns="0" rtlCol="0" anchor="t">
            <a:spAutoFit/>
          </a:bodyPr>
          <a:lstStyle/>
          <a:p>
            <a:pPr algn="just">
              <a:lnSpc>
                <a:spcPts val="3499"/>
              </a:lnSpc>
            </a:pPr>
            <a:r>
              <a:rPr lang="en-US" sz="2499" b="1">
                <a:solidFill>
                  <a:srgbClr val="F4F4F4"/>
                </a:solidFill>
                <a:latin typeface="Inter Bold"/>
                <a:ea typeface="Inter Bold"/>
                <a:cs typeface="Inter Bold"/>
                <a:sym typeface="Inter Bold"/>
              </a:rPr>
              <a:t>Key Findings from the Model</a:t>
            </a:r>
          </a:p>
          <a:p>
            <a:pPr marL="539745" lvl="1" indent="-269872" algn="just">
              <a:lnSpc>
                <a:spcPts val="3499"/>
              </a:lnSpc>
              <a:buFont typeface="Arial"/>
              <a:buChar char="•"/>
            </a:pPr>
            <a:r>
              <a:rPr lang="en-US" sz="2499">
                <a:solidFill>
                  <a:srgbClr val="F4F4F4"/>
                </a:solidFill>
                <a:latin typeface="Inter Extra-Light"/>
                <a:ea typeface="Inter Extra-Light"/>
                <a:cs typeface="Inter Extra-Light"/>
                <a:sym typeface="Inter Extra-Light"/>
              </a:rPr>
              <a:t>All models achieved high accuracy (above 92%), with KNN performing best at 98.1%, showing that the dataset is highly classifiable.</a:t>
            </a:r>
          </a:p>
          <a:p>
            <a:pPr algn="just">
              <a:lnSpc>
                <a:spcPts val="3499"/>
              </a:lnSpc>
            </a:pPr>
            <a:endParaRPr lang="en-US" sz="2499">
              <a:solidFill>
                <a:srgbClr val="F4F4F4"/>
              </a:solidFill>
              <a:latin typeface="Inter Extra-Light"/>
              <a:ea typeface="Inter Extra-Light"/>
              <a:cs typeface="Inter Extra-Light"/>
              <a:sym typeface="Inter Extra-Light"/>
            </a:endParaRPr>
          </a:p>
          <a:p>
            <a:pPr marL="539745" lvl="1" indent="-269872" algn="just">
              <a:lnSpc>
                <a:spcPts val="3499"/>
              </a:lnSpc>
              <a:buFont typeface="Arial"/>
              <a:buChar char="•"/>
            </a:pPr>
            <a:r>
              <a:rPr lang="en-US" sz="2499">
                <a:solidFill>
                  <a:srgbClr val="F4F4F4"/>
                </a:solidFill>
                <a:latin typeface="Inter Extra-Light"/>
                <a:ea typeface="Inter Extra-Light"/>
                <a:cs typeface="Inter Extra-Light"/>
                <a:sym typeface="Inter Extra-Light"/>
              </a:rPr>
              <a:t>Top contributing features identified were Proline, Flavanoids, Color Intensity, and OD280/OD315, which significantly influenced classification.</a:t>
            </a:r>
          </a:p>
          <a:p>
            <a:pPr algn="just">
              <a:lnSpc>
                <a:spcPts val="3499"/>
              </a:lnSpc>
            </a:pPr>
            <a:endParaRPr lang="en-US" sz="2499">
              <a:solidFill>
                <a:srgbClr val="F4F4F4"/>
              </a:solidFill>
              <a:latin typeface="Inter Extra-Light"/>
              <a:ea typeface="Inter Extra-Light"/>
              <a:cs typeface="Inter Extra-Light"/>
              <a:sym typeface="Inter Extra-Light"/>
            </a:endParaRPr>
          </a:p>
          <a:p>
            <a:pPr algn="just">
              <a:lnSpc>
                <a:spcPts val="3499"/>
              </a:lnSpc>
            </a:pPr>
            <a:r>
              <a:rPr lang="en-US" sz="2499" b="1">
                <a:solidFill>
                  <a:srgbClr val="F4F4F4"/>
                </a:solidFill>
                <a:latin typeface="Inter Bold"/>
                <a:ea typeface="Inter Bold"/>
                <a:cs typeface="Inter Bold"/>
                <a:sym typeface="Inter Bold"/>
              </a:rPr>
              <a:t> Patterns or Relationships Discovered</a:t>
            </a:r>
          </a:p>
          <a:p>
            <a:pPr marL="539745" lvl="1" indent="-269872" algn="just">
              <a:lnSpc>
                <a:spcPts val="3499"/>
              </a:lnSpc>
              <a:buFont typeface="Arial"/>
              <a:buChar char="•"/>
            </a:pPr>
            <a:r>
              <a:rPr lang="en-US" sz="2499">
                <a:solidFill>
                  <a:srgbClr val="F4F4F4"/>
                </a:solidFill>
                <a:latin typeface="Inter Extra-Light"/>
                <a:ea typeface="Inter Extra-Light"/>
                <a:cs typeface="Inter Extra-Light"/>
                <a:sym typeface="Inter Extra-Light"/>
              </a:rPr>
              <a:t>Wines from Cultivar 0 generally have higher Proline and Flavanoids, making them easier to distinguish.</a:t>
            </a:r>
          </a:p>
          <a:p>
            <a:pPr algn="just">
              <a:lnSpc>
                <a:spcPts val="3499"/>
              </a:lnSpc>
            </a:pPr>
            <a:endParaRPr lang="en-US" sz="2499">
              <a:solidFill>
                <a:srgbClr val="F4F4F4"/>
              </a:solidFill>
              <a:latin typeface="Inter Extra-Light"/>
              <a:ea typeface="Inter Extra-Light"/>
              <a:cs typeface="Inter Extra-Light"/>
              <a:sym typeface="Inter Extra-Light"/>
            </a:endParaRPr>
          </a:p>
          <a:p>
            <a:pPr marL="539745" lvl="1" indent="-269872" algn="just">
              <a:lnSpc>
                <a:spcPts val="3499"/>
              </a:lnSpc>
              <a:buFont typeface="Arial"/>
              <a:buChar char="•"/>
            </a:pPr>
            <a:r>
              <a:rPr lang="en-US" sz="2499">
                <a:solidFill>
                  <a:srgbClr val="F4F4F4"/>
                </a:solidFill>
                <a:latin typeface="Inter Extra-Light"/>
                <a:ea typeface="Inter Extra-Light"/>
                <a:cs typeface="Inter Extra-Light"/>
                <a:sym typeface="Inter Extra-Light"/>
              </a:rPr>
              <a:t>Cultivar 2 stands out with higher Color Intensity and lower OD280/OD315, helping separate it from the others.</a:t>
            </a:r>
          </a:p>
          <a:p>
            <a:pPr algn="just">
              <a:lnSpc>
                <a:spcPts val="3499"/>
              </a:lnSpc>
            </a:pPr>
            <a:endParaRPr lang="en-US" sz="2499">
              <a:solidFill>
                <a:srgbClr val="F4F4F4"/>
              </a:solidFill>
              <a:latin typeface="Inter Extra-Light"/>
              <a:ea typeface="Inter Extra-Light"/>
              <a:cs typeface="Inter Extra-Light"/>
              <a:sym typeface="Inter Extra-Light"/>
            </a:endParaRPr>
          </a:p>
          <a:p>
            <a:pPr marL="539745" lvl="1" indent="-269872" algn="just">
              <a:lnSpc>
                <a:spcPts val="3499"/>
              </a:lnSpc>
              <a:buFont typeface="Arial"/>
              <a:buChar char="•"/>
            </a:pPr>
            <a:r>
              <a:rPr lang="en-US" sz="2499">
                <a:solidFill>
                  <a:srgbClr val="F4F4F4"/>
                </a:solidFill>
                <a:latin typeface="Inter Extra-Light"/>
                <a:ea typeface="Inter Extra-Light"/>
                <a:cs typeface="Inter Extra-Light"/>
                <a:sym typeface="Inter Extra-Light"/>
              </a:rPr>
              <a:t>Strong positive correlation found between Total Phenols and Flavanoids (r = 0.86), indicating a shared chemical trait.</a:t>
            </a:r>
          </a:p>
          <a:p>
            <a:pPr algn="just">
              <a:lnSpc>
                <a:spcPts val="3499"/>
              </a:lnSpc>
            </a:pPr>
            <a:endParaRPr lang="en-US" sz="2499">
              <a:solidFill>
                <a:srgbClr val="F4F4F4"/>
              </a:solidFill>
              <a:latin typeface="Inter Extra-Light"/>
              <a:ea typeface="Inter Extra-Light"/>
              <a:cs typeface="Inter Extra-Light"/>
              <a:sym typeface="Inter Extra-Light"/>
            </a:endParaRPr>
          </a:p>
          <a:p>
            <a:pPr algn="just">
              <a:lnSpc>
                <a:spcPts val="3499"/>
              </a:lnSpc>
            </a:pPr>
            <a:r>
              <a:rPr lang="en-US" sz="2499" b="1">
                <a:solidFill>
                  <a:srgbClr val="F4F4F4"/>
                </a:solidFill>
                <a:latin typeface="Inter Bold"/>
                <a:ea typeface="Inter Bold"/>
                <a:cs typeface="Inter Bold"/>
                <a:sym typeface="Inter Bold"/>
              </a:rPr>
              <a:t>Business or Domain Interpretation</a:t>
            </a:r>
          </a:p>
          <a:p>
            <a:pPr algn="just">
              <a:lnSpc>
                <a:spcPts val="3499"/>
              </a:lnSpc>
            </a:pPr>
            <a:endParaRPr lang="en-US" sz="2499" b="1">
              <a:solidFill>
                <a:srgbClr val="F4F4F4"/>
              </a:solidFill>
              <a:latin typeface="Inter Bold"/>
              <a:ea typeface="Inter Bold"/>
              <a:cs typeface="Inter Bold"/>
              <a:sym typeface="Inter Bold"/>
            </a:endParaRPr>
          </a:p>
          <a:p>
            <a:pPr marL="539745" lvl="1" indent="-269872" algn="just">
              <a:lnSpc>
                <a:spcPts val="3499"/>
              </a:lnSpc>
              <a:buFont typeface="Arial"/>
              <a:buChar char="•"/>
            </a:pPr>
            <a:r>
              <a:rPr lang="en-US" sz="2499">
                <a:solidFill>
                  <a:srgbClr val="F4F4F4"/>
                </a:solidFill>
                <a:latin typeface="Inter Extra-Light"/>
                <a:ea typeface="Inter Extra-Light"/>
                <a:cs typeface="Inter Extra-Light"/>
                <a:sym typeface="Inter Extra-Light"/>
              </a:rPr>
              <a:t>Chemical composition can be used reliably to automate wine classification, supporting quality control and vineyard management.</a:t>
            </a:r>
          </a:p>
          <a:p>
            <a:pPr algn="just">
              <a:lnSpc>
                <a:spcPts val="2239"/>
              </a:lnSpc>
              <a:spcBef>
                <a:spcPct val="0"/>
              </a:spcBef>
            </a:pPr>
            <a:endParaRPr lang="en-US" sz="2499">
              <a:solidFill>
                <a:srgbClr val="F4F4F4"/>
              </a:solidFill>
              <a:latin typeface="Inter Extra-Light"/>
              <a:ea typeface="Inter Extra-Light"/>
              <a:cs typeface="Inter Extra-Light"/>
              <a:sym typeface="Inter Extra-Light"/>
            </a:endParaRPr>
          </a:p>
          <a:p>
            <a:pPr algn="just">
              <a:lnSpc>
                <a:spcPts val="2239"/>
              </a:lnSpc>
              <a:spcBef>
                <a:spcPct val="0"/>
              </a:spcBef>
            </a:pPr>
            <a:endParaRPr lang="en-US" sz="2499">
              <a:solidFill>
                <a:srgbClr val="F4F4F4"/>
              </a:solidFill>
              <a:latin typeface="Inter Extra-Light"/>
              <a:ea typeface="Inter Extra-Light"/>
              <a:cs typeface="Inter Extra-Light"/>
              <a:sym typeface="Inter Extra-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5385673" y="104775"/>
            <a:ext cx="7926330" cy="943545"/>
          </a:xfrm>
          <a:prstGeom prst="rect">
            <a:avLst/>
          </a:prstGeom>
        </p:spPr>
        <p:txBody>
          <a:bodyPr lIns="0" tIns="0" rIns="0" bIns="0" rtlCol="0" anchor="t">
            <a:spAutoFit/>
          </a:bodyPr>
          <a:lstStyle/>
          <a:p>
            <a:pPr algn="ctr">
              <a:lnSpc>
                <a:spcPts val="6572"/>
              </a:lnSpc>
            </a:pPr>
            <a:r>
              <a:rPr lang="en-US" sz="6917" b="1" spc="-290">
                <a:solidFill>
                  <a:srgbClr val="F4F4F4"/>
                </a:solidFill>
                <a:latin typeface="Poppins Medium"/>
                <a:ea typeface="Poppins Medium"/>
                <a:cs typeface="Poppins Medium"/>
                <a:sym typeface="Poppins Medium"/>
              </a:rPr>
              <a:t>Recommendations</a:t>
            </a:r>
          </a:p>
        </p:txBody>
      </p:sp>
      <p:sp>
        <p:nvSpPr>
          <p:cNvPr id="3" name="TextBox 3"/>
          <p:cNvSpPr txBox="1"/>
          <p:nvPr/>
        </p:nvSpPr>
        <p:spPr>
          <a:xfrm>
            <a:off x="0" y="2312075"/>
            <a:ext cx="18265850" cy="7938095"/>
          </a:xfrm>
          <a:prstGeom prst="rect">
            <a:avLst/>
          </a:prstGeom>
        </p:spPr>
        <p:txBody>
          <a:bodyPr lIns="0" tIns="0" rIns="0" bIns="0" rtlCol="0" anchor="t">
            <a:spAutoFit/>
          </a:bodyPr>
          <a:lstStyle/>
          <a:p>
            <a:pPr algn="just">
              <a:lnSpc>
                <a:spcPts val="4062"/>
              </a:lnSpc>
            </a:pPr>
            <a:r>
              <a:rPr lang="en-US" sz="2901" b="1">
                <a:solidFill>
                  <a:srgbClr val="F4F4F4"/>
                </a:solidFill>
                <a:latin typeface="Inter Bold"/>
                <a:ea typeface="Inter Bold"/>
                <a:cs typeface="Inter Bold"/>
                <a:sym typeface="Inter Bold"/>
              </a:rPr>
              <a:t> 📌 What Should Stakeholders Do?</a:t>
            </a:r>
          </a:p>
          <a:p>
            <a:pPr marL="604860" lvl="1" indent="-302430" algn="just">
              <a:lnSpc>
                <a:spcPts val="3922"/>
              </a:lnSpc>
              <a:buFont typeface="Arial"/>
              <a:buChar char="•"/>
            </a:pPr>
            <a:r>
              <a:rPr lang="en-US" sz="2801">
                <a:solidFill>
                  <a:srgbClr val="F4F4F4"/>
                </a:solidFill>
                <a:latin typeface="Inter"/>
                <a:ea typeface="Inter"/>
                <a:cs typeface="Inter"/>
                <a:sym typeface="Inter"/>
              </a:rPr>
              <a:t>Adopt automated classification using SVM or Logistic Regression for consistent, high-accuracy predictions.</a:t>
            </a:r>
          </a:p>
          <a:p>
            <a:pPr algn="just">
              <a:lnSpc>
                <a:spcPts val="3922"/>
              </a:lnSpc>
            </a:pPr>
            <a:endParaRPr lang="en-US" sz="2801">
              <a:solidFill>
                <a:srgbClr val="F4F4F4"/>
              </a:solidFill>
              <a:latin typeface="Inter"/>
              <a:ea typeface="Inter"/>
              <a:cs typeface="Inter"/>
              <a:sym typeface="Inter"/>
            </a:endParaRPr>
          </a:p>
          <a:p>
            <a:pPr marL="604860" lvl="1" indent="-302430" algn="just">
              <a:lnSpc>
                <a:spcPts val="3922"/>
              </a:lnSpc>
              <a:buFont typeface="Arial"/>
              <a:buChar char="•"/>
            </a:pPr>
            <a:r>
              <a:rPr lang="en-US" sz="2801">
                <a:solidFill>
                  <a:srgbClr val="F4F4F4"/>
                </a:solidFill>
                <a:latin typeface="Inter"/>
                <a:ea typeface="Inter"/>
                <a:cs typeface="Inter"/>
                <a:sym typeface="Inter"/>
              </a:rPr>
              <a:t>Reduce the number of chemical tests by focusing on the most predictive features (e.g., Flavanoids, Proline, OD280/OD315).</a:t>
            </a:r>
          </a:p>
          <a:p>
            <a:pPr algn="just">
              <a:lnSpc>
                <a:spcPts val="3922"/>
              </a:lnSpc>
            </a:pPr>
            <a:endParaRPr lang="en-US" sz="2801">
              <a:solidFill>
                <a:srgbClr val="F4F4F4"/>
              </a:solidFill>
              <a:latin typeface="Inter"/>
              <a:ea typeface="Inter"/>
              <a:cs typeface="Inter"/>
              <a:sym typeface="Inter"/>
            </a:endParaRPr>
          </a:p>
          <a:p>
            <a:pPr algn="just">
              <a:lnSpc>
                <a:spcPts val="3922"/>
              </a:lnSpc>
            </a:pPr>
            <a:r>
              <a:rPr lang="en-US" sz="2801" b="1">
                <a:solidFill>
                  <a:srgbClr val="F4F4F4"/>
                </a:solidFill>
                <a:latin typeface="Inter Bold"/>
                <a:ea typeface="Inter Bold"/>
                <a:cs typeface="Inter Bold"/>
                <a:sym typeface="Inter Bold"/>
              </a:rPr>
              <a:t>💡 Actionable Insights from Data</a:t>
            </a:r>
          </a:p>
          <a:p>
            <a:pPr marL="604860" lvl="1" indent="-302430" algn="just">
              <a:lnSpc>
                <a:spcPts val="3922"/>
              </a:lnSpc>
              <a:buFont typeface="Arial"/>
              <a:buChar char="•"/>
            </a:pPr>
            <a:r>
              <a:rPr lang="en-US" sz="2801">
                <a:solidFill>
                  <a:srgbClr val="F4F4F4"/>
                </a:solidFill>
                <a:latin typeface="Inter"/>
                <a:ea typeface="Inter"/>
                <a:cs typeface="Inter"/>
                <a:sym typeface="Inter"/>
              </a:rPr>
              <a:t>Implement a cost-efficient lab protocol using selected features without compromising classification performance.</a:t>
            </a:r>
          </a:p>
          <a:p>
            <a:pPr algn="just">
              <a:lnSpc>
                <a:spcPts val="3922"/>
              </a:lnSpc>
            </a:pPr>
            <a:endParaRPr lang="en-US" sz="2801">
              <a:solidFill>
                <a:srgbClr val="F4F4F4"/>
              </a:solidFill>
              <a:latin typeface="Inter"/>
              <a:ea typeface="Inter"/>
              <a:cs typeface="Inter"/>
              <a:sym typeface="Inter"/>
            </a:endParaRPr>
          </a:p>
          <a:p>
            <a:pPr marL="604860" lvl="1" indent="-302430" algn="just">
              <a:lnSpc>
                <a:spcPts val="3922"/>
              </a:lnSpc>
              <a:buFont typeface="Arial"/>
              <a:buChar char="•"/>
            </a:pPr>
            <a:r>
              <a:rPr lang="en-US" sz="2801">
                <a:solidFill>
                  <a:srgbClr val="F4F4F4"/>
                </a:solidFill>
                <a:latin typeface="Inter"/>
                <a:ea typeface="Inter"/>
                <a:cs typeface="Inter"/>
                <a:sym typeface="Inter"/>
              </a:rPr>
              <a:t>Use PCA-based visual reports for internal communication and training, helping non-technical teams understand cultivar separation.</a:t>
            </a:r>
          </a:p>
          <a:p>
            <a:pPr algn="just">
              <a:lnSpc>
                <a:spcPts val="3922"/>
              </a:lnSpc>
            </a:pPr>
            <a:endParaRPr lang="en-US" sz="2801">
              <a:solidFill>
                <a:srgbClr val="F4F4F4"/>
              </a:solidFill>
              <a:latin typeface="Inter"/>
              <a:ea typeface="Inter"/>
              <a:cs typeface="Inter"/>
              <a:sym typeface="Inter"/>
            </a:endParaRPr>
          </a:p>
          <a:p>
            <a:pPr marL="604860" lvl="1" indent="-302430" algn="just">
              <a:lnSpc>
                <a:spcPts val="3922"/>
              </a:lnSpc>
              <a:spcBef>
                <a:spcPct val="0"/>
              </a:spcBef>
              <a:buFont typeface="Arial"/>
              <a:buChar char="•"/>
            </a:pPr>
            <a:r>
              <a:rPr lang="en-US" sz="2801">
                <a:solidFill>
                  <a:srgbClr val="F4F4F4"/>
                </a:solidFill>
                <a:latin typeface="Inter"/>
                <a:ea typeface="Inter"/>
                <a:cs typeface="Inter"/>
                <a:sym typeface="Inter"/>
              </a:rPr>
              <a:t>Continuously monitor model performance to ensure real-world accuracy remains high post-deployment.</a:t>
            </a:r>
          </a:p>
          <a:p>
            <a:pPr algn="just">
              <a:lnSpc>
                <a:spcPts val="3922"/>
              </a:lnSpc>
              <a:spcBef>
                <a:spcPct val="0"/>
              </a:spcBef>
            </a:pPr>
            <a:endParaRPr lang="en-US" sz="2801">
              <a:solidFill>
                <a:srgbClr val="F4F4F4"/>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TextBox 2"/>
          <p:cNvSpPr txBox="1"/>
          <p:nvPr/>
        </p:nvSpPr>
        <p:spPr>
          <a:xfrm>
            <a:off x="5623465" y="114300"/>
            <a:ext cx="6265362" cy="1185862"/>
          </a:xfrm>
          <a:prstGeom prst="rect">
            <a:avLst/>
          </a:prstGeom>
        </p:spPr>
        <p:txBody>
          <a:bodyPr lIns="0" tIns="0" rIns="0" bIns="0" rtlCol="0" anchor="t">
            <a:spAutoFit/>
          </a:bodyPr>
          <a:lstStyle/>
          <a:p>
            <a:pPr algn="l">
              <a:lnSpc>
                <a:spcPts val="8122"/>
              </a:lnSpc>
            </a:pPr>
            <a:r>
              <a:rPr lang="en-US" sz="8550" b="1" spc="-359">
                <a:solidFill>
                  <a:srgbClr val="F4F4F4"/>
                </a:solidFill>
                <a:latin typeface="Poppins Medium"/>
                <a:ea typeface="Poppins Medium"/>
                <a:cs typeface="Poppins Medium"/>
                <a:sym typeface="Poppins Medium"/>
              </a:rPr>
              <a:t>Conclusions</a:t>
            </a:r>
          </a:p>
        </p:txBody>
      </p:sp>
      <p:sp>
        <p:nvSpPr>
          <p:cNvPr id="3" name="TextBox 3"/>
          <p:cNvSpPr txBox="1"/>
          <p:nvPr/>
        </p:nvSpPr>
        <p:spPr>
          <a:xfrm>
            <a:off x="0" y="2286000"/>
            <a:ext cx="18288000" cy="8001000"/>
          </a:xfrm>
          <a:prstGeom prst="rect">
            <a:avLst/>
          </a:prstGeom>
        </p:spPr>
        <p:txBody>
          <a:bodyPr lIns="0" tIns="0" rIns="0" bIns="0" rtlCol="0" anchor="t">
            <a:spAutoFit/>
          </a:bodyPr>
          <a:lstStyle/>
          <a:p>
            <a:pPr algn="just">
              <a:lnSpc>
                <a:spcPts val="4059"/>
              </a:lnSpc>
            </a:pPr>
            <a:r>
              <a:rPr lang="en-US" sz="2899">
                <a:solidFill>
                  <a:srgbClr val="F4F4F4"/>
                </a:solidFill>
                <a:latin typeface="Inter Extra-Light"/>
                <a:ea typeface="Inter Extra-Light"/>
                <a:cs typeface="Inter Extra-Light"/>
                <a:sym typeface="Inter Extra-Light"/>
              </a:rPr>
              <a:t>🔁</a:t>
            </a:r>
            <a:r>
              <a:rPr lang="en-US" sz="2899" b="1">
                <a:solidFill>
                  <a:srgbClr val="F4F4F4"/>
                </a:solidFill>
                <a:latin typeface="Inter Bold"/>
                <a:ea typeface="Inter Bold"/>
                <a:cs typeface="Inter Bold"/>
                <a:sym typeface="Inter Bold"/>
              </a:rPr>
              <a:t> Recap</a:t>
            </a:r>
          </a:p>
          <a:p>
            <a:pPr algn="just">
              <a:lnSpc>
                <a:spcPts val="4059"/>
              </a:lnSpc>
            </a:pPr>
            <a:r>
              <a:rPr lang="en-US" sz="2899">
                <a:solidFill>
                  <a:srgbClr val="F4F4F4"/>
                </a:solidFill>
                <a:latin typeface="Inter Extra-Light"/>
                <a:ea typeface="Inter Extra-Light"/>
                <a:cs typeface="Inter Extra-Light"/>
                <a:sym typeface="Inter Extra-Light"/>
              </a:rPr>
              <a:t>This project aimed to automate wine cultivar classification using chemical analysis data. We explored the dataset, applied feature selection and dimensionality reduction, and trained multiple machine learning models to identify the most accurate and efficient approach</a:t>
            </a:r>
          </a:p>
          <a:p>
            <a:pPr algn="just">
              <a:lnSpc>
                <a:spcPts val="4059"/>
              </a:lnSpc>
            </a:pPr>
            <a:endParaRPr lang="en-US" sz="2899">
              <a:solidFill>
                <a:srgbClr val="F4F4F4"/>
              </a:solidFill>
              <a:latin typeface="Inter Extra-Light"/>
              <a:ea typeface="Inter Extra-Light"/>
              <a:cs typeface="Inter Extra-Light"/>
              <a:sym typeface="Inter Extra-Light"/>
            </a:endParaRPr>
          </a:p>
          <a:p>
            <a:pPr algn="just">
              <a:lnSpc>
                <a:spcPts val="4059"/>
              </a:lnSpc>
            </a:pPr>
            <a:r>
              <a:rPr lang="en-US" sz="2899">
                <a:solidFill>
                  <a:srgbClr val="F4F4F4"/>
                </a:solidFill>
                <a:latin typeface="Inter Extra-Light"/>
                <a:ea typeface="Inter Extra-Light"/>
                <a:cs typeface="Inter Extra-Light"/>
                <a:sym typeface="Inter Extra-Light"/>
              </a:rPr>
              <a:t>🎯</a:t>
            </a:r>
            <a:r>
              <a:rPr lang="en-US" sz="2899" b="1">
                <a:solidFill>
                  <a:srgbClr val="F4F4F4"/>
                </a:solidFill>
                <a:latin typeface="Inter Bold"/>
                <a:ea typeface="Inter Bold"/>
                <a:cs typeface="Inter Bold"/>
                <a:sym typeface="Inter Bold"/>
              </a:rPr>
              <a:t> Key Takeaway</a:t>
            </a:r>
          </a:p>
          <a:p>
            <a:pPr algn="just">
              <a:lnSpc>
                <a:spcPts val="4059"/>
              </a:lnSpc>
            </a:pPr>
            <a:endParaRPr lang="en-US" sz="2899" b="1">
              <a:solidFill>
                <a:srgbClr val="F4F4F4"/>
              </a:solidFill>
              <a:latin typeface="Inter Bold"/>
              <a:ea typeface="Inter Bold"/>
              <a:cs typeface="Inter Bold"/>
              <a:sym typeface="Inter Bold"/>
            </a:endParaRPr>
          </a:p>
          <a:p>
            <a:pPr algn="just">
              <a:lnSpc>
                <a:spcPts val="4059"/>
              </a:lnSpc>
            </a:pPr>
            <a:r>
              <a:rPr lang="en-US" sz="2899">
                <a:solidFill>
                  <a:srgbClr val="F4F4F4"/>
                </a:solidFill>
                <a:latin typeface="Inter Extra-Light"/>
                <a:ea typeface="Inter Extra-Light"/>
                <a:cs typeface="Inter Extra-Light"/>
                <a:sym typeface="Inter Extra-Light"/>
              </a:rPr>
              <a:t>Accurate wine classification is achievable using fewer chemical tests, with models like SVM and Logistic Regression achieving up to 98% accuracy—supporting both automation and cost reduction.</a:t>
            </a:r>
          </a:p>
          <a:p>
            <a:pPr algn="just">
              <a:lnSpc>
                <a:spcPts val="4059"/>
              </a:lnSpc>
            </a:pPr>
            <a:endParaRPr lang="en-US" sz="2899">
              <a:solidFill>
                <a:srgbClr val="F4F4F4"/>
              </a:solidFill>
              <a:latin typeface="Inter Extra-Light"/>
              <a:ea typeface="Inter Extra-Light"/>
              <a:cs typeface="Inter Extra-Light"/>
              <a:sym typeface="Inter Extra-Light"/>
            </a:endParaRPr>
          </a:p>
          <a:p>
            <a:pPr algn="just">
              <a:lnSpc>
                <a:spcPts val="4059"/>
              </a:lnSpc>
            </a:pPr>
            <a:r>
              <a:rPr lang="en-US" sz="2899">
                <a:solidFill>
                  <a:srgbClr val="F4F4F4"/>
                </a:solidFill>
                <a:latin typeface="Inter Extra-Light"/>
                <a:ea typeface="Inter Extra-Light"/>
                <a:cs typeface="Inter Extra-Light"/>
                <a:sym typeface="Inter Extra-Light"/>
              </a:rPr>
              <a:t>📝</a:t>
            </a:r>
            <a:r>
              <a:rPr lang="en-US" sz="2899" b="1">
                <a:solidFill>
                  <a:srgbClr val="F4F4F4"/>
                </a:solidFill>
                <a:latin typeface="Inter Bold"/>
                <a:ea typeface="Inter Bold"/>
                <a:cs typeface="Inter Bold"/>
                <a:sym typeface="Inter Bold"/>
              </a:rPr>
              <a:t> Final Remarks</a:t>
            </a:r>
          </a:p>
          <a:p>
            <a:pPr algn="just">
              <a:lnSpc>
                <a:spcPts val="4059"/>
              </a:lnSpc>
            </a:pPr>
            <a:endParaRPr lang="en-US" sz="2899" b="1">
              <a:solidFill>
                <a:srgbClr val="F4F4F4"/>
              </a:solidFill>
              <a:latin typeface="Inter Bold"/>
              <a:ea typeface="Inter Bold"/>
              <a:cs typeface="Inter Bold"/>
              <a:sym typeface="Inter Bold"/>
            </a:endParaRPr>
          </a:p>
          <a:p>
            <a:pPr algn="just">
              <a:lnSpc>
                <a:spcPts val="4059"/>
              </a:lnSpc>
              <a:spcBef>
                <a:spcPct val="0"/>
              </a:spcBef>
            </a:pPr>
            <a:r>
              <a:rPr lang="en-US" sz="2899">
                <a:solidFill>
                  <a:srgbClr val="F4F4F4"/>
                </a:solidFill>
                <a:latin typeface="Inter Extra-Light"/>
                <a:ea typeface="Inter Extra-Light"/>
                <a:cs typeface="Inter Extra-Light"/>
                <a:sym typeface="Inter Extra-Light"/>
              </a:rPr>
              <a:t>The results confirm that machine learning can streamline wine quality control. By focusing on the most informative features and maintaining regular model updates, the institute can ensure efficient, scalable, and reliable wine classification.</a:t>
            </a:r>
          </a:p>
          <a:p>
            <a:pPr algn="just">
              <a:lnSpc>
                <a:spcPts val="2239"/>
              </a:lnSpc>
              <a:spcBef>
                <a:spcPct val="0"/>
              </a:spcBef>
            </a:pPr>
            <a:endParaRPr lang="en-US" sz="2899">
              <a:solidFill>
                <a:srgbClr val="F4F4F4"/>
              </a:solidFill>
              <a:latin typeface="Inter Extra-Light"/>
              <a:ea typeface="Inter Extra-Light"/>
              <a:cs typeface="Inter Extra-Light"/>
              <a:sym typeface="Inter Extra-Ligh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6B1124">
                <a:alpha val="100000"/>
              </a:srgbClr>
            </a:gs>
            <a:gs pos="50000">
              <a:srgbClr val="000000">
                <a:alpha val="100000"/>
              </a:srgbClr>
            </a:gs>
            <a:gs pos="100000">
              <a:srgbClr val="6B1124">
                <a:alpha val="100000"/>
              </a:srgbClr>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 name="AutoShape 2"/>
          <p:cNvSpPr/>
          <p:nvPr/>
        </p:nvSpPr>
        <p:spPr>
          <a:xfrm flipV="1">
            <a:off x="0" y="6569683"/>
            <a:ext cx="18288000" cy="0"/>
          </a:xfrm>
          <a:prstGeom prst="line">
            <a:avLst/>
          </a:prstGeom>
          <a:ln w="9525" cap="rnd">
            <a:solidFill>
              <a:srgbClr val="F4F4F4"/>
            </a:solidFill>
            <a:prstDash val="solid"/>
            <a:headEnd type="none" w="sm" len="sm"/>
            <a:tailEnd type="none" w="sm" len="sm"/>
          </a:ln>
        </p:spPr>
      </p:sp>
      <p:grpSp>
        <p:nvGrpSpPr>
          <p:cNvPr id="3" name="Group 3"/>
          <p:cNvGrpSpPr/>
          <p:nvPr/>
        </p:nvGrpSpPr>
        <p:grpSpPr>
          <a:xfrm>
            <a:off x="12762529" y="8693324"/>
            <a:ext cx="4496771" cy="565767"/>
            <a:chOff x="0" y="0"/>
            <a:chExt cx="1184335" cy="149009"/>
          </a:xfrm>
        </p:grpSpPr>
        <p:sp>
          <p:nvSpPr>
            <p:cNvPr id="4" name="Freeform 4"/>
            <p:cNvSpPr/>
            <p:nvPr/>
          </p:nvSpPr>
          <p:spPr>
            <a:xfrm>
              <a:off x="0" y="0"/>
              <a:ext cx="1184335" cy="149009"/>
            </a:xfrm>
            <a:custGeom>
              <a:avLst/>
              <a:gdLst/>
              <a:ahLst/>
              <a:cxnLst/>
              <a:rect l="l" t="t" r="r" b="b"/>
              <a:pathLst>
                <a:path w="1184335" h="149009">
                  <a:moveTo>
                    <a:pt x="74504" y="0"/>
                  </a:moveTo>
                  <a:lnTo>
                    <a:pt x="1109831" y="0"/>
                  </a:lnTo>
                  <a:cubicBezTo>
                    <a:pt x="1129590" y="0"/>
                    <a:pt x="1148541" y="7850"/>
                    <a:pt x="1162513" y="21822"/>
                  </a:cubicBezTo>
                  <a:cubicBezTo>
                    <a:pt x="1176485" y="35794"/>
                    <a:pt x="1184335" y="54745"/>
                    <a:pt x="1184335" y="74504"/>
                  </a:cubicBezTo>
                  <a:lnTo>
                    <a:pt x="1184335" y="74504"/>
                  </a:lnTo>
                  <a:cubicBezTo>
                    <a:pt x="1184335" y="94264"/>
                    <a:pt x="1176485" y="113215"/>
                    <a:pt x="1162513" y="127187"/>
                  </a:cubicBezTo>
                  <a:cubicBezTo>
                    <a:pt x="1148541" y="141159"/>
                    <a:pt x="1129590" y="149009"/>
                    <a:pt x="1109831" y="149009"/>
                  </a:cubicBezTo>
                  <a:lnTo>
                    <a:pt x="74504" y="149009"/>
                  </a:lnTo>
                  <a:cubicBezTo>
                    <a:pt x="54745" y="149009"/>
                    <a:pt x="35794" y="141159"/>
                    <a:pt x="21822" y="127187"/>
                  </a:cubicBezTo>
                  <a:cubicBezTo>
                    <a:pt x="7850" y="113215"/>
                    <a:pt x="0" y="94264"/>
                    <a:pt x="0" y="74504"/>
                  </a:cubicBezTo>
                  <a:lnTo>
                    <a:pt x="0" y="74504"/>
                  </a:lnTo>
                  <a:cubicBezTo>
                    <a:pt x="0" y="54745"/>
                    <a:pt x="7850" y="35794"/>
                    <a:pt x="21822" y="21822"/>
                  </a:cubicBezTo>
                  <a:cubicBezTo>
                    <a:pt x="35794" y="7850"/>
                    <a:pt x="54745" y="0"/>
                    <a:pt x="74504" y="0"/>
                  </a:cubicBezTo>
                  <a:close/>
                </a:path>
              </a:pathLst>
            </a:custGeom>
            <a:gradFill rotWithShape="1">
              <a:gsLst>
                <a:gs pos="0">
                  <a:srgbClr val="590E1E">
                    <a:alpha val="100000"/>
                  </a:srgbClr>
                </a:gs>
                <a:gs pos="100000">
                  <a:srgbClr val="000000">
                    <a:alpha val="100000"/>
                  </a:srgbClr>
                </a:gs>
              </a:gsLst>
              <a:lin ang="0"/>
            </a:gradFill>
            <a:ln w="9525" cap="rnd">
              <a:solidFill>
                <a:srgbClr val="F4F4F4"/>
              </a:solidFill>
              <a:prstDash val="solid"/>
              <a:round/>
            </a:ln>
          </p:spPr>
        </p:sp>
        <p:sp>
          <p:nvSpPr>
            <p:cNvPr id="5" name="TextBox 5"/>
            <p:cNvSpPr txBox="1"/>
            <p:nvPr/>
          </p:nvSpPr>
          <p:spPr>
            <a:xfrm>
              <a:off x="0" y="-47625"/>
              <a:ext cx="1184335" cy="196634"/>
            </a:xfrm>
            <a:prstGeom prst="rect">
              <a:avLst/>
            </a:prstGeom>
          </p:spPr>
          <p:txBody>
            <a:bodyPr lIns="50800" tIns="50800" rIns="50800" bIns="50800" rtlCol="0" anchor="ctr"/>
            <a:lstStyle/>
            <a:p>
              <a:pPr algn="ctr">
                <a:lnSpc>
                  <a:spcPts val="2690"/>
                </a:lnSpc>
              </a:pPr>
              <a:r>
                <a:rPr lang="en-US" sz="1921" spc="40">
                  <a:solidFill>
                    <a:srgbClr val="F4F4F4"/>
                  </a:solidFill>
                  <a:latin typeface="Poppins Light"/>
                  <a:ea typeface="Poppins Light"/>
                  <a:cs typeface="Poppins Light"/>
                  <a:sym typeface="Poppins Light"/>
                </a:rPr>
                <a:t>WWWSTOCKHOLMVINYARD.COM</a:t>
              </a:r>
            </a:p>
          </p:txBody>
        </p:sp>
      </p:grpSp>
      <p:sp>
        <p:nvSpPr>
          <p:cNvPr id="6" name="TextBox 6"/>
          <p:cNvSpPr txBox="1"/>
          <p:nvPr/>
        </p:nvSpPr>
        <p:spPr>
          <a:xfrm>
            <a:off x="3252477" y="2655970"/>
            <a:ext cx="11783046" cy="1794400"/>
          </a:xfrm>
          <a:prstGeom prst="rect">
            <a:avLst/>
          </a:prstGeom>
        </p:spPr>
        <p:txBody>
          <a:bodyPr lIns="0" tIns="0" rIns="0" bIns="0" rtlCol="0" anchor="t">
            <a:spAutoFit/>
          </a:bodyPr>
          <a:lstStyle/>
          <a:p>
            <a:pPr algn="ctr">
              <a:lnSpc>
                <a:spcPts val="12365"/>
              </a:lnSpc>
            </a:pPr>
            <a:r>
              <a:rPr lang="en-US" sz="13016" b="1" spc="-546">
                <a:solidFill>
                  <a:srgbClr val="F4F4F4"/>
                </a:solidFill>
                <a:latin typeface="Poppins Medium"/>
                <a:ea typeface="Poppins Medium"/>
                <a:cs typeface="Poppins Medium"/>
                <a:sym typeface="Poppins Medium"/>
              </a:rPr>
              <a:t>Thankyou</a:t>
            </a:r>
          </a:p>
        </p:txBody>
      </p:sp>
      <p:sp>
        <p:nvSpPr>
          <p:cNvPr id="7" name="TextBox 7"/>
          <p:cNvSpPr txBox="1"/>
          <p:nvPr/>
        </p:nvSpPr>
        <p:spPr>
          <a:xfrm>
            <a:off x="10292284" y="7480694"/>
            <a:ext cx="6967016" cy="551906"/>
          </a:xfrm>
          <a:prstGeom prst="rect">
            <a:avLst/>
          </a:prstGeom>
        </p:spPr>
        <p:txBody>
          <a:bodyPr lIns="0" tIns="0" rIns="0" bIns="0" rtlCol="0" anchor="t">
            <a:spAutoFit/>
          </a:bodyPr>
          <a:lstStyle/>
          <a:p>
            <a:pPr algn="r">
              <a:lnSpc>
                <a:spcPts val="4230"/>
              </a:lnSpc>
              <a:spcBef>
                <a:spcPct val="0"/>
              </a:spcBef>
            </a:pPr>
            <a:r>
              <a:rPr lang="en-US" sz="3021" spc="-126">
                <a:solidFill>
                  <a:srgbClr val="F4F4F4"/>
                </a:solidFill>
                <a:latin typeface="Poppins"/>
                <a:ea typeface="Poppins"/>
                <a:cs typeface="Poppins"/>
                <a:sym typeface="Poppins"/>
              </a:rPr>
              <a:t>Stockholm vineyard</a:t>
            </a:r>
          </a:p>
        </p:txBody>
      </p:sp>
      <p:sp>
        <p:nvSpPr>
          <p:cNvPr id="8" name="TextBox 8"/>
          <p:cNvSpPr txBox="1"/>
          <p:nvPr/>
        </p:nvSpPr>
        <p:spPr>
          <a:xfrm>
            <a:off x="1028700" y="7480694"/>
            <a:ext cx="6967016" cy="551906"/>
          </a:xfrm>
          <a:prstGeom prst="rect">
            <a:avLst/>
          </a:prstGeom>
        </p:spPr>
        <p:txBody>
          <a:bodyPr lIns="0" tIns="0" rIns="0" bIns="0" rtlCol="0" anchor="t">
            <a:spAutoFit/>
          </a:bodyPr>
          <a:lstStyle/>
          <a:p>
            <a:pPr algn="l">
              <a:lnSpc>
                <a:spcPts val="4230"/>
              </a:lnSpc>
              <a:spcBef>
                <a:spcPct val="0"/>
              </a:spcBef>
            </a:pPr>
            <a:r>
              <a:rPr lang="en-US" sz="3021" spc="-126">
                <a:solidFill>
                  <a:srgbClr val="F4F4F4"/>
                </a:solidFill>
                <a:latin typeface="Poppins"/>
                <a:ea typeface="Poppins"/>
                <a:cs typeface="Poppins"/>
                <a:sym typeface="Poppins"/>
              </a:rPr>
              <a:t>David Ndiritu Mwaniki</a:t>
            </a:r>
          </a:p>
        </p:txBody>
      </p:sp>
      <p:sp>
        <p:nvSpPr>
          <p:cNvPr id="9" name="TextBox 9"/>
          <p:cNvSpPr txBox="1"/>
          <p:nvPr/>
        </p:nvSpPr>
        <p:spPr>
          <a:xfrm>
            <a:off x="1028700" y="8626649"/>
            <a:ext cx="10310565" cy="490856"/>
          </a:xfrm>
          <a:prstGeom prst="rect">
            <a:avLst/>
          </a:prstGeom>
        </p:spPr>
        <p:txBody>
          <a:bodyPr lIns="0" tIns="0" rIns="0" bIns="0" rtlCol="0" anchor="t">
            <a:spAutoFit/>
          </a:bodyPr>
          <a:lstStyle/>
          <a:p>
            <a:pPr algn="just">
              <a:lnSpc>
                <a:spcPts val="3919"/>
              </a:lnSpc>
              <a:spcBef>
                <a:spcPct val="0"/>
              </a:spcBef>
            </a:pPr>
            <a:r>
              <a:rPr lang="en-US" sz="2799" b="1">
                <a:solidFill>
                  <a:srgbClr val="F4F4F4"/>
                </a:solidFill>
                <a:latin typeface="Inter Bold"/>
                <a:ea typeface="Inter Bold"/>
                <a:cs typeface="Inter Bold"/>
                <a:sym typeface="Inter Bold"/>
              </a:rPr>
              <a:t>8th July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TotalTime>
  <Words>2385</Words>
  <Application>Microsoft Office PowerPoint</Application>
  <PresentationFormat>Custom</PresentationFormat>
  <Paragraphs>290</Paragraphs>
  <Slides>20</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20</vt:i4>
      </vt:variant>
    </vt:vector>
  </HeadingPairs>
  <TitlesOfParts>
    <vt:vector size="33" baseType="lpstr">
      <vt:lpstr>Inter Bold</vt:lpstr>
      <vt:lpstr>Arial</vt:lpstr>
      <vt:lpstr>Poppins</vt:lpstr>
      <vt:lpstr>Tex Gyre Bonum Bold</vt:lpstr>
      <vt:lpstr>Inter</vt:lpstr>
      <vt:lpstr>Poppins Bold</vt:lpstr>
      <vt:lpstr>Poppins Medium</vt:lpstr>
      <vt:lpstr>Calibri</vt:lpstr>
      <vt:lpstr>Bookman Old Style</vt:lpstr>
      <vt:lpstr>Poppins Light</vt:lpstr>
      <vt:lpstr>Inter Extra-Light</vt:lpstr>
      <vt:lpstr>Palatino Linotype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STOCKHOLM WINERY</dc:title>
  <dc:creator>User</dc:creator>
  <cp:lastModifiedBy>daniel njenga</cp:lastModifiedBy>
  <cp:revision>2</cp:revision>
  <dcterms:created xsi:type="dcterms:W3CDTF">2006-08-16T00:00:00Z</dcterms:created>
  <dcterms:modified xsi:type="dcterms:W3CDTF">2025-07-05T15:44:43Z</dcterms:modified>
  <dc:identifier>DAGsMhKRjAU</dc:identifier>
</cp:coreProperties>
</file>